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0" r:id="rId6"/>
    <p:sldId id="271" r:id="rId7"/>
    <p:sldId id="259" r:id="rId8"/>
    <p:sldId id="260" r:id="rId9"/>
    <p:sldId id="261" r:id="rId10"/>
    <p:sldId id="267" r:id="rId11"/>
    <p:sldId id="263" r:id="rId12"/>
    <p:sldId id="268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345" autoAdjust="0"/>
    <p:restoredTop sz="94660"/>
  </p:normalViewPr>
  <p:slideViewPr>
    <p:cSldViewPr snapToGrid="0">
      <p:cViewPr>
        <p:scale>
          <a:sx n="75" d="100"/>
          <a:sy n="75" d="100"/>
        </p:scale>
        <p:origin x="2220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6F8BA8-DF32-4A1C-D385-D04CD7759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0A49ACD-9B48-FCBE-ED9A-EBDA6DE34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B0E43B-4722-384D-52DC-3105B6E8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1877-10C5-476F-BC1E-9614D0EF7A95}" type="datetimeFigureOut">
              <a:rPr lang="fr-CA" smtClean="0"/>
              <a:t>2025-06-04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749CF9-2967-6F10-3CDA-45FDC347F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FE40ED-C65E-3B43-B33C-0EB284152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0CD7-04CC-4A2D-98D9-C0C133720FB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71705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A9104C-9128-008E-45D7-499F8F34A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1A4DAD-417B-90FC-5750-02EE8A020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9DA834-D055-AC5A-F281-14B164C8F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1877-10C5-476F-BC1E-9614D0EF7A95}" type="datetimeFigureOut">
              <a:rPr lang="fr-CA" smtClean="0"/>
              <a:t>2025-06-04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99542A-BFDB-14CF-409F-9AF5E4987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3B7E63-8102-3362-1F2B-96B8FBCD1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0CD7-04CC-4A2D-98D9-C0C133720FB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9801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516F5F-2ED4-1230-E3C9-FE396E618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340A402-736D-E981-973E-0743437E6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E1EBAD-A15A-230C-463A-D706A852D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1877-10C5-476F-BC1E-9614D0EF7A95}" type="datetimeFigureOut">
              <a:rPr lang="fr-CA" smtClean="0"/>
              <a:t>2025-06-04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51E8FC-2D26-EDAB-C1DB-76F1F40BC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307772-8646-8276-F9B6-0F7A0D2E7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0CD7-04CC-4A2D-98D9-C0C133720FB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54255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AA2920-A609-CDE3-3B17-E2AE0C2E8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FF6B7F-7964-9675-186F-49D4E4AD2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D3FD08D-32DD-D808-A30C-627F00C33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5B7C873-A231-99A1-0227-5C3614EBD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1877-10C5-476F-BC1E-9614D0EF7A95}" type="datetimeFigureOut">
              <a:rPr lang="fr-CA" smtClean="0"/>
              <a:t>2025-06-04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D526921-C02F-1C15-EA60-EF2F18551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5478885-F79F-74A7-CBA9-9CDBAF233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0CD7-04CC-4A2D-98D9-C0C133720FB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74600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95DDE0-7904-4832-8DD4-FEE6889F0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19547CF-E2B4-76F3-8676-A82B782AE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8AF5094-E088-9559-872A-26857DFFA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D9B1173-521D-2C09-A97C-2B9B43755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9643160-B71D-A187-6BA8-08D473ACA1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6D34C35-2800-1B52-07B6-626D2E25D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1877-10C5-476F-BC1E-9614D0EF7A95}" type="datetimeFigureOut">
              <a:rPr lang="fr-CA" smtClean="0"/>
              <a:t>2025-06-04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6FFBDFD-7350-737E-4A99-0845ABD9E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ABF92DF-A1CA-D95E-833D-42EC434A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0CD7-04CC-4A2D-98D9-C0C133720FB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13070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F94ED2-7855-55B5-7C46-71CE29100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E720234-B18E-96E0-66D3-8528B2E18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1877-10C5-476F-BC1E-9614D0EF7A95}" type="datetimeFigureOut">
              <a:rPr lang="fr-CA" smtClean="0"/>
              <a:t>2025-06-04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73B4A05-C73C-6CA9-0B87-9534482A9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ADBF181-4929-9F17-708C-106982FA3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0CD7-04CC-4A2D-98D9-C0C133720FB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0635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01AE2ED-96FB-72B6-ACDB-58E52D16B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1877-10C5-476F-BC1E-9614D0EF7A95}" type="datetimeFigureOut">
              <a:rPr lang="fr-CA" smtClean="0"/>
              <a:t>2025-06-04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50B4642-48D2-723B-11AC-9E35603D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0D11087-2D7C-9931-B9F6-5F670EE25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0CD7-04CC-4A2D-98D9-C0C133720FB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96941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8E13D8-4154-3B17-70DA-4C2AFB842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15E9AA-FC91-2DFF-93D6-32CE40D0B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8808580-720A-EDC5-7B4F-17069A1F6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05337CE-2073-B0E8-90CB-3AC9CEDC6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1877-10C5-476F-BC1E-9614D0EF7A95}" type="datetimeFigureOut">
              <a:rPr lang="fr-CA" smtClean="0"/>
              <a:t>2025-06-04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E6C68CD-5612-D8D4-51FC-B006C26C9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4CD5D78-2CA5-93D4-F7C4-001EE2B7D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0CD7-04CC-4A2D-98D9-C0C133720FB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94025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5E7971-EA68-6A41-FAA9-3E4EE7AB6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D73ADD7-12A3-E004-187D-1C452A2E7E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E1C9919-56CC-76D6-B2EE-ACDC31F2A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5298A76-FF8A-2315-5121-062814C5D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1877-10C5-476F-BC1E-9614D0EF7A95}" type="datetimeFigureOut">
              <a:rPr lang="fr-CA" smtClean="0"/>
              <a:t>2025-06-04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C9C4DE8-F087-EAD0-43A0-D96B9C331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081CCDA-5829-D566-8B86-D3B3D7712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0CD7-04CC-4A2D-98D9-C0C133720FB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33069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53FBBD-487E-B915-E858-371D0ADC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EBF2158-4FAA-3BC3-4716-D4A482D45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329057-0C2D-BC00-61F8-1D69A23A7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1877-10C5-476F-BC1E-9614D0EF7A95}" type="datetimeFigureOut">
              <a:rPr lang="fr-CA" smtClean="0"/>
              <a:t>2025-06-04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B192C9-1F3D-EDFD-1835-131E57303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AC0586-8348-70F0-F70C-853553021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0CD7-04CC-4A2D-98D9-C0C133720FB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3236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D366121-4440-EF10-5E93-7CE06D1CB8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A79667E-16CC-2FA9-BB98-984C44E56A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21833E-BCA7-C74D-5C3D-E9B23CC3F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1877-10C5-476F-BC1E-9614D0EF7A95}" type="datetimeFigureOut">
              <a:rPr lang="fr-CA" smtClean="0"/>
              <a:t>2025-06-04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1BD7D3-AD0C-62A1-3B02-9917CEF62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D68F8C7-FDAC-846F-4D8D-831A318D7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0CD7-04CC-4A2D-98D9-C0C133720FB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21961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FF68572-9C38-D018-E756-87F530922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BF2515F-C7DC-4E67-A699-F2C9F2DCD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2D5ABA-522D-222C-3122-8E6F2E1A68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FA1877-10C5-476F-BC1E-9614D0EF7A95}" type="datetimeFigureOut">
              <a:rPr lang="fr-CA" smtClean="0"/>
              <a:t>2025-06-04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A9C174-F0EF-6696-E01D-5F9222999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E4760F-BB4B-2779-5D14-A20F9EAD74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E10CD7-04CC-4A2D-98D9-C0C133720FB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16674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109/tnsre.2024.3490796" TargetMode="External"/><Relationship Id="rId4" Type="http://schemas.openxmlformats.org/officeDocument/2006/relationships/hyperlink" Target="https://doi.org/10.1109/TBCAS.2023.3314053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oi.org/10.1186/1475-925X-13-102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EMBC.2019.8856809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EMBC44109.2020.9175210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109/EMBC.2015.7319780" TargetMode="Externa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109/EMBC.2015.7319780" TargetMode="External"/><Relationship Id="rId4" Type="http://schemas.openxmlformats.org/officeDocument/2006/relationships/hyperlink" Target="https://doi.org/10.1109/EMBC.2019.8856809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BF0457-A7CD-7587-877A-1195837E06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CA" dirty="0" err="1"/>
              <a:t>Ressearch</a:t>
            </a:r>
            <a:r>
              <a:rPr lang="fr-CA" dirty="0"/>
              <a:t> on </a:t>
            </a:r>
            <a:r>
              <a:rPr lang="fr-CA" dirty="0" err="1"/>
              <a:t>benefits</a:t>
            </a:r>
            <a:r>
              <a:rPr lang="fr-CA" dirty="0"/>
              <a:t> on </a:t>
            </a:r>
            <a:r>
              <a:rPr lang="fr-CA" dirty="0" err="1"/>
              <a:t>higher</a:t>
            </a:r>
            <a:r>
              <a:rPr lang="fr-CA" dirty="0"/>
              <a:t> </a:t>
            </a:r>
            <a:r>
              <a:rPr lang="fr-CA" dirty="0" err="1"/>
              <a:t>electrode</a:t>
            </a:r>
            <a:r>
              <a:rPr lang="fr-CA" dirty="0"/>
              <a:t> count on HD-EMG</a:t>
            </a:r>
          </a:p>
        </p:txBody>
      </p:sp>
    </p:spTree>
    <p:extLst>
      <p:ext uri="{BB962C8B-B14F-4D97-AF65-F5344CB8AC3E}">
        <p14:creationId xmlns:p14="http://schemas.microsoft.com/office/powerpoint/2010/main" val="1531244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A4522B-AAF9-E33D-1546-627B3ADD6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Is more </a:t>
            </a:r>
            <a:r>
              <a:rPr lang="fr-CA" dirty="0" err="1"/>
              <a:t>better</a:t>
            </a:r>
            <a:r>
              <a:rPr lang="fr-CA" dirty="0"/>
              <a:t>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262BEE-05D7-A624-FFA1-8D77812D4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Yes and no</a:t>
            </a:r>
          </a:p>
          <a:p>
            <a:endParaRPr lang="en-CA" dirty="0"/>
          </a:p>
          <a:p>
            <a:r>
              <a:rPr lang="en-CA" dirty="0"/>
              <a:t>TL;DR</a:t>
            </a:r>
          </a:p>
          <a:p>
            <a:pPr lvl="1"/>
            <a:r>
              <a:rPr lang="en-CA" dirty="0"/>
              <a:t>More will always be more precise</a:t>
            </a:r>
          </a:p>
          <a:p>
            <a:pPr lvl="1"/>
            <a:r>
              <a:rPr lang="en-CA" dirty="0"/>
              <a:t>Diminishing returns</a:t>
            </a:r>
          </a:p>
          <a:p>
            <a:pPr lvl="1"/>
            <a:r>
              <a:rPr lang="en-CA" dirty="0"/>
              <a:t>Algorithm dependant</a:t>
            </a:r>
          </a:p>
          <a:p>
            <a:pPr marL="0" indent="0">
              <a:buNone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858135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DF975B-E22E-7FCD-2718-4C4B1C631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Main focus of articles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CFA487-36E7-5A50-8B4A-85826F8CE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Main focus of articles on HD-EMG: Reaching optimal number of electrode for algorithm, not density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E5DAA86-5089-47BA-BECC-FAF28EBC7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285" y="2779763"/>
            <a:ext cx="2848373" cy="269595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BD4B975-6588-D431-3FE9-64E4E303F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081" y="3376172"/>
            <a:ext cx="3929210" cy="1964605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48DC2E10-5ACE-865F-4882-969BF6348B17}"/>
              </a:ext>
            </a:extLst>
          </p:cNvPr>
          <p:cNvSpPr txBox="1"/>
          <p:nvPr/>
        </p:nvSpPr>
        <p:spPr>
          <a:xfrm>
            <a:off x="776230" y="5475714"/>
            <a:ext cx="4804913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fr-CA" sz="1100" dirty="0">
                <a:effectLst/>
              </a:rPr>
              <a:t>F. Chamberland </a:t>
            </a:r>
            <a:r>
              <a:rPr lang="fr-CA" sz="1100" i="1" dirty="0">
                <a:effectLst/>
              </a:rPr>
              <a:t>et al.</a:t>
            </a:r>
            <a:r>
              <a:rPr lang="fr-CA" sz="1100" dirty="0">
                <a:effectLst/>
              </a:rPr>
              <a:t>, « Novel </a:t>
            </a:r>
            <a:r>
              <a:rPr lang="fr-CA" sz="1100" dirty="0" err="1">
                <a:effectLst/>
              </a:rPr>
              <a:t>Wearable</a:t>
            </a:r>
            <a:r>
              <a:rPr lang="fr-CA" sz="1100" dirty="0">
                <a:effectLst/>
              </a:rPr>
              <a:t> HD-EMG </a:t>
            </a:r>
            <a:r>
              <a:rPr lang="fr-CA" sz="1100" dirty="0" err="1">
                <a:effectLst/>
              </a:rPr>
              <a:t>Sensor</a:t>
            </a:r>
            <a:r>
              <a:rPr lang="fr-CA" sz="1100" dirty="0">
                <a:effectLst/>
              </a:rPr>
              <a:t> </a:t>
            </a:r>
            <a:r>
              <a:rPr lang="fr-CA" sz="1100" dirty="0" err="1">
                <a:effectLst/>
              </a:rPr>
              <a:t>With</a:t>
            </a:r>
            <a:r>
              <a:rPr lang="fr-CA" sz="1100" dirty="0">
                <a:effectLst/>
              </a:rPr>
              <a:t> Shift-</a:t>
            </a:r>
            <a:r>
              <a:rPr lang="fr-CA" sz="1100" dirty="0" err="1">
                <a:effectLst/>
              </a:rPr>
              <a:t>Robust</a:t>
            </a:r>
            <a:r>
              <a:rPr lang="fr-CA" sz="1100" dirty="0">
                <a:effectLst/>
              </a:rPr>
              <a:t> </a:t>
            </a:r>
            <a:r>
              <a:rPr lang="fr-CA" sz="1100" dirty="0" err="1">
                <a:effectLst/>
              </a:rPr>
              <a:t>Gesture</a:t>
            </a:r>
            <a:r>
              <a:rPr lang="fr-CA" sz="1100" dirty="0">
                <a:effectLst/>
              </a:rPr>
              <a:t> Recognition </a:t>
            </a:r>
            <a:r>
              <a:rPr lang="fr-CA" sz="1100" dirty="0" err="1">
                <a:effectLst/>
              </a:rPr>
              <a:t>Using</a:t>
            </a:r>
            <a:r>
              <a:rPr lang="fr-CA" sz="1100" dirty="0">
                <a:effectLst/>
              </a:rPr>
              <a:t> Deep Learning », </a:t>
            </a:r>
            <a:r>
              <a:rPr lang="fr-CA" sz="1100" i="1" dirty="0">
                <a:effectLst/>
              </a:rPr>
              <a:t>IEEE Trans. </a:t>
            </a:r>
            <a:r>
              <a:rPr lang="fr-CA" sz="1100" i="1" dirty="0" err="1">
                <a:effectLst/>
              </a:rPr>
              <a:t>Biomed</a:t>
            </a:r>
            <a:r>
              <a:rPr lang="fr-CA" sz="1100" i="1" dirty="0">
                <a:effectLst/>
              </a:rPr>
              <a:t>. Circuits </a:t>
            </a:r>
            <a:r>
              <a:rPr lang="fr-CA" sz="1100" i="1" dirty="0" err="1">
                <a:effectLst/>
              </a:rPr>
              <a:t>Syst</a:t>
            </a:r>
            <a:r>
              <a:rPr lang="fr-CA" sz="1100" i="1" dirty="0">
                <a:effectLst/>
              </a:rPr>
              <a:t>.</a:t>
            </a:r>
            <a:r>
              <a:rPr lang="fr-CA" sz="1100" dirty="0">
                <a:effectLst/>
              </a:rPr>
              <a:t>, vol. 17, n</a:t>
            </a:r>
            <a:r>
              <a:rPr lang="fr-CA" sz="1100" baseline="30000" dirty="0">
                <a:effectLst/>
              </a:rPr>
              <a:t>o</a:t>
            </a:r>
            <a:r>
              <a:rPr lang="fr-CA" sz="1100" dirty="0">
                <a:effectLst/>
              </a:rPr>
              <a:t> 5, p. 968‑984, oct. 2023, </a:t>
            </a:r>
            <a:r>
              <a:rPr lang="fr-CA" sz="1100" dirty="0" err="1">
                <a:effectLst/>
              </a:rPr>
              <a:t>doi</a:t>
            </a:r>
            <a:r>
              <a:rPr lang="fr-CA" sz="1100" dirty="0">
                <a:effectLst/>
              </a:rPr>
              <a:t>: </a:t>
            </a:r>
            <a:r>
              <a:rPr lang="fr-CA" sz="1100" dirty="0">
                <a:effectLst/>
                <a:hlinkClick r:id="rId4"/>
              </a:rPr>
              <a:t>10.1109/TBCAS.2023.3314053</a:t>
            </a:r>
            <a:r>
              <a:rPr lang="fr-CA" sz="1100" dirty="0">
                <a:effectLst/>
              </a:rPr>
              <a:t>.</a:t>
            </a:r>
          </a:p>
          <a:p>
            <a:endParaRPr lang="fr-CA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56C5A48-76DF-0387-057B-6C07F095D68D}"/>
              </a:ext>
            </a:extLst>
          </p:cNvPr>
          <p:cNvSpPr txBox="1"/>
          <p:nvPr/>
        </p:nvSpPr>
        <p:spPr>
          <a:xfrm>
            <a:off x="6267055" y="5475714"/>
            <a:ext cx="514871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fr-CA" sz="1100" dirty="0">
                <a:effectLst/>
              </a:rPr>
              <a:t>G. </a:t>
            </a:r>
            <a:r>
              <a:rPr lang="fr-CA" sz="1100" dirty="0" err="1">
                <a:effectLst/>
              </a:rPr>
              <a:t>Rolandino</a:t>
            </a:r>
            <a:r>
              <a:rPr lang="fr-CA" sz="1100" dirty="0">
                <a:effectLst/>
              </a:rPr>
              <a:t>, C. </a:t>
            </a:r>
            <a:r>
              <a:rPr lang="fr-CA" sz="1100" dirty="0" err="1">
                <a:effectLst/>
              </a:rPr>
              <a:t>Zangrandi</a:t>
            </a:r>
            <a:r>
              <a:rPr lang="fr-CA" sz="1100" dirty="0">
                <a:effectLst/>
              </a:rPr>
              <a:t>, T. Vieira, G. Luigi </a:t>
            </a:r>
            <a:r>
              <a:rPr lang="fr-CA" sz="1100" dirty="0" err="1">
                <a:effectLst/>
              </a:rPr>
              <a:t>Cerone</a:t>
            </a:r>
            <a:r>
              <a:rPr lang="fr-CA" sz="1100" dirty="0">
                <a:effectLst/>
              </a:rPr>
              <a:t>, B. Andrews, et J. J. </a:t>
            </a:r>
            <a:r>
              <a:rPr lang="fr-CA" sz="1100" dirty="0" err="1">
                <a:effectLst/>
              </a:rPr>
              <a:t>FitzGerald</a:t>
            </a:r>
            <a:r>
              <a:rPr lang="fr-CA" sz="1100" dirty="0">
                <a:effectLst/>
              </a:rPr>
              <a:t>, « HDE-</a:t>
            </a:r>
            <a:r>
              <a:rPr lang="fr-CA" sz="1100" dirty="0" err="1">
                <a:effectLst/>
              </a:rPr>
              <a:t>Array</a:t>
            </a:r>
            <a:r>
              <a:rPr lang="fr-CA" sz="1100" dirty="0">
                <a:effectLst/>
              </a:rPr>
              <a:t>: </a:t>
            </a:r>
            <a:r>
              <a:rPr lang="fr-CA" sz="1100" dirty="0" err="1">
                <a:effectLst/>
              </a:rPr>
              <a:t>Development</a:t>
            </a:r>
            <a:r>
              <a:rPr lang="fr-CA" sz="1100" dirty="0">
                <a:effectLst/>
              </a:rPr>
              <a:t> and Validation of a New Dry </a:t>
            </a:r>
            <a:r>
              <a:rPr lang="fr-CA" sz="1100" dirty="0" err="1">
                <a:effectLst/>
              </a:rPr>
              <a:t>Electrode</a:t>
            </a:r>
            <a:r>
              <a:rPr lang="fr-CA" sz="1100" dirty="0">
                <a:effectLst/>
              </a:rPr>
              <a:t> </a:t>
            </a:r>
            <a:r>
              <a:rPr lang="fr-CA" sz="1100" dirty="0" err="1">
                <a:effectLst/>
              </a:rPr>
              <a:t>Array</a:t>
            </a:r>
            <a:r>
              <a:rPr lang="fr-CA" sz="1100" dirty="0">
                <a:effectLst/>
              </a:rPr>
              <a:t> Design to </a:t>
            </a:r>
            <a:r>
              <a:rPr lang="fr-CA" sz="1100" dirty="0" err="1">
                <a:effectLst/>
              </a:rPr>
              <a:t>Acquire</a:t>
            </a:r>
            <a:r>
              <a:rPr lang="fr-CA" sz="1100" dirty="0">
                <a:effectLst/>
              </a:rPr>
              <a:t> HD-</a:t>
            </a:r>
            <a:r>
              <a:rPr lang="fr-CA" sz="1100" dirty="0" err="1">
                <a:effectLst/>
              </a:rPr>
              <a:t>sEMG</a:t>
            </a:r>
            <a:r>
              <a:rPr lang="fr-CA" sz="1100" dirty="0">
                <a:effectLst/>
              </a:rPr>
              <a:t> for Hand Position Estimation », </a:t>
            </a:r>
            <a:r>
              <a:rPr lang="fr-CA" sz="1100" i="1" dirty="0">
                <a:effectLst/>
              </a:rPr>
              <a:t>IEEE Trans. Neural </a:t>
            </a:r>
            <a:r>
              <a:rPr lang="fr-CA" sz="1100" i="1" dirty="0" err="1">
                <a:effectLst/>
              </a:rPr>
              <a:t>Syst</a:t>
            </a:r>
            <a:r>
              <a:rPr lang="fr-CA" sz="1100" i="1" dirty="0">
                <a:effectLst/>
              </a:rPr>
              <a:t>. </a:t>
            </a:r>
            <a:r>
              <a:rPr lang="fr-CA" sz="1100" i="1" dirty="0" err="1">
                <a:effectLst/>
              </a:rPr>
              <a:t>Rehabil</a:t>
            </a:r>
            <a:r>
              <a:rPr lang="fr-CA" sz="1100" i="1" dirty="0">
                <a:effectLst/>
              </a:rPr>
              <a:t>. Eng.</a:t>
            </a:r>
            <a:r>
              <a:rPr lang="fr-CA" sz="1100" dirty="0">
                <a:effectLst/>
              </a:rPr>
              <a:t>, vol. 32, p. 4004‑4013, 2024, </a:t>
            </a:r>
            <a:r>
              <a:rPr lang="fr-CA" sz="1100" dirty="0" err="1">
                <a:effectLst/>
              </a:rPr>
              <a:t>doi</a:t>
            </a:r>
            <a:r>
              <a:rPr lang="fr-CA" sz="1100" dirty="0">
                <a:effectLst/>
              </a:rPr>
              <a:t>: </a:t>
            </a:r>
            <a:r>
              <a:rPr lang="fr-CA" sz="1100" dirty="0">
                <a:effectLst/>
                <a:hlinkClick r:id="rId5"/>
              </a:rPr>
              <a:t>10.1109/tnsre.2024.3490796</a:t>
            </a:r>
            <a:r>
              <a:rPr lang="fr-CA" sz="1100" dirty="0">
                <a:effectLst/>
              </a:rPr>
              <a:t>.</a:t>
            </a:r>
          </a:p>
          <a:p>
            <a:endParaRPr lang="fr-CA" sz="1100" dirty="0"/>
          </a:p>
        </p:txBody>
      </p:sp>
    </p:spTree>
    <p:extLst>
      <p:ext uri="{BB962C8B-B14F-4D97-AF65-F5344CB8AC3E}">
        <p14:creationId xmlns:p14="http://schemas.microsoft.com/office/powerpoint/2010/main" val="4266063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446BBC21-9FE1-207B-C807-F8852C6B5A04}"/>
              </a:ext>
            </a:extLst>
          </p:cNvPr>
          <p:cNvSpPr txBox="1"/>
          <p:nvPr/>
        </p:nvSpPr>
        <p:spPr>
          <a:xfrm>
            <a:off x="1635760" y="4851639"/>
            <a:ext cx="6812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fr-CA" sz="1100" dirty="0">
                <a:effectLst/>
              </a:rPr>
              <a:t>Y. Geng, X. Zhang, Y.-T. Zhang, et G. Li, « A </a:t>
            </a:r>
            <a:r>
              <a:rPr lang="fr-CA" sz="1100" dirty="0" err="1">
                <a:effectLst/>
              </a:rPr>
              <a:t>novel</a:t>
            </a:r>
            <a:r>
              <a:rPr lang="fr-CA" sz="1100" dirty="0">
                <a:effectLst/>
              </a:rPr>
              <a:t> </a:t>
            </a:r>
            <a:r>
              <a:rPr lang="fr-CA" sz="1100" dirty="0" err="1">
                <a:effectLst/>
              </a:rPr>
              <a:t>channel</a:t>
            </a:r>
            <a:r>
              <a:rPr lang="fr-CA" sz="1100" dirty="0">
                <a:effectLst/>
              </a:rPr>
              <a:t> </a:t>
            </a:r>
            <a:r>
              <a:rPr lang="fr-CA" sz="1100" dirty="0" err="1">
                <a:effectLst/>
              </a:rPr>
              <a:t>selection</a:t>
            </a:r>
            <a:r>
              <a:rPr lang="fr-CA" sz="1100" dirty="0">
                <a:effectLst/>
              </a:rPr>
              <a:t> </a:t>
            </a:r>
            <a:r>
              <a:rPr lang="fr-CA" sz="1100" dirty="0" err="1">
                <a:effectLst/>
              </a:rPr>
              <a:t>method</a:t>
            </a:r>
            <a:r>
              <a:rPr lang="fr-CA" sz="1100" dirty="0">
                <a:effectLst/>
              </a:rPr>
              <a:t> for multiple motion classification </a:t>
            </a:r>
            <a:r>
              <a:rPr lang="fr-CA" sz="1100" dirty="0" err="1">
                <a:effectLst/>
              </a:rPr>
              <a:t>using</a:t>
            </a:r>
            <a:r>
              <a:rPr lang="fr-CA" sz="1100" dirty="0">
                <a:effectLst/>
              </a:rPr>
              <a:t> high-</a:t>
            </a:r>
            <a:r>
              <a:rPr lang="fr-CA" sz="1100" dirty="0" err="1">
                <a:effectLst/>
              </a:rPr>
              <a:t>density</a:t>
            </a:r>
            <a:r>
              <a:rPr lang="fr-CA" sz="1100" dirty="0">
                <a:effectLst/>
              </a:rPr>
              <a:t> </a:t>
            </a:r>
            <a:r>
              <a:rPr lang="fr-CA" sz="1100" dirty="0" err="1">
                <a:effectLst/>
              </a:rPr>
              <a:t>electromyography</a:t>
            </a:r>
            <a:r>
              <a:rPr lang="fr-CA" sz="1100" dirty="0">
                <a:effectLst/>
              </a:rPr>
              <a:t> », </a:t>
            </a:r>
            <a:r>
              <a:rPr lang="fr-CA" sz="1100" i="1" dirty="0" err="1">
                <a:effectLst/>
              </a:rPr>
              <a:t>BioMed</a:t>
            </a:r>
            <a:r>
              <a:rPr lang="fr-CA" sz="1100" i="1" dirty="0">
                <a:effectLst/>
              </a:rPr>
              <a:t> Eng </a:t>
            </a:r>
            <a:r>
              <a:rPr lang="fr-CA" sz="1100" i="1" dirty="0" err="1">
                <a:effectLst/>
              </a:rPr>
              <a:t>OnLine</a:t>
            </a:r>
            <a:r>
              <a:rPr lang="fr-CA" sz="1100" dirty="0">
                <a:effectLst/>
              </a:rPr>
              <a:t>, vol. 13, n</a:t>
            </a:r>
            <a:r>
              <a:rPr lang="fr-CA" sz="1100" baseline="30000" dirty="0">
                <a:effectLst/>
              </a:rPr>
              <a:t>o</a:t>
            </a:r>
            <a:r>
              <a:rPr lang="fr-CA" sz="1100" dirty="0">
                <a:effectLst/>
              </a:rPr>
              <a:t> 1, p. 102, déc. 2014, </a:t>
            </a:r>
            <a:r>
              <a:rPr lang="fr-CA" sz="1100" dirty="0" err="1">
                <a:effectLst/>
              </a:rPr>
              <a:t>doi</a:t>
            </a:r>
            <a:r>
              <a:rPr lang="fr-CA" sz="1100" dirty="0">
                <a:effectLst/>
              </a:rPr>
              <a:t>: </a:t>
            </a:r>
            <a:r>
              <a:rPr lang="fr-CA" sz="1100" dirty="0">
                <a:effectLst/>
                <a:hlinkClick r:id="rId2"/>
              </a:rPr>
              <a:t>10.1186/1475-925X-13-102</a:t>
            </a:r>
            <a:r>
              <a:rPr lang="fr-CA" sz="1100" dirty="0">
                <a:effectLst/>
              </a:rPr>
              <a:t>.</a:t>
            </a:r>
          </a:p>
          <a:p>
            <a:endParaRPr lang="fr-CA" sz="11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2618FD2-E621-1AC9-ED6F-09F76C603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21" y="304800"/>
            <a:ext cx="8597758" cy="4213471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1BB5BFA5-955A-2EAC-74DD-6A7628A7D8D6}"/>
              </a:ext>
            </a:extLst>
          </p:cNvPr>
          <p:cNvSpPr txBox="1"/>
          <p:nvPr/>
        </p:nvSpPr>
        <p:spPr>
          <a:xfrm>
            <a:off x="4057650" y="5954448"/>
            <a:ext cx="222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21 hand </a:t>
            </a:r>
            <a:r>
              <a:rPr lang="fr-CA" dirty="0" err="1"/>
              <a:t>movements</a:t>
            </a:r>
            <a:endParaRPr lang="fr-CA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F67D22F-77E4-2C8F-A2F1-6837C1153FAD}"/>
              </a:ext>
            </a:extLst>
          </p:cNvPr>
          <p:cNvSpPr txBox="1"/>
          <p:nvPr/>
        </p:nvSpPr>
        <p:spPr>
          <a:xfrm>
            <a:off x="9042400" y="6000614"/>
            <a:ext cx="287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Note: </a:t>
            </a:r>
            <a:r>
              <a:rPr lang="fr-CA" dirty="0" err="1"/>
              <a:t>Some</a:t>
            </a:r>
            <a:r>
              <a:rPr lang="fr-CA" dirty="0"/>
              <a:t> </a:t>
            </a:r>
            <a:r>
              <a:rPr lang="fr-CA" dirty="0" err="1"/>
              <a:t>electrodes</a:t>
            </a:r>
            <a:r>
              <a:rPr lang="fr-CA" dirty="0"/>
              <a:t> are on the hand for </a:t>
            </a:r>
            <a:r>
              <a:rPr lang="fr-CA" dirty="0" err="1"/>
              <a:t>this</a:t>
            </a:r>
            <a:r>
              <a:rPr lang="fr-CA" dirty="0"/>
              <a:t> </a:t>
            </a:r>
            <a:r>
              <a:rPr lang="fr-CA" dirty="0" err="1"/>
              <a:t>study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864359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A7342FDA-4A31-58FA-C373-96BA2441F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679" y="177481"/>
            <a:ext cx="7106642" cy="457263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9063DB4F-564A-BD10-F5CC-76A4FA704428}"/>
              </a:ext>
            </a:extLst>
          </p:cNvPr>
          <p:cNvSpPr txBox="1"/>
          <p:nvPr/>
        </p:nvSpPr>
        <p:spPr>
          <a:xfrm>
            <a:off x="3175000" y="4940300"/>
            <a:ext cx="619760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fr-CA" sz="1100" dirty="0">
                <a:effectLst/>
              </a:rPr>
              <a:t>J. Lara, N. </a:t>
            </a:r>
            <a:r>
              <a:rPr lang="fr-CA" sz="1100" dirty="0" err="1">
                <a:effectLst/>
              </a:rPr>
              <a:t>Paskaranandavadivel</a:t>
            </a:r>
            <a:r>
              <a:rPr lang="fr-CA" sz="1100" dirty="0">
                <a:effectLst/>
              </a:rPr>
              <a:t>, et L. K. Cheng, « </a:t>
            </a:r>
            <a:r>
              <a:rPr lang="fr-CA" sz="1100" dirty="0" err="1">
                <a:effectLst/>
              </a:rPr>
              <a:t>Effect</a:t>
            </a:r>
            <a:r>
              <a:rPr lang="fr-CA" sz="1100" dirty="0">
                <a:effectLst/>
              </a:rPr>
              <a:t> of Segmentation </a:t>
            </a:r>
            <a:r>
              <a:rPr lang="fr-CA" sz="1100" dirty="0" err="1">
                <a:effectLst/>
              </a:rPr>
              <a:t>Parameters</a:t>
            </a:r>
            <a:r>
              <a:rPr lang="fr-CA" sz="1100" dirty="0">
                <a:effectLst/>
              </a:rPr>
              <a:t> on Classification </a:t>
            </a:r>
            <a:r>
              <a:rPr lang="fr-CA" sz="1100" dirty="0" err="1">
                <a:effectLst/>
              </a:rPr>
              <a:t>Accuracy</a:t>
            </a:r>
            <a:r>
              <a:rPr lang="fr-CA" sz="1100" dirty="0">
                <a:effectLst/>
              </a:rPr>
              <a:t> of High-Density EMG </a:t>
            </a:r>
            <a:r>
              <a:rPr lang="fr-CA" sz="1100" dirty="0" err="1">
                <a:effectLst/>
              </a:rPr>
              <a:t>recordings</a:t>
            </a:r>
            <a:r>
              <a:rPr lang="fr-CA" sz="1100" dirty="0">
                <a:effectLst/>
              </a:rPr>
              <a:t> », in </a:t>
            </a:r>
            <a:r>
              <a:rPr lang="fr-CA" sz="1100" i="1" dirty="0">
                <a:effectLst/>
              </a:rPr>
              <a:t>2019 41st </a:t>
            </a:r>
            <a:r>
              <a:rPr lang="fr-CA" sz="1100" i="1" dirty="0" err="1">
                <a:effectLst/>
              </a:rPr>
              <a:t>Annual</a:t>
            </a:r>
            <a:r>
              <a:rPr lang="fr-CA" sz="1100" i="1" dirty="0">
                <a:effectLst/>
              </a:rPr>
              <a:t> International </a:t>
            </a:r>
            <a:r>
              <a:rPr lang="fr-CA" sz="1100" i="1" dirty="0" err="1">
                <a:effectLst/>
              </a:rPr>
              <a:t>Conference</a:t>
            </a:r>
            <a:r>
              <a:rPr lang="fr-CA" sz="1100" i="1" dirty="0">
                <a:effectLst/>
              </a:rPr>
              <a:t> of the IEEE Engineering in </a:t>
            </a:r>
            <a:r>
              <a:rPr lang="fr-CA" sz="1100" i="1" dirty="0" err="1">
                <a:effectLst/>
              </a:rPr>
              <a:t>Medicine</a:t>
            </a:r>
            <a:r>
              <a:rPr lang="fr-CA" sz="1100" i="1" dirty="0">
                <a:effectLst/>
              </a:rPr>
              <a:t> and </a:t>
            </a:r>
            <a:r>
              <a:rPr lang="fr-CA" sz="1100" i="1" dirty="0" err="1">
                <a:effectLst/>
              </a:rPr>
              <a:t>Biology</a:t>
            </a:r>
            <a:r>
              <a:rPr lang="fr-CA" sz="1100" i="1" dirty="0">
                <a:effectLst/>
              </a:rPr>
              <a:t> Society (EMBC)</a:t>
            </a:r>
            <a:r>
              <a:rPr lang="fr-CA" sz="1100" dirty="0">
                <a:effectLst/>
              </a:rPr>
              <a:t>, Berlin, Germany: IEEE, juill. 2019, p. 6229‑6232. </a:t>
            </a:r>
            <a:r>
              <a:rPr lang="fr-CA" sz="1100" dirty="0" err="1">
                <a:effectLst/>
              </a:rPr>
              <a:t>doi</a:t>
            </a:r>
            <a:r>
              <a:rPr lang="fr-CA" sz="1100" dirty="0">
                <a:effectLst/>
              </a:rPr>
              <a:t>: </a:t>
            </a:r>
            <a:r>
              <a:rPr lang="fr-CA" sz="1100" dirty="0">
                <a:effectLst/>
                <a:hlinkClick r:id="rId3"/>
              </a:rPr>
              <a:t>10.1109/EMBC.2019.8856809</a:t>
            </a:r>
            <a:r>
              <a:rPr lang="fr-CA" sz="1100" dirty="0">
                <a:effectLst/>
              </a:rPr>
              <a:t>.</a:t>
            </a:r>
          </a:p>
          <a:p>
            <a:endParaRPr lang="fr-CA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1F6709E-A5D3-8996-79EF-DF4A164158D1}"/>
              </a:ext>
            </a:extLst>
          </p:cNvPr>
          <p:cNvSpPr txBox="1"/>
          <p:nvPr/>
        </p:nvSpPr>
        <p:spPr>
          <a:xfrm>
            <a:off x="5327650" y="5986740"/>
            <a:ext cx="5295900" cy="381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9 hand </a:t>
            </a:r>
            <a:r>
              <a:rPr lang="fr-CA" dirty="0" err="1"/>
              <a:t>movements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356599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B69B299E-DF5D-AA80-7FDE-95B18888D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70" y="636377"/>
            <a:ext cx="5541938" cy="354192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6BB59E0-0F03-8A09-55E6-41EF62D43866}"/>
              </a:ext>
            </a:extLst>
          </p:cNvPr>
          <p:cNvSpPr txBox="1"/>
          <p:nvPr/>
        </p:nvSpPr>
        <p:spPr>
          <a:xfrm>
            <a:off x="410808" y="4610100"/>
            <a:ext cx="5562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fr-CA" sz="1100" dirty="0">
                <a:effectLst/>
              </a:rPr>
              <a:t>J. Lara, N. </a:t>
            </a:r>
            <a:r>
              <a:rPr lang="fr-CA" sz="1100" dirty="0" err="1">
                <a:effectLst/>
              </a:rPr>
              <a:t>Paskaranandavadivel</a:t>
            </a:r>
            <a:r>
              <a:rPr lang="fr-CA" sz="1100" dirty="0">
                <a:effectLst/>
              </a:rPr>
              <a:t>, et L. K. Cheng, « HD-EMG </a:t>
            </a:r>
            <a:r>
              <a:rPr lang="fr-CA" sz="1100" dirty="0" err="1">
                <a:effectLst/>
              </a:rPr>
              <a:t>Electrode</a:t>
            </a:r>
            <a:r>
              <a:rPr lang="fr-CA" sz="1100" dirty="0">
                <a:effectLst/>
              </a:rPr>
              <a:t> Count and </a:t>
            </a:r>
            <a:r>
              <a:rPr lang="fr-CA" sz="1100" dirty="0" err="1">
                <a:effectLst/>
              </a:rPr>
              <a:t>Feature</a:t>
            </a:r>
            <a:r>
              <a:rPr lang="fr-CA" sz="1100" dirty="0">
                <a:effectLst/>
              </a:rPr>
              <a:t> </a:t>
            </a:r>
            <a:r>
              <a:rPr lang="fr-CA" sz="1100" dirty="0" err="1">
                <a:effectLst/>
              </a:rPr>
              <a:t>Selection</a:t>
            </a:r>
            <a:r>
              <a:rPr lang="fr-CA" sz="1100" dirty="0">
                <a:effectLst/>
              </a:rPr>
              <a:t> Influence on Pattern-</a:t>
            </a:r>
            <a:r>
              <a:rPr lang="fr-CA" sz="1100" dirty="0" err="1">
                <a:effectLst/>
              </a:rPr>
              <a:t>based</a:t>
            </a:r>
            <a:r>
              <a:rPr lang="fr-CA" sz="1100" dirty="0">
                <a:effectLst/>
              </a:rPr>
              <a:t> </a:t>
            </a:r>
            <a:r>
              <a:rPr lang="fr-CA" sz="1100" dirty="0" err="1">
                <a:effectLst/>
              </a:rPr>
              <a:t>Movement</a:t>
            </a:r>
            <a:r>
              <a:rPr lang="fr-CA" sz="1100" dirty="0">
                <a:effectLst/>
              </a:rPr>
              <a:t> Classification </a:t>
            </a:r>
            <a:r>
              <a:rPr lang="fr-CA" sz="1100" dirty="0" err="1">
                <a:effectLst/>
              </a:rPr>
              <a:t>Accuracy</a:t>
            </a:r>
            <a:r>
              <a:rPr lang="fr-CA" sz="1100" dirty="0">
                <a:effectLst/>
              </a:rPr>
              <a:t> », in </a:t>
            </a:r>
            <a:r>
              <a:rPr lang="fr-CA" sz="1100" i="1" dirty="0">
                <a:effectLst/>
              </a:rPr>
              <a:t>2020 42nd </a:t>
            </a:r>
            <a:r>
              <a:rPr lang="fr-CA" sz="1100" i="1" dirty="0" err="1">
                <a:effectLst/>
              </a:rPr>
              <a:t>Annual</a:t>
            </a:r>
            <a:r>
              <a:rPr lang="fr-CA" sz="1100" i="1" dirty="0">
                <a:effectLst/>
              </a:rPr>
              <a:t> International </a:t>
            </a:r>
            <a:r>
              <a:rPr lang="fr-CA" sz="1100" i="1" dirty="0" err="1">
                <a:effectLst/>
              </a:rPr>
              <a:t>Conference</a:t>
            </a:r>
            <a:r>
              <a:rPr lang="fr-CA" sz="1100" i="1" dirty="0">
                <a:effectLst/>
              </a:rPr>
              <a:t> of the IEEE Engineering in </a:t>
            </a:r>
            <a:r>
              <a:rPr lang="fr-CA" sz="1100" i="1" dirty="0" err="1">
                <a:effectLst/>
              </a:rPr>
              <a:t>Medicine</a:t>
            </a:r>
            <a:r>
              <a:rPr lang="fr-CA" sz="1100" i="1" dirty="0">
                <a:effectLst/>
              </a:rPr>
              <a:t> &amp; </a:t>
            </a:r>
            <a:r>
              <a:rPr lang="fr-CA" sz="1100" i="1" dirty="0" err="1">
                <a:effectLst/>
              </a:rPr>
              <a:t>Biology</a:t>
            </a:r>
            <a:r>
              <a:rPr lang="fr-CA" sz="1100" i="1" dirty="0">
                <a:effectLst/>
              </a:rPr>
              <a:t> Society (EMBC)</a:t>
            </a:r>
            <a:r>
              <a:rPr lang="fr-CA" sz="1100" dirty="0">
                <a:effectLst/>
              </a:rPr>
              <a:t>, </a:t>
            </a:r>
            <a:r>
              <a:rPr lang="fr-CA" sz="1100" dirty="0" err="1">
                <a:effectLst/>
              </a:rPr>
              <a:t>Montreal</a:t>
            </a:r>
            <a:r>
              <a:rPr lang="fr-CA" sz="1100" dirty="0">
                <a:effectLst/>
              </a:rPr>
              <a:t>, QC, Canada: IEEE, juill. 2020, p. 4787‑4790. </a:t>
            </a:r>
            <a:r>
              <a:rPr lang="fr-CA" sz="1100" dirty="0" err="1">
                <a:effectLst/>
              </a:rPr>
              <a:t>doi</a:t>
            </a:r>
            <a:r>
              <a:rPr lang="fr-CA" sz="1100" dirty="0">
                <a:effectLst/>
              </a:rPr>
              <a:t>: </a:t>
            </a:r>
            <a:r>
              <a:rPr lang="fr-CA" sz="1100" dirty="0">
                <a:effectLst/>
                <a:hlinkClick r:id="rId3"/>
              </a:rPr>
              <a:t>10.1109/EMBC44109.2020.9175210</a:t>
            </a:r>
            <a:r>
              <a:rPr lang="fr-CA" sz="1100" dirty="0">
                <a:effectLst/>
              </a:rPr>
              <a:t>.</a:t>
            </a:r>
          </a:p>
          <a:p>
            <a:endParaRPr lang="fr-CA" sz="11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C95C5E0-399D-0586-0496-526C5CCD0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467" y="636377"/>
            <a:ext cx="5189063" cy="3848424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ED7448B8-AE5E-0029-76FC-40C3FD5819AE}"/>
              </a:ext>
            </a:extLst>
          </p:cNvPr>
          <p:cNvSpPr txBox="1"/>
          <p:nvPr/>
        </p:nvSpPr>
        <p:spPr>
          <a:xfrm>
            <a:off x="7073900" y="4622800"/>
            <a:ext cx="441960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fr-CA" sz="1100" dirty="0">
                <a:effectLst/>
              </a:rPr>
              <a:t>M. </a:t>
            </a:r>
            <a:r>
              <a:rPr lang="fr-CA" sz="1100" dirty="0" err="1">
                <a:effectLst/>
              </a:rPr>
              <a:t>Paleari</a:t>
            </a:r>
            <a:r>
              <a:rPr lang="fr-CA" sz="1100" dirty="0">
                <a:effectLst/>
              </a:rPr>
              <a:t>, M. Di Girolamo, N. </a:t>
            </a:r>
            <a:r>
              <a:rPr lang="fr-CA" sz="1100" dirty="0" err="1">
                <a:effectLst/>
              </a:rPr>
              <a:t>Celadon</a:t>
            </a:r>
            <a:r>
              <a:rPr lang="fr-CA" sz="1100" dirty="0">
                <a:effectLst/>
              </a:rPr>
              <a:t>, A. </a:t>
            </a:r>
            <a:r>
              <a:rPr lang="fr-CA" sz="1100" dirty="0" err="1">
                <a:effectLst/>
              </a:rPr>
              <a:t>Favetto</a:t>
            </a:r>
            <a:r>
              <a:rPr lang="fr-CA" sz="1100" dirty="0">
                <a:effectLst/>
              </a:rPr>
              <a:t>, et P. </a:t>
            </a:r>
            <a:r>
              <a:rPr lang="fr-CA" sz="1100" dirty="0" err="1">
                <a:effectLst/>
              </a:rPr>
              <a:t>Ariano</a:t>
            </a:r>
            <a:r>
              <a:rPr lang="fr-CA" sz="1100" dirty="0">
                <a:effectLst/>
              </a:rPr>
              <a:t>, « On optimal </a:t>
            </a:r>
            <a:r>
              <a:rPr lang="fr-CA" sz="1100" dirty="0" err="1">
                <a:effectLst/>
              </a:rPr>
              <a:t>electrode</a:t>
            </a:r>
            <a:r>
              <a:rPr lang="fr-CA" sz="1100" dirty="0">
                <a:effectLst/>
              </a:rPr>
              <a:t> configuration to </a:t>
            </a:r>
            <a:r>
              <a:rPr lang="fr-CA" sz="1100" dirty="0" err="1">
                <a:effectLst/>
              </a:rPr>
              <a:t>estimate</a:t>
            </a:r>
            <a:r>
              <a:rPr lang="fr-CA" sz="1100" dirty="0">
                <a:effectLst/>
              </a:rPr>
              <a:t> hand </a:t>
            </a:r>
            <a:r>
              <a:rPr lang="fr-CA" sz="1100" dirty="0" err="1">
                <a:effectLst/>
              </a:rPr>
              <a:t>movements</a:t>
            </a:r>
            <a:r>
              <a:rPr lang="fr-CA" sz="1100" dirty="0">
                <a:effectLst/>
              </a:rPr>
              <a:t> </a:t>
            </a:r>
            <a:r>
              <a:rPr lang="fr-CA" sz="1100" dirty="0" err="1">
                <a:effectLst/>
              </a:rPr>
              <a:t>from</a:t>
            </a:r>
            <a:r>
              <a:rPr lang="fr-CA" sz="1100" dirty="0">
                <a:effectLst/>
              </a:rPr>
              <a:t> </a:t>
            </a:r>
            <a:r>
              <a:rPr lang="fr-CA" sz="1100" dirty="0" err="1">
                <a:effectLst/>
              </a:rPr>
              <a:t>forearm</a:t>
            </a:r>
            <a:r>
              <a:rPr lang="fr-CA" sz="1100" dirty="0">
                <a:effectLst/>
              </a:rPr>
              <a:t> surface </a:t>
            </a:r>
            <a:r>
              <a:rPr lang="fr-CA" sz="1100" dirty="0" err="1">
                <a:effectLst/>
              </a:rPr>
              <a:t>electromyography</a:t>
            </a:r>
            <a:r>
              <a:rPr lang="fr-CA" sz="1100" dirty="0">
                <a:effectLst/>
              </a:rPr>
              <a:t> », in </a:t>
            </a:r>
            <a:r>
              <a:rPr lang="fr-CA" sz="1100" i="1" dirty="0">
                <a:effectLst/>
              </a:rPr>
              <a:t>2015 37th </a:t>
            </a:r>
            <a:r>
              <a:rPr lang="fr-CA" sz="1100" i="1" dirty="0" err="1">
                <a:effectLst/>
              </a:rPr>
              <a:t>Annual</a:t>
            </a:r>
            <a:r>
              <a:rPr lang="fr-CA" sz="1100" i="1" dirty="0">
                <a:effectLst/>
              </a:rPr>
              <a:t> International </a:t>
            </a:r>
            <a:r>
              <a:rPr lang="fr-CA" sz="1100" i="1" dirty="0" err="1">
                <a:effectLst/>
              </a:rPr>
              <a:t>Conference</a:t>
            </a:r>
            <a:r>
              <a:rPr lang="fr-CA" sz="1100" i="1" dirty="0">
                <a:effectLst/>
              </a:rPr>
              <a:t> of the IEEE Engineering in </a:t>
            </a:r>
            <a:r>
              <a:rPr lang="fr-CA" sz="1100" i="1" dirty="0" err="1">
                <a:effectLst/>
              </a:rPr>
              <a:t>Medicine</a:t>
            </a:r>
            <a:r>
              <a:rPr lang="fr-CA" sz="1100" i="1" dirty="0">
                <a:effectLst/>
              </a:rPr>
              <a:t> and </a:t>
            </a:r>
            <a:r>
              <a:rPr lang="fr-CA" sz="1100" i="1" dirty="0" err="1">
                <a:effectLst/>
              </a:rPr>
              <a:t>Biology</a:t>
            </a:r>
            <a:r>
              <a:rPr lang="fr-CA" sz="1100" i="1" dirty="0">
                <a:effectLst/>
              </a:rPr>
              <a:t> Society (EMBC)</a:t>
            </a:r>
            <a:r>
              <a:rPr lang="fr-CA" sz="1100" dirty="0">
                <a:effectLst/>
              </a:rPr>
              <a:t>, Milan: IEEE, août 2015, p. 6086‑6089. </a:t>
            </a:r>
            <a:r>
              <a:rPr lang="fr-CA" sz="1100" dirty="0" err="1">
                <a:effectLst/>
              </a:rPr>
              <a:t>doi</a:t>
            </a:r>
            <a:r>
              <a:rPr lang="fr-CA" sz="1100" dirty="0">
                <a:effectLst/>
              </a:rPr>
              <a:t>: </a:t>
            </a:r>
            <a:r>
              <a:rPr lang="fr-CA" sz="1100" dirty="0">
                <a:effectLst/>
                <a:hlinkClick r:id="rId5"/>
              </a:rPr>
              <a:t>10.1109/EMBC.2015.7319780</a:t>
            </a:r>
            <a:r>
              <a:rPr lang="fr-CA" sz="1100" dirty="0">
                <a:effectLst/>
              </a:rPr>
              <a:t>.</a:t>
            </a:r>
          </a:p>
          <a:p>
            <a:endParaRPr lang="fr-CA" sz="11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B6879BB-B82C-02CD-49ED-504940AE1B10}"/>
              </a:ext>
            </a:extLst>
          </p:cNvPr>
          <p:cNvSpPr txBox="1"/>
          <p:nvPr/>
        </p:nvSpPr>
        <p:spPr>
          <a:xfrm>
            <a:off x="8407400" y="6062095"/>
            <a:ext cx="308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11 hand </a:t>
            </a:r>
            <a:r>
              <a:rPr lang="fr-CA" dirty="0" err="1"/>
              <a:t>movements</a:t>
            </a:r>
            <a:endParaRPr lang="fr-CA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08680E3-1C37-6602-11AA-CB3D20E2232C}"/>
              </a:ext>
            </a:extLst>
          </p:cNvPr>
          <p:cNvSpPr txBox="1"/>
          <p:nvPr/>
        </p:nvSpPr>
        <p:spPr>
          <a:xfrm>
            <a:off x="1270000" y="6062095"/>
            <a:ext cx="412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17 hand </a:t>
            </a:r>
            <a:r>
              <a:rPr lang="fr-CA" dirty="0" err="1"/>
              <a:t>movements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744119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9EA0DC-2426-1BD6-C122-4622B65A4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Consequence</a:t>
            </a:r>
            <a:r>
              <a:rPr lang="fr-CA" dirty="0"/>
              <a:t> of main focus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941823-C8B6-1535-584A-AE9BB46A7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Use of commercial hardware</a:t>
            </a:r>
          </a:p>
          <a:p>
            <a:r>
              <a:rPr lang="fr-CA" dirty="0"/>
              <a:t>If </a:t>
            </a:r>
            <a:r>
              <a:rPr lang="fr-CA" dirty="0" err="1"/>
              <a:t>focused</a:t>
            </a:r>
            <a:r>
              <a:rPr lang="fr-CA" dirty="0"/>
              <a:t> on </a:t>
            </a:r>
            <a:r>
              <a:rPr lang="fr-CA" dirty="0" err="1"/>
              <a:t>quantity</a:t>
            </a:r>
            <a:r>
              <a:rPr lang="fr-CA" dirty="0"/>
              <a:t>: not </a:t>
            </a:r>
            <a:r>
              <a:rPr lang="fr-CA" dirty="0" err="1"/>
              <a:t>focused</a:t>
            </a:r>
            <a:r>
              <a:rPr lang="fr-CA" dirty="0"/>
              <a:t> on </a:t>
            </a:r>
            <a:r>
              <a:rPr lang="fr-CA" dirty="0" err="1"/>
              <a:t>positionning</a:t>
            </a:r>
            <a:endParaRPr lang="fr-CA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E60A5DB-FB67-1B96-D66D-285E14D55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031" y="2914152"/>
            <a:ext cx="2989552" cy="234316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C2AF324-8D39-C817-4FB8-4BF7E4EA8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7418" y="2889629"/>
            <a:ext cx="2515811" cy="3139132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EB845BEA-49EF-731F-283A-7A1134D0898D}"/>
              </a:ext>
            </a:extLst>
          </p:cNvPr>
          <p:cNvSpPr txBox="1"/>
          <p:nvPr/>
        </p:nvSpPr>
        <p:spPr>
          <a:xfrm>
            <a:off x="6197291" y="6028761"/>
            <a:ext cx="579150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fr-CA" sz="1100" dirty="0">
                <a:effectLst/>
              </a:rPr>
              <a:t>J. Lara, N. </a:t>
            </a:r>
            <a:r>
              <a:rPr lang="fr-CA" sz="1100" dirty="0" err="1">
                <a:effectLst/>
              </a:rPr>
              <a:t>Paskaranandavadivel</a:t>
            </a:r>
            <a:r>
              <a:rPr lang="fr-CA" sz="1100" dirty="0">
                <a:effectLst/>
              </a:rPr>
              <a:t>, et L. K. Cheng, « </a:t>
            </a:r>
            <a:r>
              <a:rPr lang="fr-CA" sz="1100" dirty="0" err="1">
                <a:effectLst/>
              </a:rPr>
              <a:t>Effect</a:t>
            </a:r>
            <a:r>
              <a:rPr lang="fr-CA" sz="1100" dirty="0">
                <a:effectLst/>
              </a:rPr>
              <a:t> of Segmentation </a:t>
            </a:r>
            <a:r>
              <a:rPr lang="fr-CA" sz="1100" dirty="0" err="1">
                <a:effectLst/>
              </a:rPr>
              <a:t>Parameters</a:t>
            </a:r>
            <a:r>
              <a:rPr lang="fr-CA" sz="1100" dirty="0">
                <a:effectLst/>
              </a:rPr>
              <a:t> on Classification </a:t>
            </a:r>
            <a:r>
              <a:rPr lang="fr-CA" sz="1100" dirty="0" err="1">
                <a:effectLst/>
              </a:rPr>
              <a:t>Accuracy</a:t>
            </a:r>
            <a:r>
              <a:rPr lang="fr-CA" sz="1100" dirty="0">
                <a:effectLst/>
              </a:rPr>
              <a:t> of High-Density EMG </a:t>
            </a:r>
            <a:r>
              <a:rPr lang="fr-CA" sz="1100" dirty="0" err="1">
                <a:effectLst/>
              </a:rPr>
              <a:t>recordings</a:t>
            </a:r>
            <a:r>
              <a:rPr lang="fr-CA" sz="1100" dirty="0">
                <a:effectLst/>
              </a:rPr>
              <a:t> », in </a:t>
            </a:r>
            <a:r>
              <a:rPr lang="fr-CA" sz="1100" i="1" dirty="0">
                <a:effectLst/>
              </a:rPr>
              <a:t>2019 41st </a:t>
            </a:r>
            <a:r>
              <a:rPr lang="fr-CA" sz="1100" i="1" dirty="0" err="1">
                <a:effectLst/>
              </a:rPr>
              <a:t>Annual</a:t>
            </a:r>
            <a:r>
              <a:rPr lang="fr-CA" sz="1100" i="1" dirty="0">
                <a:effectLst/>
              </a:rPr>
              <a:t> International </a:t>
            </a:r>
            <a:r>
              <a:rPr lang="fr-CA" sz="1100" i="1" dirty="0" err="1">
                <a:effectLst/>
              </a:rPr>
              <a:t>Conference</a:t>
            </a:r>
            <a:r>
              <a:rPr lang="fr-CA" sz="1100" i="1" dirty="0">
                <a:effectLst/>
              </a:rPr>
              <a:t> of the IEEE Engineering in </a:t>
            </a:r>
            <a:r>
              <a:rPr lang="fr-CA" sz="1100" i="1" dirty="0" err="1">
                <a:effectLst/>
              </a:rPr>
              <a:t>Medicine</a:t>
            </a:r>
            <a:r>
              <a:rPr lang="fr-CA" sz="1100" i="1" dirty="0">
                <a:effectLst/>
              </a:rPr>
              <a:t> and </a:t>
            </a:r>
            <a:r>
              <a:rPr lang="fr-CA" sz="1100" i="1" dirty="0" err="1">
                <a:effectLst/>
              </a:rPr>
              <a:t>Biology</a:t>
            </a:r>
            <a:r>
              <a:rPr lang="fr-CA" sz="1100" i="1" dirty="0">
                <a:effectLst/>
              </a:rPr>
              <a:t> Society (EMBC)</a:t>
            </a:r>
            <a:r>
              <a:rPr lang="fr-CA" sz="1100" dirty="0">
                <a:effectLst/>
              </a:rPr>
              <a:t>, Berlin, Germany: IEEE, juill. 2019, p. 6229‑6232. </a:t>
            </a:r>
            <a:r>
              <a:rPr lang="fr-CA" sz="1100" dirty="0" err="1">
                <a:effectLst/>
              </a:rPr>
              <a:t>doi</a:t>
            </a:r>
            <a:r>
              <a:rPr lang="fr-CA" sz="1100" dirty="0">
                <a:effectLst/>
              </a:rPr>
              <a:t>: </a:t>
            </a:r>
            <a:r>
              <a:rPr lang="fr-CA" sz="1100" dirty="0">
                <a:effectLst/>
                <a:hlinkClick r:id="rId4"/>
              </a:rPr>
              <a:t>10.1109/EMBC.2019.8856809</a:t>
            </a:r>
            <a:r>
              <a:rPr lang="fr-CA" sz="1100" dirty="0">
                <a:effectLst/>
              </a:rPr>
              <a:t>.</a:t>
            </a:r>
          </a:p>
          <a:p>
            <a:endParaRPr lang="fr-CA" sz="11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7DFA086-FE2A-B0E1-133A-1A540E527B6E}"/>
              </a:ext>
            </a:extLst>
          </p:cNvPr>
          <p:cNvSpPr txBox="1"/>
          <p:nvPr/>
        </p:nvSpPr>
        <p:spPr>
          <a:xfrm>
            <a:off x="778794" y="5541053"/>
            <a:ext cx="497423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fr-CA" sz="1100" dirty="0">
                <a:effectLst/>
              </a:rPr>
              <a:t>M. </a:t>
            </a:r>
            <a:r>
              <a:rPr lang="fr-CA" sz="1100" dirty="0" err="1">
                <a:effectLst/>
              </a:rPr>
              <a:t>Paleari</a:t>
            </a:r>
            <a:r>
              <a:rPr lang="fr-CA" sz="1100" dirty="0">
                <a:effectLst/>
              </a:rPr>
              <a:t>, M. Di Girolamo, N. </a:t>
            </a:r>
            <a:r>
              <a:rPr lang="fr-CA" sz="1100" dirty="0" err="1">
                <a:effectLst/>
              </a:rPr>
              <a:t>Celadon</a:t>
            </a:r>
            <a:r>
              <a:rPr lang="fr-CA" sz="1100" dirty="0">
                <a:effectLst/>
              </a:rPr>
              <a:t>, A. </a:t>
            </a:r>
            <a:r>
              <a:rPr lang="fr-CA" sz="1100" dirty="0" err="1">
                <a:effectLst/>
              </a:rPr>
              <a:t>Favetto</a:t>
            </a:r>
            <a:r>
              <a:rPr lang="fr-CA" sz="1100" dirty="0">
                <a:effectLst/>
              </a:rPr>
              <a:t>, et P. </a:t>
            </a:r>
            <a:r>
              <a:rPr lang="fr-CA" sz="1100" dirty="0" err="1">
                <a:effectLst/>
              </a:rPr>
              <a:t>Ariano</a:t>
            </a:r>
            <a:r>
              <a:rPr lang="fr-CA" sz="1100" dirty="0">
                <a:effectLst/>
              </a:rPr>
              <a:t>, « On optimal </a:t>
            </a:r>
            <a:r>
              <a:rPr lang="fr-CA" sz="1100" dirty="0" err="1">
                <a:effectLst/>
              </a:rPr>
              <a:t>electrode</a:t>
            </a:r>
            <a:r>
              <a:rPr lang="fr-CA" sz="1100" dirty="0">
                <a:effectLst/>
              </a:rPr>
              <a:t> configuration to </a:t>
            </a:r>
            <a:r>
              <a:rPr lang="fr-CA" sz="1100" dirty="0" err="1">
                <a:effectLst/>
              </a:rPr>
              <a:t>estimate</a:t>
            </a:r>
            <a:r>
              <a:rPr lang="fr-CA" sz="1100" dirty="0">
                <a:effectLst/>
              </a:rPr>
              <a:t> hand </a:t>
            </a:r>
            <a:r>
              <a:rPr lang="fr-CA" sz="1100" dirty="0" err="1">
                <a:effectLst/>
              </a:rPr>
              <a:t>movements</a:t>
            </a:r>
            <a:r>
              <a:rPr lang="fr-CA" sz="1100" dirty="0">
                <a:effectLst/>
              </a:rPr>
              <a:t> </a:t>
            </a:r>
            <a:r>
              <a:rPr lang="fr-CA" sz="1100" dirty="0" err="1">
                <a:effectLst/>
              </a:rPr>
              <a:t>from</a:t>
            </a:r>
            <a:r>
              <a:rPr lang="fr-CA" sz="1100" dirty="0">
                <a:effectLst/>
              </a:rPr>
              <a:t> </a:t>
            </a:r>
            <a:r>
              <a:rPr lang="fr-CA" sz="1100" dirty="0" err="1">
                <a:effectLst/>
              </a:rPr>
              <a:t>forearm</a:t>
            </a:r>
            <a:r>
              <a:rPr lang="fr-CA" sz="1100" dirty="0">
                <a:effectLst/>
              </a:rPr>
              <a:t> surface </a:t>
            </a:r>
            <a:r>
              <a:rPr lang="fr-CA" sz="1100" dirty="0" err="1">
                <a:effectLst/>
              </a:rPr>
              <a:t>electromyography</a:t>
            </a:r>
            <a:r>
              <a:rPr lang="fr-CA" sz="1100" dirty="0">
                <a:effectLst/>
              </a:rPr>
              <a:t> », in </a:t>
            </a:r>
            <a:r>
              <a:rPr lang="fr-CA" sz="1100" i="1" dirty="0">
                <a:effectLst/>
              </a:rPr>
              <a:t>2015 37th </a:t>
            </a:r>
            <a:r>
              <a:rPr lang="fr-CA" sz="1100" i="1" dirty="0" err="1">
                <a:effectLst/>
              </a:rPr>
              <a:t>Annual</a:t>
            </a:r>
            <a:r>
              <a:rPr lang="fr-CA" sz="1100" i="1" dirty="0">
                <a:effectLst/>
              </a:rPr>
              <a:t> International </a:t>
            </a:r>
            <a:r>
              <a:rPr lang="fr-CA" sz="1100" i="1" dirty="0" err="1">
                <a:effectLst/>
              </a:rPr>
              <a:t>Conference</a:t>
            </a:r>
            <a:r>
              <a:rPr lang="fr-CA" sz="1100" i="1" dirty="0">
                <a:effectLst/>
              </a:rPr>
              <a:t> of the IEEE Engineering in </a:t>
            </a:r>
            <a:r>
              <a:rPr lang="fr-CA" sz="1100" i="1" dirty="0" err="1">
                <a:effectLst/>
              </a:rPr>
              <a:t>Medicine</a:t>
            </a:r>
            <a:r>
              <a:rPr lang="fr-CA" sz="1100" i="1" dirty="0">
                <a:effectLst/>
              </a:rPr>
              <a:t> and </a:t>
            </a:r>
            <a:r>
              <a:rPr lang="fr-CA" sz="1100" i="1" dirty="0" err="1">
                <a:effectLst/>
              </a:rPr>
              <a:t>Biology</a:t>
            </a:r>
            <a:r>
              <a:rPr lang="fr-CA" sz="1100" i="1" dirty="0">
                <a:effectLst/>
              </a:rPr>
              <a:t> Society (EMBC)</a:t>
            </a:r>
            <a:r>
              <a:rPr lang="fr-CA" sz="1100" dirty="0">
                <a:effectLst/>
              </a:rPr>
              <a:t>, Milan: IEEE, août 2015, p. 6086‑6089. </a:t>
            </a:r>
            <a:r>
              <a:rPr lang="fr-CA" sz="1100" dirty="0" err="1">
                <a:effectLst/>
              </a:rPr>
              <a:t>doi</a:t>
            </a:r>
            <a:r>
              <a:rPr lang="fr-CA" sz="1100" dirty="0">
                <a:effectLst/>
              </a:rPr>
              <a:t>: </a:t>
            </a:r>
            <a:r>
              <a:rPr lang="fr-CA" sz="1100" dirty="0">
                <a:effectLst/>
                <a:hlinkClick r:id="rId5"/>
              </a:rPr>
              <a:t>10.1109/EMBC.2015.7319780</a:t>
            </a:r>
            <a:r>
              <a:rPr lang="fr-CA" sz="1100" dirty="0">
                <a:effectLst/>
              </a:rPr>
              <a:t>.</a:t>
            </a:r>
          </a:p>
          <a:p>
            <a:endParaRPr lang="fr-CA" sz="1100" dirty="0"/>
          </a:p>
        </p:txBody>
      </p:sp>
    </p:spTree>
    <p:extLst>
      <p:ext uri="{BB962C8B-B14F-4D97-AF65-F5344CB8AC3E}">
        <p14:creationId xmlns:p14="http://schemas.microsoft.com/office/powerpoint/2010/main" val="4107703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371CDD-689F-8ED8-3C93-C35CE927A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Key design points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4799CE-D60C-D454-2FA8-065A31844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 err="1"/>
              <a:t>Electrode</a:t>
            </a:r>
            <a:r>
              <a:rPr lang="fr-CA" dirty="0"/>
              <a:t> </a:t>
            </a:r>
            <a:r>
              <a:rPr lang="fr-CA" dirty="0" err="1"/>
              <a:t>geometry</a:t>
            </a:r>
            <a:endParaRPr lang="fr-CA" dirty="0"/>
          </a:p>
          <a:p>
            <a:r>
              <a:rPr lang="fr-CA" dirty="0"/>
              <a:t>Inter-</a:t>
            </a:r>
            <a:r>
              <a:rPr lang="fr-CA" dirty="0" err="1"/>
              <a:t>electrode</a:t>
            </a:r>
            <a:r>
              <a:rPr lang="fr-CA" dirty="0"/>
              <a:t> distance (IED)</a:t>
            </a:r>
          </a:p>
          <a:p>
            <a:r>
              <a:rPr lang="fr-CA" dirty="0"/>
              <a:t>Optimal </a:t>
            </a:r>
            <a:r>
              <a:rPr lang="fr-CA" dirty="0" err="1"/>
              <a:t>resolution</a:t>
            </a:r>
            <a:endParaRPr lang="fr-CA" dirty="0"/>
          </a:p>
          <a:p>
            <a:r>
              <a:rPr lang="fr-CA" dirty="0" err="1"/>
              <a:t>Computing</a:t>
            </a:r>
            <a:r>
              <a:rPr lang="fr-CA" dirty="0"/>
              <a:t> power</a:t>
            </a:r>
          </a:p>
        </p:txBody>
      </p:sp>
    </p:spTree>
    <p:extLst>
      <p:ext uri="{BB962C8B-B14F-4D97-AF65-F5344CB8AC3E}">
        <p14:creationId xmlns:p14="http://schemas.microsoft.com/office/powerpoint/2010/main" val="3686901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AF5DDE-CBCB-CE1B-EC95-27B25251F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Electrode</a:t>
            </a:r>
            <a:r>
              <a:rPr lang="fr-CA" dirty="0"/>
              <a:t> </a:t>
            </a:r>
            <a:r>
              <a:rPr lang="fr-CA" dirty="0" err="1"/>
              <a:t>Geometry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D5F48C-5E70-0810-1BC9-4BB5F1F4A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2 main </a:t>
            </a:r>
            <a:r>
              <a:rPr lang="fr-CA" dirty="0" err="1"/>
              <a:t>geometry</a:t>
            </a:r>
            <a:endParaRPr lang="fr-CA" dirty="0"/>
          </a:p>
          <a:p>
            <a:pPr lvl="1"/>
            <a:r>
              <a:rPr lang="fr-CA" dirty="0"/>
              <a:t>Pin: </a:t>
            </a:r>
            <a:r>
              <a:rPr lang="fr-CA" dirty="0" err="1"/>
              <a:t>Circular</a:t>
            </a:r>
            <a:r>
              <a:rPr lang="fr-CA" dirty="0"/>
              <a:t> </a:t>
            </a:r>
            <a:r>
              <a:rPr lang="fr-CA" dirty="0" err="1"/>
              <a:t>electrode</a:t>
            </a:r>
            <a:r>
              <a:rPr lang="fr-CA" dirty="0"/>
              <a:t> </a:t>
            </a:r>
          </a:p>
          <a:p>
            <a:pPr lvl="1"/>
            <a:r>
              <a:rPr lang="fr-CA" dirty="0"/>
              <a:t>Bar: </a:t>
            </a:r>
            <a:r>
              <a:rPr lang="fr-CA" dirty="0" err="1"/>
              <a:t>Rectangular</a:t>
            </a:r>
            <a:r>
              <a:rPr lang="fr-CA" dirty="0"/>
              <a:t> </a:t>
            </a:r>
            <a:r>
              <a:rPr lang="fr-CA" dirty="0" err="1"/>
              <a:t>electrode</a:t>
            </a:r>
            <a:r>
              <a:rPr lang="fr-CA" dirty="0"/>
              <a:t> </a:t>
            </a:r>
          </a:p>
          <a:p>
            <a:endParaRPr lang="fr-CA" dirty="0"/>
          </a:p>
          <a:p>
            <a:r>
              <a:rPr lang="fr-CA" dirty="0" err="1"/>
              <a:t>Smaller</a:t>
            </a:r>
            <a:r>
              <a:rPr lang="fr-CA" dirty="0"/>
              <a:t> </a:t>
            </a:r>
            <a:r>
              <a:rPr lang="fr-CA" dirty="0" err="1"/>
              <a:t>electrode</a:t>
            </a:r>
            <a:r>
              <a:rPr lang="fr-CA" dirty="0"/>
              <a:t>: </a:t>
            </a:r>
            <a:r>
              <a:rPr lang="fr-CA" dirty="0" err="1"/>
              <a:t>Lower</a:t>
            </a:r>
            <a:r>
              <a:rPr lang="fr-CA" dirty="0"/>
              <a:t> SNR</a:t>
            </a:r>
          </a:p>
          <a:p>
            <a:endParaRPr lang="fr-CA" dirty="0"/>
          </a:p>
          <a:p>
            <a:r>
              <a:rPr lang="fr-CA" dirty="0" err="1"/>
              <a:t>Bigger</a:t>
            </a:r>
            <a:r>
              <a:rPr lang="fr-CA" dirty="0"/>
              <a:t> </a:t>
            </a:r>
            <a:r>
              <a:rPr lang="fr-CA" dirty="0" err="1"/>
              <a:t>electrode</a:t>
            </a:r>
            <a:r>
              <a:rPr lang="fr-CA" dirty="0"/>
              <a:t>: </a:t>
            </a:r>
            <a:r>
              <a:rPr lang="fr-CA" dirty="0" err="1"/>
              <a:t>Less</a:t>
            </a:r>
            <a:r>
              <a:rPr lang="fr-CA" dirty="0"/>
              <a:t> </a:t>
            </a:r>
            <a:r>
              <a:rPr lang="fr-CA" dirty="0" err="1"/>
              <a:t>precise</a:t>
            </a:r>
            <a:r>
              <a:rPr lang="fr-CA" dirty="0"/>
              <a:t> information on signal and </a:t>
            </a:r>
            <a:r>
              <a:rPr lang="fr-CA" dirty="0" err="1"/>
              <a:t>higher</a:t>
            </a:r>
            <a:r>
              <a:rPr lang="fr-CA" dirty="0"/>
              <a:t> chance of </a:t>
            </a:r>
            <a:r>
              <a:rPr lang="fr-CA" dirty="0" err="1"/>
              <a:t>crosstalk</a:t>
            </a:r>
            <a:endParaRPr lang="fr-CA" dirty="0"/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369160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73358A-C286-F1A5-98A6-688EF4977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Inter-</a:t>
            </a:r>
            <a:r>
              <a:rPr lang="fr-CA" dirty="0" err="1"/>
              <a:t>electrode</a:t>
            </a:r>
            <a:r>
              <a:rPr lang="fr-CA" dirty="0"/>
              <a:t> distance (IED)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0CE6E6-583C-4646-5020-9F28102E6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IED: center to center distance </a:t>
            </a:r>
            <a:r>
              <a:rPr lang="fr-CA" dirty="0" err="1"/>
              <a:t>between</a:t>
            </a:r>
            <a:r>
              <a:rPr lang="fr-CA" dirty="0"/>
              <a:t> </a:t>
            </a:r>
            <a:r>
              <a:rPr lang="fr-CA" dirty="0" err="1"/>
              <a:t>two</a:t>
            </a:r>
            <a:r>
              <a:rPr lang="fr-CA" dirty="0"/>
              <a:t> </a:t>
            </a:r>
            <a:r>
              <a:rPr lang="fr-CA" dirty="0" err="1"/>
              <a:t>electrodes</a:t>
            </a:r>
            <a:endParaRPr lang="fr-CA" dirty="0"/>
          </a:p>
          <a:p>
            <a:endParaRPr lang="fr-CA" dirty="0"/>
          </a:p>
          <a:p>
            <a:r>
              <a:rPr lang="fr-CA" dirty="0" err="1"/>
              <a:t>Higher</a:t>
            </a:r>
            <a:r>
              <a:rPr lang="fr-CA" dirty="0"/>
              <a:t> IED values: </a:t>
            </a:r>
            <a:r>
              <a:rPr lang="fr-CA" dirty="0" err="1"/>
              <a:t>Higher</a:t>
            </a:r>
            <a:r>
              <a:rPr lang="fr-CA" dirty="0"/>
              <a:t> chance of </a:t>
            </a:r>
            <a:r>
              <a:rPr lang="fr-CA" dirty="0" err="1"/>
              <a:t>crosstalk</a:t>
            </a:r>
            <a:r>
              <a:rPr lang="fr-CA" dirty="0"/>
              <a:t> and </a:t>
            </a:r>
            <a:r>
              <a:rPr lang="fr-CA" dirty="0" err="1"/>
              <a:t>lower</a:t>
            </a:r>
            <a:r>
              <a:rPr lang="fr-CA" dirty="0"/>
              <a:t> </a:t>
            </a:r>
            <a:r>
              <a:rPr lang="fr-CA" dirty="0" err="1"/>
              <a:t>density</a:t>
            </a:r>
            <a:endParaRPr lang="fr-CA" dirty="0"/>
          </a:p>
          <a:p>
            <a:endParaRPr lang="fr-CA" dirty="0"/>
          </a:p>
          <a:p>
            <a:r>
              <a:rPr lang="fr-CA" dirty="0" err="1"/>
              <a:t>Lower</a:t>
            </a:r>
            <a:r>
              <a:rPr lang="fr-CA" dirty="0"/>
              <a:t> IED values: </a:t>
            </a:r>
            <a:r>
              <a:rPr lang="fr-CA" dirty="0" err="1"/>
              <a:t>Lower</a:t>
            </a:r>
            <a:r>
              <a:rPr lang="fr-CA" dirty="0"/>
              <a:t> SNR</a:t>
            </a:r>
          </a:p>
          <a:p>
            <a:pPr lvl="1"/>
            <a:r>
              <a:rPr lang="fr-CA" dirty="0" err="1"/>
              <a:t>Less</a:t>
            </a:r>
            <a:r>
              <a:rPr lang="fr-CA" dirty="0"/>
              <a:t> impact on SNR </a:t>
            </a:r>
            <a:r>
              <a:rPr lang="fr-CA" dirty="0" err="1"/>
              <a:t>than</a:t>
            </a:r>
            <a:r>
              <a:rPr lang="fr-CA" dirty="0"/>
              <a:t> </a:t>
            </a:r>
            <a:r>
              <a:rPr lang="fr-CA" dirty="0" err="1"/>
              <a:t>electrode</a:t>
            </a:r>
            <a:r>
              <a:rPr lang="fr-CA" dirty="0"/>
              <a:t> dimensions</a:t>
            </a:r>
          </a:p>
          <a:p>
            <a:pPr marL="457200" lvl="1" indent="0">
              <a:buNone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97286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0A8CD2-0A55-9FDC-C7E4-C4CE3FC3B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Optimal </a:t>
            </a:r>
            <a:r>
              <a:rPr lang="fr-CA" dirty="0" err="1"/>
              <a:t>resolution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92EFB6-3A51-3CDA-03DB-1834E1BCC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 err="1"/>
              <a:t>Resolution</a:t>
            </a:r>
            <a:r>
              <a:rPr lang="fr-CA" dirty="0"/>
              <a:t> gain </a:t>
            </a:r>
            <a:r>
              <a:rPr lang="fr-CA" dirty="0" err="1"/>
              <a:t>with</a:t>
            </a:r>
            <a:r>
              <a:rPr lang="fr-CA" dirty="0"/>
              <a:t> </a:t>
            </a:r>
            <a:r>
              <a:rPr lang="fr-CA" dirty="0" err="1"/>
              <a:t>adding</a:t>
            </a:r>
            <a:r>
              <a:rPr lang="fr-CA" dirty="0"/>
              <a:t> </a:t>
            </a:r>
            <a:r>
              <a:rPr lang="fr-CA" dirty="0" err="1"/>
              <a:t>electrodes</a:t>
            </a:r>
            <a:r>
              <a:rPr lang="fr-CA" dirty="0"/>
              <a:t>:</a:t>
            </a:r>
          </a:p>
          <a:p>
            <a:pPr lvl="1"/>
            <a:r>
              <a:rPr lang="fr-CA" dirty="0"/>
              <a:t>Along the muscle </a:t>
            </a:r>
            <a:r>
              <a:rPr lang="fr-CA" dirty="0" err="1"/>
              <a:t>fiber</a:t>
            </a:r>
            <a:r>
              <a:rPr lang="fr-CA" dirty="0"/>
              <a:t>: </a:t>
            </a:r>
            <a:r>
              <a:rPr lang="fr-CA" dirty="0" err="1"/>
              <a:t>small</a:t>
            </a:r>
            <a:endParaRPr lang="fr-CA" dirty="0"/>
          </a:p>
          <a:p>
            <a:pPr lvl="1"/>
            <a:r>
              <a:rPr lang="fr-CA" dirty="0" err="1"/>
              <a:t>Perpedicular</a:t>
            </a:r>
            <a:r>
              <a:rPr lang="fr-CA" dirty="0"/>
              <a:t> to muscle </a:t>
            </a:r>
            <a:r>
              <a:rPr lang="fr-CA" dirty="0" err="1"/>
              <a:t>fibers</a:t>
            </a:r>
            <a:r>
              <a:rPr lang="fr-CA" dirty="0"/>
              <a:t>: big</a:t>
            </a:r>
          </a:p>
        </p:txBody>
      </p:sp>
    </p:spTree>
    <p:extLst>
      <p:ext uri="{BB962C8B-B14F-4D97-AF65-F5344CB8AC3E}">
        <p14:creationId xmlns:p14="http://schemas.microsoft.com/office/powerpoint/2010/main" val="2511630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73073A-8336-CE40-EAAE-E7B7B2323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Computing</a:t>
            </a:r>
            <a:r>
              <a:rPr lang="fr-CA" dirty="0"/>
              <a:t> power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528699-A833-82B3-9C3D-8C3D7A9D6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 err="1"/>
              <a:t>Higher</a:t>
            </a:r>
            <a:r>
              <a:rPr lang="fr-CA" dirty="0"/>
              <a:t> </a:t>
            </a:r>
            <a:r>
              <a:rPr lang="fr-CA" dirty="0" err="1"/>
              <a:t>quantity</a:t>
            </a:r>
            <a:r>
              <a:rPr lang="fr-CA" dirty="0"/>
              <a:t> of </a:t>
            </a:r>
            <a:r>
              <a:rPr lang="fr-CA" dirty="0" err="1"/>
              <a:t>electrodes</a:t>
            </a:r>
            <a:r>
              <a:rPr lang="fr-CA" dirty="0"/>
              <a:t>: More </a:t>
            </a:r>
            <a:r>
              <a:rPr lang="fr-CA" dirty="0" err="1"/>
              <a:t>computing</a:t>
            </a:r>
            <a:r>
              <a:rPr lang="fr-CA" dirty="0"/>
              <a:t> power</a:t>
            </a:r>
          </a:p>
          <a:p>
            <a:r>
              <a:rPr lang="fr-CA" dirty="0"/>
              <a:t>Main </a:t>
            </a:r>
            <a:r>
              <a:rPr lang="fr-CA" dirty="0" err="1"/>
              <a:t>limiting</a:t>
            </a:r>
            <a:r>
              <a:rPr lang="fr-CA" dirty="0"/>
              <a:t> factor for portable bracelet</a:t>
            </a:r>
          </a:p>
          <a:p>
            <a:pPr marL="0" indent="0">
              <a:buNone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14269755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743</Words>
  <Application>Microsoft Office PowerPoint</Application>
  <PresentationFormat>Grand écran</PresentationFormat>
  <Paragraphs>53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Thème Office</vt:lpstr>
      <vt:lpstr>Ressearch on benefits on higher electrode count on HD-EMG</vt:lpstr>
      <vt:lpstr>Is more better?</vt:lpstr>
      <vt:lpstr>Main focus of articles</vt:lpstr>
      <vt:lpstr>Présentation PowerPoint</vt:lpstr>
      <vt:lpstr>Présentation PowerPoint</vt:lpstr>
      <vt:lpstr>Présentation PowerPoint</vt:lpstr>
      <vt:lpstr>Consequence of main focus</vt:lpstr>
      <vt:lpstr>Key design points</vt:lpstr>
      <vt:lpstr>Electrode Geometry</vt:lpstr>
      <vt:lpstr>Inter-electrode distance (IED)</vt:lpstr>
      <vt:lpstr>Optimal resolution</vt:lpstr>
      <vt:lpstr>Computing power</vt:lpstr>
    </vt:vector>
  </TitlesOfParts>
  <Company>fsg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Bergeron</dc:creator>
  <cp:lastModifiedBy>Olivier Bergeron</cp:lastModifiedBy>
  <cp:revision>9</cp:revision>
  <dcterms:created xsi:type="dcterms:W3CDTF">2025-06-04T12:31:38Z</dcterms:created>
  <dcterms:modified xsi:type="dcterms:W3CDTF">2025-06-04T15:24:54Z</dcterms:modified>
</cp:coreProperties>
</file>