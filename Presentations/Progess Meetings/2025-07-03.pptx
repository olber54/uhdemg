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5"/>
  </p:notesMasterIdLst>
  <p:sldIdLst>
    <p:sldId id="302" r:id="rId4"/>
    <p:sldId id="383" r:id="rId5"/>
    <p:sldId id="385" r:id="rId6"/>
    <p:sldId id="386" r:id="rId7"/>
    <p:sldId id="387" r:id="rId8"/>
    <p:sldId id="388" r:id="rId9"/>
    <p:sldId id="390" r:id="rId10"/>
    <p:sldId id="389" r:id="rId11"/>
    <p:sldId id="391" r:id="rId12"/>
    <p:sldId id="394" r:id="rId13"/>
    <p:sldId id="3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CECF4-C5AB-46BD-AE50-1B4A8FC78AC5}" v="23" dt="2025-07-03T14:47:41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641CECF4-C5AB-46BD-AE50-1B4A8FC78AC5}"/>
    <pc:docChg chg="addSld modSld sldOrd">
      <pc:chgData name="Olivier Bergeron" userId="25eb1b54-485f-4e43-901d-d18d08f0214c" providerId="ADAL" clId="{641CECF4-C5AB-46BD-AE50-1B4A8FC78AC5}" dt="2025-07-03T14:47:41.175" v="28"/>
      <pc:docMkLst>
        <pc:docMk/>
      </pc:docMkLst>
      <pc:sldChg chg="addSp modSp">
        <pc:chgData name="Olivier Bergeron" userId="25eb1b54-485f-4e43-901d-d18d08f0214c" providerId="ADAL" clId="{641CECF4-C5AB-46BD-AE50-1B4A8FC78AC5}" dt="2025-07-03T13:46:42.509" v="1"/>
        <pc:sldMkLst>
          <pc:docMk/>
          <pc:sldMk cId="1414278494" sldId="383"/>
        </pc:sldMkLst>
        <pc:graphicFrameChg chg="add mod">
          <ac:chgData name="Olivier Bergeron" userId="25eb1b54-485f-4e43-901d-d18d08f0214c" providerId="ADAL" clId="{641CECF4-C5AB-46BD-AE50-1B4A8FC78AC5}" dt="2025-07-03T13:46:42.509" v="1"/>
          <ac:graphicFrameMkLst>
            <pc:docMk/>
            <pc:sldMk cId="1414278494" sldId="383"/>
            <ac:graphicFrameMk id="4" creationId="{ABEC1278-492A-2C47-98F6-C10C31FB2F93}"/>
          </ac:graphicFrameMkLst>
        </pc:graphicFrameChg>
      </pc:sldChg>
      <pc:sldChg chg="add ord">
        <pc:chgData name="Olivier Bergeron" userId="25eb1b54-485f-4e43-901d-d18d08f0214c" providerId="ADAL" clId="{641CECF4-C5AB-46BD-AE50-1B4A8FC78AC5}" dt="2025-07-03T13:52:23.892" v="5"/>
        <pc:sldMkLst>
          <pc:docMk/>
          <pc:sldMk cId="1579317856" sldId="384"/>
        </pc:sldMkLst>
      </pc:sldChg>
      <pc:sldChg chg="addSp modSp add">
        <pc:chgData name="Olivier Bergeron" userId="25eb1b54-485f-4e43-901d-d18d08f0214c" providerId="ADAL" clId="{641CECF4-C5AB-46BD-AE50-1B4A8FC78AC5}" dt="2025-07-03T14:47:41.175" v="28"/>
        <pc:sldMkLst>
          <pc:docMk/>
          <pc:sldMk cId="2072404961" sldId="385"/>
        </pc:sldMkLst>
        <pc:spChg chg="add mod">
          <ac:chgData name="Olivier Bergeron" userId="25eb1b54-485f-4e43-901d-d18d08f0214c" providerId="ADAL" clId="{641CECF4-C5AB-46BD-AE50-1B4A8FC78AC5}" dt="2025-07-03T14:47:41.175" v="28"/>
          <ac:spMkLst>
            <pc:docMk/>
            <pc:sldMk cId="2072404961" sldId="385"/>
            <ac:spMk id="6" creationId="{B8CA047F-8979-E769-2606-B070DB8E5C16}"/>
          </ac:spMkLst>
        </pc:spChg>
      </pc:sldChg>
      <pc:sldChg chg="addSp modSp add">
        <pc:chgData name="Olivier Bergeron" userId="25eb1b54-485f-4e43-901d-d18d08f0214c" providerId="ADAL" clId="{641CECF4-C5AB-46BD-AE50-1B4A8FC78AC5}" dt="2025-07-03T13:55:42.468" v="7"/>
        <pc:sldMkLst>
          <pc:docMk/>
          <pc:sldMk cId="932424723" sldId="386"/>
        </pc:sldMkLst>
        <pc:spChg chg="add mod">
          <ac:chgData name="Olivier Bergeron" userId="25eb1b54-485f-4e43-901d-d18d08f0214c" providerId="ADAL" clId="{641CECF4-C5AB-46BD-AE50-1B4A8FC78AC5}" dt="2025-07-03T13:55:42.468" v="7"/>
          <ac:spMkLst>
            <pc:docMk/>
            <pc:sldMk cId="932424723" sldId="386"/>
            <ac:spMk id="8" creationId="{639F5BEA-3FC2-8E49-98CE-A21D5054A488}"/>
          </ac:spMkLst>
        </pc:spChg>
      </pc:sldChg>
      <pc:sldChg chg="modSp add">
        <pc:chgData name="Olivier Bergeron" userId="25eb1b54-485f-4e43-901d-d18d08f0214c" providerId="ADAL" clId="{641CECF4-C5AB-46BD-AE50-1B4A8FC78AC5}" dt="2025-07-03T14:00:10.659" v="11"/>
        <pc:sldMkLst>
          <pc:docMk/>
          <pc:sldMk cId="2617616287" sldId="387"/>
        </pc:sldMkLst>
        <pc:spChg chg="mod">
          <ac:chgData name="Olivier Bergeron" userId="25eb1b54-485f-4e43-901d-d18d08f0214c" providerId="ADAL" clId="{641CECF4-C5AB-46BD-AE50-1B4A8FC78AC5}" dt="2025-07-03T14:00:10.659" v="11"/>
          <ac:spMkLst>
            <pc:docMk/>
            <pc:sldMk cId="2617616287" sldId="387"/>
            <ac:spMk id="3" creationId="{564159DD-8CC4-E977-9FCC-E6DF468D68DA}"/>
          </ac:spMkLst>
        </pc:spChg>
      </pc:sldChg>
      <pc:sldChg chg="add">
        <pc:chgData name="Olivier Bergeron" userId="25eb1b54-485f-4e43-901d-d18d08f0214c" providerId="ADAL" clId="{641CECF4-C5AB-46BD-AE50-1B4A8FC78AC5}" dt="2025-07-03T14:00:57.575" v="12"/>
        <pc:sldMkLst>
          <pc:docMk/>
          <pc:sldMk cId="1737521360" sldId="388"/>
        </pc:sldMkLst>
      </pc:sldChg>
      <pc:sldChg chg="modSp add ord">
        <pc:chgData name="Olivier Bergeron" userId="25eb1b54-485f-4e43-901d-d18d08f0214c" providerId="ADAL" clId="{641CECF4-C5AB-46BD-AE50-1B4A8FC78AC5}" dt="2025-07-03T14:09:55.435" v="19"/>
        <pc:sldMkLst>
          <pc:docMk/>
          <pc:sldMk cId="2909787367" sldId="389"/>
        </pc:sldMkLst>
        <pc:spChg chg="mod">
          <ac:chgData name="Olivier Bergeron" userId="25eb1b54-485f-4e43-901d-d18d08f0214c" providerId="ADAL" clId="{641CECF4-C5AB-46BD-AE50-1B4A8FC78AC5}" dt="2025-07-03T14:06:56.127" v="18"/>
          <ac:spMkLst>
            <pc:docMk/>
            <pc:sldMk cId="2909787367" sldId="389"/>
            <ac:spMk id="3" creationId="{F11DB2EE-242B-CE98-5B8D-4200167BA2DA}"/>
          </ac:spMkLst>
        </pc:spChg>
      </pc:sldChg>
      <pc:sldChg chg="addSp modSp add">
        <pc:chgData name="Olivier Bergeron" userId="25eb1b54-485f-4e43-901d-d18d08f0214c" providerId="ADAL" clId="{641CECF4-C5AB-46BD-AE50-1B4A8FC78AC5}" dt="2025-07-03T14:35:42.025" v="23"/>
        <pc:sldMkLst>
          <pc:docMk/>
          <pc:sldMk cId="660652297" sldId="390"/>
        </pc:sldMkLst>
        <pc:spChg chg="mod">
          <ac:chgData name="Olivier Bergeron" userId="25eb1b54-485f-4e43-901d-d18d08f0214c" providerId="ADAL" clId="{641CECF4-C5AB-46BD-AE50-1B4A8FC78AC5}" dt="2025-07-03T14:11:53.235" v="20"/>
          <ac:spMkLst>
            <pc:docMk/>
            <pc:sldMk cId="660652297" sldId="390"/>
            <ac:spMk id="2" creationId="{6623AB49-53A7-CFA0-F20A-F51E9899C2F6}"/>
          </ac:spMkLst>
        </pc:spChg>
        <pc:spChg chg="add mod">
          <ac:chgData name="Olivier Bergeron" userId="25eb1b54-485f-4e43-901d-d18d08f0214c" providerId="ADAL" clId="{641CECF4-C5AB-46BD-AE50-1B4A8FC78AC5}" dt="2025-07-03T14:35:42.025" v="23"/>
          <ac:spMkLst>
            <pc:docMk/>
            <pc:sldMk cId="660652297" sldId="390"/>
            <ac:spMk id="4" creationId="{4484C16D-E72D-F10A-E35A-1AB79ACAC04A}"/>
          </ac:spMkLst>
        </pc:spChg>
      </pc:sldChg>
      <pc:sldChg chg="add">
        <pc:chgData name="Olivier Bergeron" userId="25eb1b54-485f-4e43-901d-d18d08f0214c" providerId="ADAL" clId="{641CECF4-C5AB-46BD-AE50-1B4A8FC78AC5}" dt="2025-07-03T14:03:44.470" v="15"/>
        <pc:sldMkLst>
          <pc:docMk/>
          <pc:sldMk cId="1499841383" sldId="391"/>
        </pc:sldMkLst>
      </pc:sldChg>
      <pc:sldChg chg="add">
        <pc:chgData name="Olivier Bergeron" userId="25eb1b54-485f-4e43-901d-d18d08f0214c" providerId="ADAL" clId="{641CECF4-C5AB-46BD-AE50-1B4A8FC78AC5}" dt="2025-07-03T14:03:44.683" v="16"/>
        <pc:sldMkLst>
          <pc:docMk/>
          <pc:sldMk cId="2065689647" sldId="392"/>
        </pc:sldMkLst>
      </pc:sldChg>
      <pc:sldChg chg="add">
        <pc:chgData name="Olivier Bergeron" userId="25eb1b54-485f-4e43-901d-d18d08f0214c" providerId="ADAL" clId="{641CECF4-C5AB-46BD-AE50-1B4A8FC78AC5}" dt="2025-07-03T14:03:44.871" v="17"/>
        <pc:sldMkLst>
          <pc:docMk/>
          <pc:sldMk cId="2379653586" sldId="393"/>
        </pc:sldMkLst>
      </pc:sldChg>
      <pc:sldChg chg="modSp add">
        <pc:chgData name="Olivier Bergeron" userId="25eb1b54-485f-4e43-901d-d18d08f0214c" providerId="ADAL" clId="{641CECF4-C5AB-46BD-AE50-1B4A8FC78AC5}" dt="2025-07-03T14:40:39.899" v="26"/>
        <pc:sldMkLst>
          <pc:docMk/>
          <pc:sldMk cId="845509614" sldId="394"/>
        </pc:sldMkLst>
        <pc:spChg chg="mod">
          <ac:chgData name="Olivier Bergeron" userId="25eb1b54-485f-4e43-901d-d18d08f0214c" providerId="ADAL" clId="{641CECF4-C5AB-46BD-AE50-1B4A8FC78AC5}" dt="2025-07-03T14:40:39.899" v="26"/>
          <ac:spMkLst>
            <pc:docMk/>
            <pc:sldMk cId="845509614" sldId="394"/>
            <ac:spMk id="2" creationId="{DCDA8A5E-2040-A1F2-A71A-538775FAD81F}"/>
          </ac:spMkLst>
        </pc:spChg>
        <pc:spChg chg="mod">
          <ac:chgData name="Olivier Bergeron" userId="25eb1b54-485f-4e43-901d-d18d08f0214c" providerId="ADAL" clId="{641CECF4-C5AB-46BD-AE50-1B4A8FC78AC5}" dt="2025-07-03T14:39:37.317" v="25"/>
          <ac:spMkLst>
            <pc:docMk/>
            <pc:sldMk cId="845509614" sldId="394"/>
            <ac:spMk id="3" creationId="{05F877C8-0466-E80E-5205-5A93452EA9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B7A987-2E18-CD94-7F61-BB76985E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D292A97-3047-670B-C2BC-4093B5DB4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E8EECFD-D23D-4C40-AF8C-714ED0F62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2162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C3DE707-9D7D-447A-0C08-849065C3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471F6E6-05ED-29DE-1610-656F907F5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F079C71-5BF3-FE4F-810A-96F3D02D67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6016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2AC69C8-F0FC-19E7-EB74-D8643036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B8A0FC41-B6DE-CA30-B3DB-9E4F59264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F0790B8-75B7-ECE2-8F16-508E7F0B8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35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AB31429-63F7-8721-C97E-E0FB0372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5EBA12B-1E0A-362C-4581-6762A6C68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B2805FD-5FD8-52C7-A93B-B93302807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5375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E9E1FC7-B2B9-BAD3-ABB9-34666402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3DDC65C-D1A3-9DB2-967B-7DBA2CD71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7C4EEF1-250D-879C-9B44-CFD4C2C9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5648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9967442-B2C7-1089-C010-E92452F3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B36CC8FE-F39D-A59D-D7F3-C44744EBA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6A2E9DA-3021-B9D7-DA78-ECBFB4C9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622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D5947E5-9BAF-A4A6-9B56-113BFBFA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93F8ACC-FDC9-F5B9-4B38-75BF25137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35895FD-795D-89B5-B475-A1CB74871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2347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E2C9607-2A2B-452E-5A21-4184EFF0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111E0949-007C-34FA-AF55-FD5E2AA1F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9EB2C4-738C-DA40-5614-0B9EF7DB2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77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14871A0-BCD2-C738-0D41-E2CC67D0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D1DFF39-C865-FC85-4A60-F2DC4BB3B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392F9D9-2B07-1D89-C8F3-526E17209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866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B978-0-12-801238-3.00251-8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JPROC.2015.2498665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38/s41598-023-36490-w" TargetMode="External"/><Relationship Id="rId4" Type="http://schemas.openxmlformats.org/officeDocument/2006/relationships/hyperlink" Target="https://doi.org/10.1109/TBME.2023.323464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Since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Two main goals</a:t>
            </a:r>
          </a:p>
          <a:p>
            <a:pPr lvl="1"/>
            <a:r>
              <a:rPr lang="en-CA" dirty="0"/>
              <a:t>1- Keep searching for articles for correlation between electrode count and classification accuracy</a:t>
            </a:r>
          </a:p>
          <a:p>
            <a:pPr lvl="2"/>
            <a:r>
              <a:rPr lang="en-CA" dirty="0"/>
              <a:t>Didn’t find any more valuable article as of right now</a:t>
            </a:r>
          </a:p>
          <a:p>
            <a:pPr marL="914400" lvl="2" indent="0">
              <a:buNone/>
            </a:pPr>
            <a:endParaRPr lang="en-CA" dirty="0"/>
          </a:p>
          <a:p>
            <a:pPr lvl="1"/>
            <a:r>
              <a:rPr lang="en-CA" dirty="0"/>
              <a:t>2- Find more articles about motor unit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A2B41A2-0D09-C6AE-3A90-CAD4B3B6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F93197AC-C84A-892A-FA76-1A247A82D796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94EA0F9-C6DC-CC5F-7329-0FE3C678B3F6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1DD7802-BAF5-AB93-17A2-0F0C21C67B7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02A877-0E5B-E487-ABAE-EBC756C2508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A0708EF-268E-4D36-DE6A-65C541809420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B091C07A-F3CA-A33D-086E-5537CC1794B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A60DEC22-D502-719B-D09D-761BEEB40AD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247AA1D9-42A8-8363-EB13-E8F961F987E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9C3C33D-BD67-865A-C778-124E49CE87E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3108012-8BE6-0710-3BBC-343ADA80A80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6EF5DC41-EDE5-38F3-350F-FD7D6E17583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CA632048-9E2B-D695-29BC-BD2D62C3DD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7EAC0B0-3259-548B-EEBA-E149EBFA45A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CC7C77B-BC12-9417-DB1A-F3D61C7E068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A52A7-D4E8-3FFE-1376-B7681386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Motor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C145-F2AA-82E0-39AC-F719763EC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6536" cy="2774910"/>
          </a:xfrm>
        </p:spPr>
        <p:txBody>
          <a:bodyPr/>
          <a:lstStyle/>
          <a:p>
            <a:r>
              <a:rPr lang="en-CA" dirty="0"/>
              <a:t>Definition: A motor unit consist of a motor neuron and all the muscle fibers innervated by the axon.</a:t>
            </a:r>
          </a:p>
          <a:p>
            <a:endParaRPr lang="en-CA" dirty="0"/>
          </a:p>
          <a:p>
            <a:r>
              <a:rPr lang="en-CA" dirty="0"/>
              <a:t>Smallest functional unit of voluntary muscle activation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BD75F-9473-E645-4843-687C4C8E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387" y="1690688"/>
            <a:ext cx="3260090" cy="4172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A047F-8979-E769-2606-B070DB8E5C16}"/>
              </a:ext>
            </a:extLst>
          </p:cNvPr>
          <p:cNvSpPr txBox="1"/>
          <p:nvPr/>
        </p:nvSpPr>
        <p:spPr>
          <a:xfrm>
            <a:off x="343749" y="6016056"/>
            <a:ext cx="8775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S. K. Gollapudi, J. J. Michael, and M. Chandra, </a:t>
            </a:r>
            <a:r>
              <a:rPr lang="en-US" i="1" dirty="0"/>
              <a:t>Striated Muscle Dynamics</a:t>
            </a:r>
            <a:r>
              <a:rPr lang="en-US" dirty="0"/>
              <a:t>, Reference Module in Biomedical Sciences. Elsevier, 2014.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10.1016/B978-0-12-801238-3.00251-8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240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210BA02-BA73-6C44-422E-E5E69D65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4AF0F24-7B44-BCC0-754C-B38CC33DFD7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9730B7D-4CB1-7197-B346-0826FCFC754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213EBBE-3CE6-D1BE-C6A9-C9B70066998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F496B66-A1CB-0F04-2C70-03762E85491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6B517FD7-DA85-B6F5-BFCF-9A0D4A1D248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C7B33C4-BCE8-56B5-ECAD-4CC1937BEC3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09DF9F20-9461-F72D-A436-399FE994185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7873EB8-1C40-CD25-233E-F8C297E18ADC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2539ED9-0619-7859-AABC-E3173544099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02242F1-BD00-E598-E1EA-E2990350B169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506C1F3-748C-E883-031D-E533DBFCFDE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5DB5447B-908B-1F9B-437E-5CD6177212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E52CCC8-6017-C746-A092-A394C5F4AF1B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186348F-8255-4ED4-5F79-104D49522530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B9C4A-554D-A9C5-5B43-95F30A24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Motor unit vs EMG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E2FB7-3E45-0761-AA75-23CFF91D8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48" y="1454205"/>
            <a:ext cx="7407437" cy="4270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9F5BEA-3FC2-8E49-98CE-A21D5054A488}"/>
              </a:ext>
            </a:extLst>
          </p:cNvPr>
          <p:cNvSpPr txBox="1"/>
          <p:nvPr/>
        </p:nvSpPr>
        <p:spPr>
          <a:xfrm>
            <a:off x="421640" y="5870004"/>
            <a:ext cx="9928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 Farina et A. </a:t>
            </a:r>
            <a:r>
              <a:rPr lang="en-US" dirty="0" err="1"/>
              <a:t>Holobar</a:t>
            </a:r>
            <a:r>
              <a:rPr lang="en-US" dirty="0"/>
              <a:t>, « Characterization of Human Motor Units From Surface EMG Decomposition », </a:t>
            </a:r>
            <a:r>
              <a:rPr lang="en-US" i="1" dirty="0"/>
              <a:t>Proc. IEEE</a:t>
            </a:r>
            <a:r>
              <a:rPr lang="en-US" dirty="0"/>
              <a:t>, vol. 104, n</a:t>
            </a:r>
            <a:r>
              <a:rPr lang="en-US" baseline="30000" dirty="0"/>
              <a:t>o</a:t>
            </a:r>
            <a:r>
              <a:rPr lang="en-US" dirty="0"/>
              <a:t> 2, p. 353‑373, </a:t>
            </a:r>
            <a:r>
              <a:rPr lang="en-US" dirty="0" err="1"/>
              <a:t>févr</a:t>
            </a:r>
            <a:r>
              <a:rPr lang="en-US" dirty="0"/>
              <a:t>. 2016,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10.1109/JPROC.2015.2498665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42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CAE4A49-2AE2-2A1F-FCE1-E1107DA3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C8048694-D2FA-A5F5-4C43-8576D211D9F5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CFEE2FD2-7D12-499D-34DD-3454F6579D5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EEA706C-6EB4-D711-506F-CE811ACFD102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D9B3A14-349B-51E8-BB52-3EA815A107DF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51B0218-8587-7D63-6C07-84BE9850B1D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0204ECB9-4A17-EC56-17D1-653052C3055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5674D11-BDFB-218F-DAA1-F55F02DE407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C878293D-99B0-CEF6-D109-E9EA1BC29EAB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A7AD481-9B1D-E5F5-C4CB-A1F3179ECA3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22D95E4-2E25-7596-7461-21EC38A15A6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ABC18F1-B3D3-5D45-F46D-C5C0A3BDF63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FAE38A0-E93A-5F62-5267-CA670F1FD5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8D0F547-F838-AE5B-D47C-34B9CF0155C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7D7E294-7057-614F-B615-9BA6ACEB0D01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1F00D-D2D9-2D8F-1391-667B91E1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Motor Unit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59DD-8CC4-E977-9FCC-E6DF468D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Multiples techniques for extracting motor units spike trains</a:t>
            </a:r>
          </a:p>
          <a:p>
            <a:pPr lvl="1"/>
            <a:r>
              <a:rPr lang="en-CA" dirty="0"/>
              <a:t>Blind Source Separation</a:t>
            </a:r>
          </a:p>
          <a:p>
            <a:pPr lvl="2"/>
            <a:r>
              <a:rPr lang="en-US" dirty="0"/>
              <a:t>Separates mixed signals into their original independent sources without prior knowledge of the mixing process.</a:t>
            </a:r>
          </a:p>
          <a:p>
            <a:pPr lvl="2"/>
            <a:endParaRPr lang="en-CA" dirty="0"/>
          </a:p>
          <a:p>
            <a:pPr lvl="1"/>
            <a:r>
              <a:rPr lang="en-CA" dirty="0"/>
              <a:t>Convolution Kernel Compensation</a:t>
            </a:r>
          </a:p>
          <a:p>
            <a:pPr lvl="2"/>
            <a:r>
              <a:rPr lang="en-US" dirty="0"/>
              <a:t>Reconstructs motor unit spike trains by compensating for the convolution effect of motor unit action potentials in EMG signals.</a:t>
            </a:r>
          </a:p>
          <a:p>
            <a:pPr lvl="2"/>
            <a:endParaRPr lang="en-CA" dirty="0"/>
          </a:p>
          <a:p>
            <a:pPr lvl="1"/>
            <a:r>
              <a:rPr lang="en-CA" dirty="0"/>
              <a:t>Template matching + clustering</a:t>
            </a:r>
          </a:p>
          <a:p>
            <a:pPr lvl="2"/>
            <a:r>
              <a:rPr lang="en-US" dirty="0"/>
              <a:t>Detects and classifies recurring signal patterns (spikes) by comparing them to learned templates and grouping similar ones into clusters.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1761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D27F494-69CC-1E06-E6EB-63C47C39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015B9DE2-7D04-EAC6-16C1-03916DD702B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3CCACF56-3D33-9914-6666-AC41FDAC683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1142548-8EFB-5385-4E9A-C054277AAA9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6B839BE-B1AF-CE77-9C4F-6978E6D8546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0423E0E9-6E42-8E63-1C5A-D6593877510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01E78BB-2602-0239-76BC-6760387B0BF1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9DD46364-6DBB-9CD3-B902-4F12CCEC158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2BF7989-A210-C421-9591-414BF329CEDF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BDCEFF41-D0A0-1314-6D84-7405501A2B4A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7F50040-61FE-D464-8890-2CED265B6A37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0694FF0-5D0C-178A-11C8-7D79F7D4B86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E8C5F1-4912-4C40-A636-815535214A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88535B9-3282-D799-89CD-171823ABD0C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C51DB29-1EED-C29E-17D9-768246DA24A0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96294-A09C-1B9A-3DEB-40948324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What information can be extracted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45A8-32F1-995B-4400-B7075C221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Firing rate of motor units</a:t>
            </a:r>
          </a:p>
          <a:p>
            <a:r>
              <a:rPr lang="en-CA" dirty="0"/>
              <a:t>Recruitment order</a:t>
            </a:r>
          </a:p>
          <a:p>
            <a:r>
              <a:rPr lang="en-CA" dirty="0"/>
              <a:t>Spike timing</a:t>
            </a:r>
          </a:p>
          <a:p>
            <a:r>
              <a:rPr lang="en-CA" dirty="0"/>
              <a:t>Spatial location</a:t>
            </a:r>
          </a:p>
        </p:txBody>
      </p:sp>
    </p:spTree>
    <p:extLst>
      <p:ext uri="{BB962C8B-B14F-4D97-AF65-F5344CB8AC3E}">
        <p14:creationId xmlns:p14="http://schemas.microsoft.com/office/powerpoint/2010/main" val="173752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4CDB74-C4DB-9183-764D-4061DDE6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3B17C4A-2731-9206-AE8D-00F7E5D267E5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72C3137E-4B09-7150-E217-E55D2E54C836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4D5A7B7-D811-8F88-EA50-282074172735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DBC446A-2600-F8B6-DA9D-0F41E83AECD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02EAD02-06C8-E661-FCE0-EC4770E360B9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2398651-4B21-981F-4A9D-511D9000AA3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5BC8220A-8F88-D367-4D14-E74DB356CE35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CF6A3C82-FEA9-AF6C-E25D-AAA25B1F96C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D92D6596-8FBC-3202-825A-1D84217D83A4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98847036-3CB1-AF99-E984-B1ADC97EE118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68338E8B-570A-0498-65E3-14B1868AEE70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FF5D7F28-678C-1D97-0EFB-73562EEA3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7FC310C-0062-75C7-F528-0432CF5231C3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968C4D5-F396-A79A-2B62-3384A9FE67B1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3AB49-53A7-CFA0-F20A-F51E9899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Pros with motor unit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9DE6-F1F4-FC99-ABF6-5B8FBD4C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5424"/>
          </a:xfrm>
        </p:spPr>
        <p:txBody>
          <a:bodyPr>
            <a:normAutofit fontScale="92500"/>
          </a:bodyPr>
          <a:lstStyle/>
          <a:p>
            <a:r>
              <a:rPr lang="en-CA" dirty="0"/>
              <a:t>Ability to find subtle gestures</a:t>
            </a:r>
          </a:p>
          <a:p>
            <a:pPr lvl="1"/>
            <a:r>
              <a:rPr lang="en-CA" dirty="0"/>
              <a:t>Some EMG patterns overlap for different motor unit activity</a:t>
            </a:r>
          </a:p>
          <a:p>
            <a:pPr lvl="1"/>
            <a:endParaRPr lang="en-CA" dirty="0"/>
          </a:p>
          <a:p>
            <a:r>
              <a:rPr lang="en-CA" dirty="0"/>
              <a:t>High quantity of recognisable gestures with high classification accuracy</a:t>
            </a:r>
          </a:p>
          <a:p>
            <a:pPr lvl="1"/>
            <a:r>
              <a:rPr lang="en-CA" dirty="0"/>
              <a:t>Example of quantity of gestures: 12 (94.6%)</a:t>
            </a:r>
            <a:r>
              <a:rPr lang="en-CA" baseline="30000" dirty="0"/>
              <a:t>1</a:t>
            </a:r>
            <a:r>
              <a:rPr lang="en-CA" dirty="0"/>
              <a:t>, 66 (≥ 89%)</a:t>
            </a:r>
            <a:r>
              <a:rPr lang="en-CA" baseline="30000" dirty="0"/>
              <a:t>2</a:t>
            </a:r>
          </a:p>
          <a:p>
            <a:pPr lvl="1"/>
            <a:endParaRPr lang="en-CA" dirty="0"/>
          </a:p>
          <a:p>
            <a:r>
              <a:rPr lang="en-CA" dirty="0"/>
              <a:t>High classification accuracy</a:t>
            </a:r>
          </a:p>
          <a:p>
            <a:pPr lvl="1"/>
            <a:r>
              <a:rPr lang="en-CA" dirty="0"/>
              <a:t>Around the same as CNN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4C16D-E72D-F10A-E35A-1AB79ACAC04A}"/>
              </a:ext>
            </a:extLst>
          </p:cNvPr>
          <p:cNvSpPr txBox="1"/>
          <p:nvPr/>
        </p:nvSpPr>
        <p:spPr>
          <a:xfrm>
            <a:off x="201168" y="5322499"/>
            <a:ext cx="108691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C. Chen, Y. Yu, X. Sheng, J. Meng, et X. Zhu, « Real-Time Hand Gesture Recognition by Decoding Motor Unit Discharges Across Multiple Motor Tasks From Surface Electromyography », </a:t>
            </a:r>
            <a:r>
              <a:rPr lang="en-US" sz="1400" i="1" dirty="0"/>
              <a:t>IEEE Trans. Biomed. Eng.</a:t>
            </a:r>
            <a:r>
              <a:rPr lang="en-US" sz="1400" dirty="0"/>
              <a:t>, vol. 70, n</a:t>
            </a:r>
            <a:r>
              <a:rPr lang="en-US" sz="1400" baseline="30000" dirty="0"/>
              <a:t>o</a:t>
            </a:r>
            <a:r>
              <a:rPr lang="en-US" sz="1400" dirty="0"/>
              <a:t> 7, p. 2058‑2068, </a:t>
            </a:r>
            <a:r>
              <a:rPr lang="en-US" sz="1400" dirty="0" err="1"/>
              <a:t>juill</a:t>
            </a:r>
            <a:r>
              <a:rPr lang="en-US" sz="1400" dirty="0"/>
              <a:t>. 2023, </a:t>
            </a:r>
            <a:r>
              <a:rPr lang="en-US" sz="1400" dirty="0" err="1"/>
              <a:t>doi</a:t>
            </a:r>
            <a:r>
              <a:rPr lang="en-US" sz="1400" dirty="0"/>
              <a:t>: </a:t>
            </a:r>
            <a:r>
              <a:rPr lang="en-US" sz="1400" dirty="0">
                <a:hlinkClick r:id="rId4"/>
              </a:rPr>
              <a:t>10.1109/TBME.2023.3234642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[2] M. </a:t>
            </a:r>
            <a:r>
              <a:rPr lang="en-US" sz="1400" dirty="0" err="1"/>
              <a:t>Montazerin</a:t>
            </a:r>
            <a:r>
              <a:rPr lang="en-US" sz="1400" dirty="0"/>
              <a:t>, E. Rahimian, F. </a:t>
            </a:r>
            <a:r>
              <a:rPr lang="en-US" sz="1400" dirty="0" err="1"/>
              <a:t>Naderkhani</a:t>
            </a:r>
            <a:r>
              <a:rPr lang="en-US" sz="1400" dirty="0"/>
              <a:t>, S. F. </a:t>
            </a:r>
            <a:r>
              <a:rPr lang="en-US" sz="1400" dirty="0" err="1"/>
              <a:t>Atashzar</a:t>
            </a:r>
            <a:r>
              <a:rPr lang="en-US" sz="1400" dirty="0"/>
              <a:t>, S. Yanushkevich, et A. Mohammadi, « Transformer-based hand gesture recognition from instantaneous to fused neural decomposition of high-density EMG signals », </a:t>
            </a:r>
            <a:r>
              <a:rPr lang="en-US" sz="1400" i="1" dirty="0"/>
              <a:t>Sci Rep</a:t>
            </a:r>
            <a:r>
              <a:rPr lang="en-US" sz="1400" dirty="0"/>
              <a:t>, vol. 13, n</a:t>
            </a:r>
            <a:r>
              <a:rPr lang="en-US" sz="1400" baseline="30000" dirty="0"/>
              <a:t>o</a:t>
            </a:r>
            <a:r>
              <a:rPr lang="en-US" sz="1400" dirty="0"/>
              <a:t> 1, p. 11000, </a:t>
            </a:r>
            <a:r>
              <a:rPr lang="en-US" sz="1400" dirty="0" err="1"/>
              <a:t>juill</a:t>
            </a:r>
            <a:r>
              <a:rPr lang="en-US" sz="1400" dirty="0"/>
              <a:t>. 2023, </a:t>
            </a:r>
            <a:r>
              <a:rPr lang="en-US" sz="1400" dirty="0" err="1"/>
              <a:t>doi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10.1038/s41598-023-36490-w</a:t>
            </a:r>
            <a:r>
              <a:rPr lang="en-US" sz="1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5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A2ED2DB-3EA3-26B7-636E-FDFDA153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9DC68C6-5F2B-02CB-F415-E534EF3662CD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34821F71-1EDD-D458-B1EB-6899A341EB06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C0C5103-AE3C-E880-2E09-97EB2E61AE82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9A6BE3E-B1F6-6BCD-C24B-C6E20536B20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6ADA32C-7A0E-17CF-113B-A78BB9B2EBB7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BB287CEB-A2D4-E119-FB74-D83E89205A0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F51934B5-341E-47B2-32A6-C9021F081F8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117043A-5256-57A1-BA1A-05A0CEF24A3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1F159DBB-4F17-D78A-19C7-232274F3A10A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1DB70A4D-DC3E-0CF7-6BBB-4E18B2A94AB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71767414-EAC5-BC3E-0BEE-6C955D683A3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C8226890-53FC-A489-8582-D222963CAF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DB11D79-1E3E-8132-A427-51CDBCC3F58B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EC3112F-9C3C-47D4-E419-67C70AF7EC9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E9AAE-ED74-B10D-A12B-BFA1932A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Cons with motor unit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DB2EE-242B-CE98-5B8D-4200167B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0351"/>
          </a:xfrm>
        </p:spPr>
        <p:txBody>
          <a:bodyPr/>
          <a:lstStyle/>
          <a:p>
            <a:r>
              <a:rPr lang="en-CA" dirty="0"/>
              <a:t>Highly sensitive to electrode shift</a:t>
            </a:r>
          </a:p>
          <a:p>
            <a:pPr lvl="1"/>
            <a:r>
              <a:rPr lang="en-CA" dirty="0"/>
              <a:t>Often required to re-decompose the motor units when shifting happens</a:t>
            </a:r>
          </a:p>
          <a:p>
            <a:pPr lvl="1"/>
            <a:endParaRPr lang="en-CA" dirty="0"/>
          </a:p>
          <a:p>
            <a:r>
              <a:rPr lang="en-CA" dirty="0"/>
              <a:t>More “hardware hungry”</a:t>
            </a:r>
          </a:p>
          <a:p>
            <a:pPr lvl="1"/>
            <a:r>
              <a:rPr lang="en-CA" dirty="0"/>
              <a:t>Decompositions methods are more </a:t>
            </a:r>
            <a:r>
              <a:rPr lang="en-US" dirty="0"/>
              <a:t>computationally intensive</a:t>
            </a:r>
          </a:p>
          <a:p>
            <a:pPr lvl="1"/>
            <a:r>
              <a:rPr lang="en-US" dirty="0"/>
              <a:t>More power is needed</a:t>
            </a:r>
          </a:p>
          <a:p>
            <a:pPr lvl="1"/>
            <a:r>
              <a:rPr lang="en-US" dirty="0"/>
              <a:t>Very difficult for real-time application</a:t>
            </a:r>
            <a:endParaRPr lang="en-CA" dirty="0"/>
          </a:p>
          <a:p>
            <a:endParaRPr lang="en-CA" dirty="0"/>
          </a:p>
          <a:p>
            <a:r>
              <a:rPr lang="en-CA" dirty="0"/>
              <a:t>Highly sensitive to positioning</a:t>
            </a:r>
          </a:p>
          <a:p>
            <a:pPr lvl="1"/>
            <a:r>
              <a:rPr lang="en-CA" dirty="0"/>
              <a:t>Misalignments/changes in contact degrades motor unit tracking quality</a:t>
            </a:r>
          </a:p>
          <a:p>
            <a:pPr lvl="1"/>
            <a:r>
              <a:rPr lang="en-CA" dirty="0"/>
              <a:t>When redonned, recalibration is required</a:t>
            </a:r>
          </a:p>
        </p:txBody>
      </p:sp>
    </p:spTree>
    <p:extLst>
      <p:ext uri="{BB962C8B-B14F-4D97-AF65-F5344CB8AC3E}">
        <p14:creationId xmlns:p14="http://schemas.microsoft.com/office/powerpoint/2010/main" val="290978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3CA5C7C-CDD7-F8BD-A423-9B1CDE03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BA6B75F7-E6A3-AA12-0E50-9482057135F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F7770C7C-DB49-8B75-3B34-D1EBA8F53D47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D10F7A0-21EE-F8BA-6988-E5730E157DE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47F478B-9E82-7240-6686-E392A5EB752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AAF8CBD7-6FA2-5869-C983-60D417768CE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E6F204CE-B785-5EEE-DF9E-56CC6E9E06E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36B9ECC4-90C3-4179-9A8D-793808369916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FFF37D76-FBA5-2D51-027A-F99CDBF42A9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58621E17-872F-E9DC-DD8D-9EFF6A9B5700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8EB9C6B-DB16-0753-AB33-2A93D8AFA97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1AB16A1-F9F4-FF97-69BA-F23BD5491EE4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1F7C5E0-F904-B100-D953-D78B92380F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6296F10-23E4-2A00-A272-9698BCE15C39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73348DE-4C01-0D56-45A0-87405313BB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CE10F-010C-6E8D-A3B5-D74BD9E3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What if: hybrid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95A65-3F9C-3592-B025-07AD008C0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/>
              <a:t>Hybrid method: Combine motor unit decomposition with CNN features</a:t>
            </a:r>
          </a:p>
          <a:p>
            <a:endParaRPr lang="en-CA" dirty="0"/>
          </a:p>
          <a:p>
            <a:r>
              <a:rPr lang="en-CA" dirty="0"/>
              <a:t>Why?</a:t>
            </a:r>
          </a:p>
          <a:p>
            <a:pPr lvl="1"/>
            <a:r>
              <a:rPr lang="en-CA" dirty="0"/>
              <a:t>Robustness, fast computing and general hand gestures with CNN</a:t>
            </a:r>
          </a:p>
          <a:p>
            <a:pPr lvl="1"/>
            <a:r>
              <a:rPr lang="en-CA" dirty="0"/>
              <a:t>Fine neural control details with motor unit decomposition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984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BC21A66-8A6F-4390-9916-414FFF4A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8B3B73A1-EB7C-615F-14A9-EA1761C2974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FC1400EA-1312-2BF3-4C99-4C9B1A5E285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BDF1A99-499A-25D8-016D-F080D01BA51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208AE10-4565-A3A7-7096-F1CD00DCE68A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D7E8AE8A-FEB4-3C7A-7A9A-4BBB6B8CBC8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E37D3D44-468F-BF45-9DA5-8BDF086047D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CC5BB81-EA15-513A-61AD-4065624B1A7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3D1CCFFC-9CC8-EFEF-3F77-A98B04C8AEDC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4771569-A786-9C8B-7154-4CE51F6FB00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9730884-C346-B4D5-E8C8-DD1FA7C9C95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CF27D27-59D4-0F90-3709-9F41723D68E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0A7657E-EA92-5AAD-FD9D-7E6ED634ED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C3F20E62-65FF-16B3-9167-9BE14DD01FE5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A017CCB-5AFE-9B92-5D60-A0639DAD95F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A8A5E-2040-A1F2-A71A-538775FA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What if: hybrid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877C8-0466-E80E-5205-5A93452EA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Methods examples</a:t>
            </a:r>
          </a:p>
          <a:p>
            <a:pPr lvl="1"/>
            <a:r>
              <a:rPr lang="en-CA" dirty="0"/>
              <a:t>Early fusion: Concatenate EMG + Motor Unit into one input</a:t>
            </a:r>
          </a:p>
          <a:p>
            <a:pPr lvl="1"/>
            <a:r>
              <a:rPr lang="en-CA" dirty="0"/>
              <a:t>Late fusion: Two separate classifier fused at decision level</a:t>
            </a:r>
          </a:p>
          <a:p>
            <a:pPr lvl="1"/>
            <a:r>
              <a:rPr lang="en-CA" dirty="0"/>
              <a:t>Joint fusion: Models with dual-branches and adaptive weighting</a:t>
            </a:r>
          </a:p>
          <a:p>
            <a:pPr lvl="1"/>
            <a:endParaRPr lang="en-CA" dirty="0"/>
          </a:p>
          <a:p>
            <a:r>
              <a:rPr lang="en-CA" dirty="0"/>
              <a:t>Applications</a:t>
            </a:r>
          </a:p>
          <a:p>
            <a:pPr lvl="1"/>
            <a:r>
              <a:rPr lang="en-CA" dirty="0"/>
              <a:t>High gesture count applications</a:t>
            </a:r>
          </a:p>
          <a:p>
            <a:pPr lvl="1"/>
            <a:r>
              <a:rPr lang="en-CA" dirty="0"/>
              <a:t>Benchmarking upper limits of classification performance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550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437E6D3-F076-22DB-F506-2716E1B2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2D586841-5899-D093-8EE9-0D0655BD2909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6FB0BA8B-8C13-E1F7-D090-623585175983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D0D692B-1E71-19E1-53F6-997BD8AFBEC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031DF15-9388-1D01-B8CF-653BA1A8A28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6253EFBA-AE3E-47EB-AB76-B9E898C05E1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0F3FAFF-4AE2-A288-0601-026D0663E453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5C5AF813-DA10-A7E5-5EA2-2E72FF6AE8F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475B29D-F6A3-F3DA-F3AA-30BD1E99100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927C774-22C5-0E96-5E99-B34D20FD0366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0A045A3-17DD-BAFA-AC6A-A58C5B48A59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F1505A76-E8A7-A779-5E5D-0EB075B2406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6A4868DE-2204-5A56-4DCC-E90F946696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958A157-E144-A828-C73D-36DDA8DE5CC8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02E7DF5-5868-E9AE-5FAC-3C61631879D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3CD87-FC81-3CA8-CF52-9138DB51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1919-7CD4-548A-3951-D10673A2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Pros</a:t>
            </a:r>
          </a:p>
          <a:p>
            <a:pPr lvl="1"/>
            <a:r>
              <a:rPr lang="en-CA" dirty="0"/>
              <a:t>Combining increase accuracy</a:t>
            </a:r>
          </a:p>
          <a:p>
            <a:pPr lvl="1"/>
            <a:r>
              <a:rPr lang="en-CA" dirty="0"/>
              <a:t>More gesture recognition</a:t>
            </a:r>
          </a:p>
          <a:p>
            <a:pPr lvl="1"/>
            <a:r>
              <a:rPr lang="en-CA" dirty="0"/>
              <a:t>Can give neural control information</a:t>
            </a:r>
          </a:p>
          <a:p>
            <a:pPr lvl="1"/>
            <a:endParaRPr lang="en-CA" dirty="0"/>
          </a:p>
          <a:p>
            <a:r>
              <a:rPr lang="en-CA" dirty="0"/>
              <a:t>Cons</a:t>
            </a:r>
          </a:p>
          <a:p>
            <a:pPr lvl="1"/>
            <a:r>
              <a:rPr lang="en-CA" dirty="0"/>
              <a:t>High computing cost</a:t>
            </a:r>
          </a:p>
          <a:p>
            <a:pPr lvl="1"/>
            <a:r>
              <a:rPr lang="en-CA" dirty="0"/>
              <a:t>Very hard for wearable devices</a:t>
            </a:r>
          </a:p>
          <a:p>
            <a:pPr lvl="1"/>
            <a:r>
              <a:rPr lang="en-CA" dirty="0"/>
              <a:t>High sensibility with steep performance reduction risk</a:t>
            </a:r>
          </a:p>
        </p:txBody>
      </p:sp>
    </p:spTree>
    <p:extLst>
      <p:ext uri="{BB962C8B-B14F-4D97-AF65-F5344CB8AC3E}">
        <p14:creationId xmlns:p14="http://schemas.microsoft.com/office/powerpoint/2010/main" val="206568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621</Words>
  <Application>Microsoft Office PowerPoint</Application>
  <PresentationFormat>Widescreen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Updates</vt:lpstr>
      <vt:lpstr>Since last time</vt:lpstr>
      <vt:lpstr>Motor Unit</vt:lpstr>
      <vt:lpstr>Motor unit vs EMG</vt:lpstr>
      <vt:lpstr>Motor Unit Decomposition</vt:lpstr>
      <vt:lpstr>What information can be extracted</vt:lpstr>
      <vt:lpstr>Pros with motor unit decomposition</vt:lpstr>
      <vt:lpstr>Cons with motor unit decomposition</vt:lpstr>
      <vt:lpstr>What if: hybrid method</vt:lpstr>
      <vt:lpstr>What if: hybrid method</vt:lpstr>
      <vt:lpstr>Pros and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2025-07-03T14:47:58Z</dcterms:modified>
</cp:coreProperties>
</file>