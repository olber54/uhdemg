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35"/>
  </p:notesMasterIdLst>
  <p:sldIdLst>
    <p:sldId id="256" r:id="rId2"/>
    <p:sldId id="257" r:id="rId3"/>
    <p:sldId id="259" r:id="rId4"/>
    <p:sldId id="295" r:id="rId5"/>
    <p:sldId id="277" r:id="rId6"/>
    <p:sldId id="286" r:id="rId7"/>
    <p:sldId id="279" r:id="rId8"/>
    <p:sldId id="281" r:id="rId9"/>
    <p:sldId id="282" r:id="rId10"/>
    <p:sldId id="293" r:id="rId11"/>
    <p:sldId id="287" r:id="rId12"/>
    <p:sldId id="260" r:id="rId13"/>
    <p:sldId id="261" r:id="rId14"/>
    <p:sldId id="262" r:id="rId15"/>
    <p:sldId id="263" r:id="rId16"/>
    <p:sldId id="264" r:id="rId17"/>
    <p:sldId id="265" r:id="rId18"/>
    <p:sldId id="267" r:id="rId19"/>
    <p:sldId id="266" r:id="rId20"/>
    <p:sldId id="268" r:id="rId21"/>
    <p:sldId id="269" r:id="rId22"/>
    <p:sldId id="270" r:id="rId23"/>
    <p:sldId id="294" r:id="rId24"/>
    <p:sldId id="288" r:id="rId25"/>
    <p:sldId id="274" r:id="rId26"/>
    <p:sldId id="291" r:id="rId27"/>
    <p:sldId id="289" r:id="rId28"/>
    <p:sldId id="275" r:id="rId29"/>
    <p:sldId id="290" r:id="rId30"/>
    <p:sldId id="292" r:id="rId31"/>
    <p:sldId id="271" r:id="rId32"/>
    <p:sldId id="276"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2E4A"/>
    <a:srgbClr val="F1BB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86554" autoAdjust="0"/>
  </p:normalViewPr>
  <p:slideViewPr>
    <p:cSldViewPr snapToGrid="0">
      <p:cViewPr varScale="1">
        <p:scale>
          <a:sx n="82" d="100"/>
          <a:sy n="82" d="100"/>
        </p:scale>
        <p:origin x="725"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8027B-B5CA-43FE-83BF-6327550A03F7}"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D3C02A-94A9-4E52-835F-B6DB969C9D81}" type="slidenum">
              <a:rPr lang="en-US" smtClean="0"/>
              <a:t>‹#›</a:t>
            </a:fld>
            <a:endParaRPr lang="en-US"/>
          </a:p>
        </p:txBody>
      </p:sp>
    </p:spTree>
    <p:extLst>
      <p:ext uri="{BB962C8B-B14F-4D97-AF65-F5344CB8AC3E}">
        <p14:creationId xmlns:p14="http://schemas.microsoft.com/office/powerpoint/2010/main" val="100927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err="1"/>
              <a:t>Definition</a:t>
            </a:r>
            <a:r>
              <a:rPr lang="fr-CA" dirty="0"/>
              <a:t> of </a:t>
            </a:r>
            <a:r>
              <a:rPr lang="fr-CA" dirty="0" err="1"/>
              <a:t>electromyography</a:t>
            </a:r>
            <a:endParaRPr lang="fr-CA" dirty="0"/>
          </a:p>
          <a:p>
            <a:endParaRPr lang="en-US" dirty="0"/>
          </a:p>
          <a:p>
            <a:r>
              <a:rPr lang="en-US" dirty="0"/>
              <a:t>Applications:</a:t>
            </a:r>
          </a:p>
          <a:p>
            <a:pPr marL="171450" indent="-171450">
              <a:buFontTx/>
              <a:buChar char="-"/>
            </a:pPr>
            <a:r>
              <a:rPr lang="en-US" dirty="0"/>
              <a:t>Study of nerve damage after accident</a:t>
            </a:r>
          </a:p>
          <a:p>
            <a:pPr marL="171450" indent="-171450">
              <a:buFontTx/>
              <a:buChar char="-"/>
            </a:pPr>
            <a:r>
              <a:rPr lang="en-US" dirty="0"/>
              <a:t>Muscle dystrophy</a:t>
            </a:r>
          </a:p>
          <a:p>
            <a:pPr marL="171450" indent="-171450">
              <a:buFontTx/>
              <a:buChar char="-"/>
            </a:pPr>
            <a:r>
              <a:rPr lang="en-US" dirty="0"/>
              <a:t>Optimizing performance (ex: in sports)</a:t>
            </a:r>
          </a:p>
          <a:p>
            <a:pPr marL="171450" indent="-171450">
              <a:buFontTx/>
              <a:buChar char="-"/>
            </a:pPr>
            <a:r>
              <a:rPr lang="en-US" dirty="0"/>
              <a:t>Prosthetic (ex: hand prosthetic)</a:t>
            </a:r>
            <a:endParaRPr lang="fr-CA" dirty="0"/>
          </a:p>
        </p:txBody>
      </p:sp>
      <p:sp>
        <p:nvSpPr>
          <p:cNvPr id="4" name="Slide Number Placeholder 3"/>
          <p:cNvSpPr>
            <a:spLocks noGrp="1"/>
          </p:cNvSpPr>
          <p:nvPr>
            <p:ph type="sldNum" sz="quarter" idx="5"/>
          </p:nvPr>
        </p:nvSpPr>
        <p:spPr/>
        <p:txBody>
          <a:bodyPr/>
          <a:lstStyle/>
          <a:p>
            <a:fld id="{5CD3C02A-94A9-4E52-835F-B6DB969C9D81}" type="slidenum">
              <a:rPr lang="en-US" smtClean="0"/>
              <a:t>2</a:t>
            </a:fld>
            <a:endParaRPr lang="en-US"/>
          </a:p>
        </p:txBody>
      </p:sp>
    </p:spTree>
    <p:extLst>
      <p:ext uri="{BB962C8B-B14F-4D97-AF65-F5344CB8AC3E}">
        <p14:creationId xmlns:p14="http://schemas.microsoft.com/office/powerpoint/2010/main" val="3864279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Direct the last slide of </a:t>
            </a:r>
            <a:r>
              <a:rPr lang="fr-CA" dirty="0" err="1"/>
              <a:t>explaining</a:t>
            </a:r>
            <a:r>
              <a:rPr lang="fr-CA" dirty="0"/>
              <a:t> EMG signal to the </a:t>
            </a:r>
            <a:r>
              <a:rPr lang="fr-CA" dirty="0" err="1"/>
              <a:t>subject</a:t>
            </a:r>
            <a:r>
              <a:rPr lang="fr-CA" dirty="0"/>
              <a:t> of the </a:t>
            </a:r>
            <a:r>
              <a:rPr lang="fr-CA" dirty="0" err="1"/>
              <a:t>presentation</a:t>
            </a:r>
            <a:r>
              <a:rPr lang="fr-CA" dirty="0"/>
              <a:t>:</a:t>
            </a:r>
          </a:p>
          <a:p>
            <a:r>
              <a:rPr lang="fr-CA" dirty="0"/>
              <a:t>- </a:t>
            </a:r>
            <a:r>
              <a:rPr lang="fr-CA" dirty="0" err="1"/>
              <a:t>What</a:t>
            </a:r>
            <a:r>
              <a:rPr lang="fr-CA" dirty="0"/>
              <a:t> </a:t>
            </a:r>
            <a:r>
              <a:rPr lang="fr-CA" dirty="0" err="1"/>
              <a:t>happens</a:t>
            </a:r>
            <a:r>
              <a:rPr lang="fr-CA" dirty="0"/>
              <a:t> </a:t>
            </a:r>
            <a:r>
              <a:rPr lang="fr-CA" dirty="0" err="1"/>
              <a:t>inside</a:t>
            </a:r>
            <a:r>
              <a:rPr lang="fr-CA" dirty="0"/>
              <a:t> the body </a:t>
            </a:r>
            <a:r>
              <a:rPr lang="fr-CA" dirty="0" err="1"/>
              <a:t>when</a:t>
            </a:r>
            <a:r>
              <a:rPr lang="fr-CA" dirty="0"/>
              <a:t> </a:t>
            </a:r>
            <a:r>
              <a:rPr lang="fr-CA" dirty="0" err="1"/>
              <a:t>we</a:t>
            </a:r>
            <a:r>
              <a:rPr lang="fr-CA" dirty="0"/>
              <a:t> </a:t>
            </a:r>
            <a:r>
              <a:rPr lang="fr-CA" dirty="0" err="1"/>
              <a:t>want</a:t>
            </a:r>
            <a:r>
              <a:rPr lang="fr-CA" dirty="0"/>
              <a:t> to </a:t>
            </a:r>
            <a:r>
              <a:rPr lang="fr-CA" dirty="0" err="1"/>
              <a:t>contract</a:t>
            </a:r>
            <a:r>
              <a:rPr lang="fr-CA" dirty="0"/>
              <a:t> muscles?</a:t>
            </a:r>
            <a:endParaRPr lang="en-US" dirty="0"/>
          </a:p>
        </p:txBody>
      </p:sp>
      <p:sp>
        <p:nvSpPr>
          <p:cNvPr id="4" name="Slide Number Placeholder 3"/>
          <p:cNvSpPr>
            <a:spLocks noGrp="1"/>
          </p:cNvSpPr>
          <p:nvPr>
            <p:ph type="sldNum" sz="quarter" idx="5"/>
          </p:nvPr>
        </p:nvSpPr>
        <p:spPr/>
        <p:txBody>
          <a:bodyPr/>
          <a:lstStyle/>
          <a:p>
            <a:fld id="{5CD3C02A-94A9-4E52-835F-B6DB969C9D81}" type="slidenum">
              <a:rPr lang="en-US" smtClean="0"/>
              <a:t>3</a:t>
            </a:fld>
            <a:endParaRPr lang="en-US"/>
          </a:p>
        </p:txBody>
      </p:sp>
    </p:spTree>
    <p:extLst>
      <p:ext uri="{BB962C8B-B14F-4D97-AF65-F5344CB8AC3E}">
        <p14:creationId xmlns:p14="http://schemas.microsoft.com/office/powerpoint/2010/main" val="2225620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Explain that the theory comes from this document</a:t>
            </a:r>
          </a:p>
        </p:txBody>
      </p:sp>
      <p:sp>
        <p:nvSpPr>
          <p:cNvPr id="4" name="Slide Number Placeholder 3"/>
          <p:cNvSpPr>
            <a:spLocks noGrp="1"/>
          </p:cNvSpPr>
          <p:nvPr>
            <p:ph type="sldNum" sz="quarter" idx="5"/>
          </p:nvPr>
        </p:nvSpPr>
        <p:spPr/>
        <p:txBody>
          <a:bodyPr/>
          <a:lstStyle/>
          <a:p>
            <a:fld id="{5CD3C02A-94A9-4E52-835F-B6DB969C9D81}" type="slidenum">
              <a:rPr lang="en-US" smtClean="0"/>
              <a:t>4</a:t>
            </a:fld>
            <a:endParaRPr lang="en-US"/>
          </a:p>
        </p:txBody>
      </p:sp>
    </p:spTree>
    <p:extLst>
      <p:ext uri="{BB962C8B-B14F-4D97-AF65-F5344CB8AC3E}">
        <p14:creationId xmlns:p14="http://schemas.microsoft.com/office/powerpoint/2010/main" val="858251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err="1"/>
              <a:t>Motor</a:t>
            </a:r>
            <a:r>
              <a:rPr lang="fr-CA" dirty="0"/>
              <a:t> unit </a:t>
            </a:r>
            <a:r>
              <a:rPr lang="fr-CA" dirty="0" err="1"/>
              <a:t>anatomy</a:t>
            </a:r>
            <a:r>
              <a:rPr lang="fr-CA" dirty="0"/>
              <a:t>:</a:t>
            </a:r>
          </a:p>
          <a:p>
            <a:pPr marL="171450" indent="-171450">
              <a:buFontTx/>
              <a:buChar char="-"/>
            </a:pPr>
            <a:r>
              <a:rPr lang="fr-CA" dirty="0"/>
              <a:t>Muscles: part </a:t>
            </a:r>
            <a:r>
              <a:rPr lang="fr-CA" dirty="0" err="1"/>
              <a:t>that</a:t>
            </a:r>
            <a:r>
              <a:rPr lang="fr-CA" dirty="0"/>
              <a:t> </a:t>
            </a:r>
            <a:r>
              <a:rPr lang="fr-CA" dirty="0" err="1"/>
              <a:t>actionnates</a:t>
            </a:r>
            <a:r>
              <a:rPr lang="fr-CA" dirty="0"/>
              <a:t> </a:t>
            </a:r>
            <a:r>
              <a:rPr lang="fr-CA" dirty="0" err="1"/>
              <a:t>under</a:t>
            </a:r>
            <a:r>
              <a:rPr lang="fr-CA" dirty="0"/>
              <a:t> </a:t>
            </a:r>
            <a:r>
              <a:rPr lang="fr-CA" dirty="0" err="1"/>
              <a:t>electrical</a:t>
            </a:r>
            <a:r>
              <a:rPr lang="fr-CA" dirty="0"/>
              <a:t> stimuli</a:t>
            </a:r>
          </a:p>
          <a:p>
            <a:pPr marL="171450" indent="-171450">
              <a:buFontTx/>
              <a:buChar char="-"/>
            </a:pPr>
            <a:r>
              <a:rPr lang="fr-CA" dirty="0" err="1"/>
              <a:t>Neuromuscular</a:t>
            </a:r>
            <a:r>
              <a:rPr lang="fr-CA" dirty="0"/>
              <a:t> </a:t>
            </a:r>
            <a:r>
              <a:rPr lang="fr-CA" dirty="0" err="1"/>
              <a:t>junctions</a:t>
            </a:r>
            <a:r>
              <a:rPr lang="fr-CA" dirty="0"/>
              <a:t> (or innervation zone): section on the muscle </a:t>
            </a:r>
            <a:r>
              <a:rPr lang="fr-CA" dirty="0" err="1"/>
              <a:t>where</a:t>
            </a:r>
            <a:r>
              <a:rPr lang="fr-CA" dirty="0"/>
              <a:t> nerves are </a:t>
            </a:r>
            <a:r>
              <a:rPr lang="fr-CA" dirty="0" err="1"/>
              <a:t>connected</a:t>
            </a:r>
            <a:endParaRPr lang="fr-CA" dirty="0"/>
          </a:p>
          <a:p>
            <a:pPr marL="171450" indent="-171450">
              <a:buFontTx/>
              <a:buChar char="-"/>
            </a:pPr>
            <a:r>
              <a:rPr lang="fr-CA" dirty="0"/>
              <a:t>Nerves: </a:t>
            </a:r>
            <a:r>
              <a:rPr lang="fr-CA" dirty="0" err="1"/>
              <a:t>Wires</a:t>
            </a:r>
            <a:r>
              <a:rPr lang="fr-CA" dirty="0"/>
              <a:t> </a:t>
            </a:r>
            <a:r>
              <a:rPr lang="fr-CA" dirty="0" err="1"/>
              <a:t>that</a:t>
            </a:r>
            <a:r>
              <a:rPr lang="fr-CA" dirty="0"/>
              <a:t> </a:t>
            </a:r>
            <a:r>
              <a:rPr lang="fr-CA" dirty="0" err="1"/>
              <a:t>transfers</a:t>
            </a:r>
            <a:r>
              <a:rPr lang="fr-CA" dirty="0"/>
              <a:t> </a:t>
            </a:r>
            <a:r>
              <a:rPr lang="fr-CA" dirty="0" err="1"/>
              <a:t>electrical</a:t>
            </a:r>
            <a:r>
              <a:rPr lang="fr-CA" dirty="0"/>
              <a:t> signal </a:t>
            </a:r>
            <a:r>
              <a:rPr lang="fr-CA" dirty="0" err="1"/>
              <a:t>from</a:t>
            </a:r>
            <a:r>
              <a:rPr lang="fr-CA" dirty="0"/>
              <a:t> the </a:t>
            </a:r>
            <a:r>
              <a:rPr lang="fr-CA" dirty="0" err="1"/>
              <a:t>neurons</a:t>
            </a:r>
            <a:endParaRPr lang="fr-CA" dirty="0"/>
          </a:p>
          <a:p>
            <a:pPr marL="171450" indent="-171450">
              <a:buFontTx/>
              <a:buChar char="-"/>
            </a:pPr>
            <a:r>
              <a:rPr lang="fr-CA" dirty="0" err="1"/>
              <a:t>Motor</a:t>
            </a:r>
            <a:r>
              <a:rPr lang="fr-CA" dirty="0"/>
              <a:t> </a:t>
            </a:r>
            <a:r>
              <a:rPr lang="fr-CA" dirty="0" err="1"/>
              <a:t>neurons</a:t>
            </a:r>
            <a:r>
              <a:rPr lang="fr-CA" dirty="0"/>
              <a:t>: </a:t>
            </a:r>
            <a:r>
              <a:rPr lang="fr-CA" dirty="0" err="1"/>
              <a:t>generates</a:t>
            </a:r>
            <a:r>
              <a:rPr lang="fr-CA" dirty="0"/>
              <a:t> the spikes to </a:t>
            </a:r>
            <a:r>
              <a:rPr lang="fr-CA" dirty="0" err="1"/>
              <a:t>activate</a:t>
            </a:r>
            <a:r>
              <a:rPr lang="fr-CA" dirty="0"/>
              <a:t> the muscles. </a:t>
            </a:r>
            <a:r>
              <a:rPr lang="fr-CA" dirty="0" err="1"/>
              <a:t>Still</a:t>
            </a:r>
            <a:r>
              <a:rPr lang="fr-CA" dirty="0"/>
              <a:t> </a:t>
            </a:r>
            <a:r>
              <a:rPr lang="fr-CA" dirty="0" err="1"/>
              <a:t>managed</a:t>
            </a:r>
            <a:r>
              <a:rPr lang="fr-CA" dirty="0"/>
              <a:t> by the </a:t>
            </a:r>
            <a:r>
              <a:rPr lang="fr-CA" dirty="0" err="1"/>
              <a:t>brain</a:t>
            </a:r>
            <a:r>
              <a:rPr lang="fr-CA" dirty="0"/>
              <a:t>, but out of scope for the </a:t>
            </a:r>
            <a:r>
              <a:rPr lang="fr-CA" dirty="0" err="1"/>
              <a:t>presentation</a:t>
            </a:r>
            <a:endParaRPr lang="fr-CA" dirty="0"/>
          </a:p>
        </p:txBody>
      </p:sp>
      <p:sp>
        <p:nvSpPr>
          <p:cNvPr id="4" name="Slide Number Placeholder 3"/>
          <p:cNvSpPr>
            <a:spLocks noGrp="1"/>
          </p:cNvSpPr>
          <p:nvPr>
            <p:ph type="sldNum" sz="quarter" idx="5"/>
          </p:nvPr>
        </p:nvSpPr>
        <p:spPr/>
        <p:txBody>
          <a:bodyPr/>
          <a:lstStyle/>
          <a:p>
            <a:fld id="{5CD3C02A-94A9-4E52-835F-B6DB969C9D81}" type="slidenum">
              <a:rPr lang="en-US" smtClean="0"/>
              <a:t>5</a:t>
            </a:fld>
            <a:endParaRPr lang="en-US"/>
          </a:p>
        </p:txBody>
      </p:sp>
    </p:spTree>
    <p:extLst>
      <p:ext uri="{BB962C8B-B14F-4D97-AF65-F5344CB8AC3E}">
        <p14:creationId xmlns:p14="http://schemas.microsoft.com/office/powerpoint/2010/main" val="1907704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95CC-CDBB-7F22-8754-7C1804FC7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BD2DB-9B8A-A7CF-0051-9DD789D8B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DED43-1ABB-7690-AF95-B0356BC86763}"/>
              </a:ext>
            </a:extLst>
          </p:cNvPr>
          <p:cNvSpPr>
            <a:spLocks noGrp="1"/>
          </p:cNvSpPr>
          <p:nvPr>
            <p:ph type="body" idx="1"/>
          </p:nvPr>
        </p:nvSpPr>
        <p:spPr/>
        <p:txBody>
          <a:bodyPr/>
          <a:lstStyle/>
          <a:p>
            <a:r>
              <a:rPr lang="fr-CA" dirty="0"/>
              <a:t>Table for </a:t>
            </a:r>
            <a:r>
              <a:rPr lang="fr-CA" dirty="0" err="1"/>
              <a:t>number</a:t>
            </a:r>
            <a:r>
              <a:rPr lang="fr-CA" dirty="0"/>
              <a:t> and location of </a:t>
            </a:r>
            <a:r>
              <a:rPr lang="fr-CA" dirty="0" err="1"/>
              <a:t>motor</a:t>
            </a:r>
            <a:r>
              <a:rPr lang="fr-CA" dirty="0"/>
              <a:t> </a:t>
            </a:r>
            <a:r>
              <a:rPr lang="fr-CA" dirty="0" err="1"/>
              <a:t>neurons</a:t>
            </a:r>
            <a:r>
              <a:rPr lang="fr-CA" dirty="0"/>
              <a:t> for </a:t>
            </a:r>
            <a:r>
              <a:rPr lang="fr-CA" dirty="0" err="1"/>
              <a:t>forelimb</a:t>
            </a:r>
            <a:r>
              <a:rPr lang="fr-CA" dirty="0"/>
              <a:t> muscles</a:t>
            </a:r>
          </a:p>
          <a:p>
            <a:endParaRPr lang="fr-CA" dirty="0"/>
          </a:p>
          <a:p>
            <a:r>
              <a:rPr lang="fr-CA" dirty="0" err="1"/>
              <a:t>Extensor</a:t>
            </a:r>
            <a:r>
              <a:rPr lang="fr-CA" dirty="0"/>
              <a:t> </a:t>
            </a:r>
            <a:r>
              <a:rPr lang="fr-CA" dirty="0" err="1"/>
              <a:t>digitorum</a:t>
            </a:r>
            <a:r>
              <a:rPr lang="fr-CA" dirty="0"/>
              <a:t> </a:t>
            </a:r>
            <a:r>
              <a:rPr lang="fr-CA" dirty="0" err="1"/>
              <a:t>communis</a:t>
            </a:r>
            <a:r>
              <a:rPr lang="fr-CA" dirty="0"/>
              <a:t>: </a:t>
            </a:r>
            <a:r>
              <a:rPr lang="fr-CA" dirty="0" err="1"/>
              <a:t>Responsible</a:t>
            </a:r>
            <a:r>
              <a:rPr lang="fr-CA" dirty="0"/>
              <a:t> for </a:t>
            </a:r>
            <a:r>
              <a:rPr lang="fr-CA" dirty="0" err="1"/>
              <a:t>extending</a:t>
            </a:r>
            <a:r>
              <a:rPr lang="fr-CA" dirty="0"/>
              <a:t> the 4 </a:t>
            </a:r>
            <a:r>
              <a:rPr lang="fr-CA" dirty="0" err="1"/>
              <a:t>fingers</a:t>
            </a:r>
            <a:r>
              <a:rPr lang="fr-CA" dirty="0"/>
              <a:t> (not the </a:t>
            </a:r>
            <a:r>
              <a:rPr lang="fr-CA" dirty="0" err="1"/>
              <a:t>thumb</a:t>
            </a:r>
            <a:r>
              <a:rPr lang="fr-CA" dirty="0"/>
              <a:t>)</a:t>
            </a:r>
          </a:p>
          <a:p>
            <a:r>
              <a:rPr lang="fr-CA" dirty="0"/>
              <a:t>Show the location on </a:t>
            </a:r>
            <a:r>
              <a:rPr lang="fr-CA" dirty="0" err="1"/>
              <a:t>my</a:t>
            </a:r>
            <a:r>
              <a:rPr lang="fr-CA" dirty="0"/>
              <a:t> back of </a:t>
            </a:r>
            <a:r>
              <a:rPr lang="fr-CA" dirty="0" err="1"/>
              <a:t>where</a:t>
            </a:r>
            <a:r>
              <a:rPr lang="fr-CA" dirty="0"/>
              <a:t> </a:t>
            </a:r>
            <a:r>
              <a:rPr lang="fr-CA" dirty="0" err="1"/>
              <a:t>this</a:t>
            </a:r>
            <a:r>
              <a:rPr lang="fr-CA" dirty="0"/>
              <a:t> </a:t>
            </a:r>
            <a:r>
              <a:rPr lang="fr-CA" dirty="0" err="1"/>
              <a:t>is</a:t>
            </a:r>
            <a:endParaRPr lang="fr-CA" dirty="0"/>
          </a:p>
          <a:p>
            <a:endParaRPr lang="fr-CA" dirty="0"/>
          </a:p>
          <a:p>
            <a:r>
              <a:rPr lang="fr-CA" dirty="0"/>
              <a:t>For the </a:t>
            </a:r>
            <a:r>
              <a:rPr lang="fr-CA" dirty="0" err="1"/>
              <a:t>thumb</a:t>
            </a:r>
            <a:r>
              <a:rPr lang="fr-CA" dirty="0"/>
              <a:t>: </a:t>
            </a:r>
            <a:r>
              <a:rPr lang="fr-CA" dirty="0" err="1"/>
              <a:t>Extensor</a:t>
            </a:r>
            <a:r>
              <a:rPr lang="fr-CA" dirty="0"/>
              <a:t> </a:t>
            </a:r>
            <a:r>
              <a:rPr lang="fr-CA" dirty="0" err="1"/>
              <a:t>pollicis</a:t>
            </a:r>
            <a:r>
              <a:rPr lang="fr-CA" dirty="0"/>
              <a:t>.</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4C2E9800-9A21-DD10-EB74-3EC5198F908D}"/>
              </a:ext>
            </a:extLst>
          </p:cNvPr>
          <p:cNvSpPr>
            <a:spLocks noGrp="1"/>
          </p:cNvSpPr>
          <p:nvPr>
            <p:ph type="sldNum" sz="quarter" idx="5"/>
          </p:nvPr>
        </p:nvSpPr>
        <p:spPr/>
        <p:txBody>
          <a:bodyPr/>
          <a:lstStyle/>
          <a:p>
            <a:fld id="{5CD3C02A-94A9-4E52-835F-B6DB969C9D81}" type="slidenum">
              <a:rPr lang="en-US" smtClean="0"/>
              <a:t>6</a:t>
            </a:fld>
            <a:endParaRPr lang="en-US"/>
          </a:p>
        </p:txBody>
      </p:sp>
    </p:spTree>
    <p:extLst>
      <p:ext uri="{BB962C8B-B14F-4D97-AF65-F5344CB8AC3E}">
        <p14:creationId xmlns:p14="http://schemas.microsoft.com/office/powerpoint/2010/main" val="1885255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fr-CA" dirty="0"/>
          </a:p>
        </p:txBody>
      </p:sp>
      <p:sp>
        <p:nvSpPr>
          <p:cNvPr id="4" name="Slide Number Placeholder 3"/>
          <p:cNvSpPr>
            <a:spLocks noGrp="1"/>
          </p:cNvSpPr>
          <p:nvPr>
            <p:ph type="sldNum" sz="quarter" idx="5"/>
          </p:nvPr>
        </p:nvSpPr>
        <p:spPr/>
        <p:txBody>
          <a:bodyPr/>
          <a:lstStyle/>
          <a:p>
            <a:fld id="{5CD3C02A-94A9-4E52-835F-B6DB969C9D81}" type="slidenum">
              <a:rPr lang="en-US" smtClean="0"/>
              <a:t>7</a:t>
            </a:fld>
            <a:endParaRPr lang="en-US"/>
          </a:p>
        </p:txBody>
      </p:sp>
    </p:spTree>
    <p:extLst>
      <p:ext uri="{BB962C8B-B14F-4D97-AF65-F5344CB8AC3E}">
        <p14:creationId xmlns:p14="http://schemas.microsoft.com/office/powerpoint/2010/main" val="213880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Recruitment and Rate </a:t>
            </a:r>
            <a:r>
              <a:rPr lang="fr-CA" dirty="0" err="1"/>
              <a:t>coding</a:t>
            </a:r>
            <a:endParaRPr lang="fr-CA" dirty="0"/>
          </a:p>
          <a:p>
            <a:endParaRPr lang="fr-CA" dirty="0"/>
          </a:p>
          <a:p>
            <a:r>
              <a:rPr lang="fr-CA" dirty="0"/>
              <a:t>Recruitment: More and more </a:t>
            </a:r>
            <a:r>
              <a:rPr lang="fr-CA" dirty="0" err="1"/>
              <a:t>motor</a:t>
            </a:r>
            <a:r>
              <a:rPr lang="fr-CA" dirty="0"/>
              <a:t> </a:t>
            </a:r>
            <a:r>
              <a:rPr lang="fr-CA" dirty="0" err="1"/>
              <a:t>units</a:t>
            </a:r>
            <a:r>
              <a:rPr lang="fr-CA" dirty="0"/>
              <a:t> are </a:t>
            </a:r>
            <a:r>
              <a:rPr lang="fr-CA" dirty="0" err="1"/>
              <a:t>used</a:t>
            </a:r>
            <a:r>
              <a:rPr lang="fr-CA" dirty="0"/>
              <a:t> for </a:t>
            </a:r>
            <a:r>
              <a:rPr lang="fr-CA" dirty="0" err="1"/>
              <a:t>applying</a:t>
            </a:r>
            <a:r>
              <a:rPr lang="fr-CA" dirty="0"/>
              <a:t> force. </a:t>
            </a:r>
            <a:r>
              <a:rPr lang="fr-CA" dirty="0" err="1"/>
              <a:t>Depends</a:t>
            </a:r>
            <a:r>
              <a:rPr lang="fr-CA" dirty="0"/>
              <a:t> of the </a:t>
            </a:r>
            <a:r>
              <a:rPr lang="fr-CA" dirty="0" err="1"/>
              <a:t>recruitment</a:t>
            </a:r>
            <a:r>
              <a:rPr lang="fr-CA" dirty="0"/>
              <a:t> </a:t>
            </a:r>
            <a:r>
              <a:rPr lang="fr-CA" dirty="0" err="1"/>
              <a:t>threshold</a:t>
            </a:r>
            <a:endParaRPr lang="fr-CA" dirty="0"/>
          </a:p>
          <a:p>
            <a:r>
              <a:rPr lang="fr-CA" dirty="0"/>
              <a:t>Rate </a:t>
            </a:r>
            <a:r>
              <a:rPr lang="fr-CA" dirty="0" err="1"/>
              <a:t>coding</a:t>
            </a:r>
            <a:r>
              <a:rPr lang="fr-CA" dirty="0"/>
              <a:t>: How </a:t>
            </a:r>
            <a:r>
              <a:rPr lang="fr-CA" dirty="0" err="1"/>
              <a:t>much</a:t>
            </a:r>
            <a:r>
              <a:rPr lang="fr-CA" dirty="0"/>
              <a:t> force </a:t>
            </a:r>
            <a:r>
              <a:rPr lang="fr-CA" dirty="0" err="1"/>
              <a:t>is</a:t>
            </a:r>
            <a:r>
              <a:rPr lang="fr-CA" dirty="0"/>
              <a:t> </a:t>
            </a:r>
            <a:r>
              <a:rPr lang="fr-CA" dirty="0" err="1"/>
              <a:t>required</a:t>
            </a:r>
            <a:r>
              <a:rPr lang="fr-CA" dirty="0"/>
              <a:t> </a:t>
            </a:r>
            <a:r>
              <a:rPr lang="fr-CA" dirty="0" err="1"/>
              <a:t>from</a:t>
            </a:r>
            <a:r>
              <a:rPr lang="fr-CA" dirty="0"/>
              <a:t> a single </a:t>
            </a:r>
            <a:r>
              <a:rPr lang="fr-CA" dirty="0" err="1"/>
              <a:t>motor</a:t>
            </a:r>
            <a:r>
              <a:rPr lang="fr-CA" dirty="0"/>
              <a:t> unit</a:t>
            </a:r>
          </a:p>
          <a:p>
            <a:endParaRPr lang="fr-CA" dirty="0"/>
          </a:p>
          <a:p>
            <a:r>
              <a:rPr lang="fr-CA" dirty="0"/>
              <a:t>Reality </a:t>
            </a:r>
            <a:r>
              <a:rPr lang="fr-CA" dirty="0" err="1"/>
              <a:t>is</a:t>
            </a:r>
            <a:r>
              <a:rPr lang="fr-CA" dirty="0"/>
              <a:t> a mix of the </a:t>
            </a:r>
            <a:r>
              <a:rPr lang="fr-CA" dirty="0" err="1"/>
              <a:t>two</a:t>
            </a:r>
            <a:r>
              <a:rPr lang="fr-CA" dirty="0"/>
              <a:t>.</a:t>
            </a:r>
            <a:endParaRPr lang="en-US" dirty="0"/>
          </a:p>
        </p:txBody>
      </p:sp>
      <p:sp>
        <p:nvSpPr>
          <p:cNvPr id="4" name="Slide Number Placeholder 3"/>
          <p:cNvSpPr>
            <a:spLocks noGrp="1"/>
          </p:cNvSpPr>
          <p:nvPr>
            <p:ph type="sldNum" sz="quarter" idx="5"/>
          </p:nvPr>
        </p:nvSpPr>
        <p:spPr/>
        <p:txBody>
          <a:bodyPr/>
          <a:lstStyle/>
          <a:p>
            <a:fld id="{5CD3C02A-94A9-4E52-835F-B6DB969C9D81}" type="slidenum">
              <a:rPr lang="en-US" smtClean="0"/>
              <a:t>8</a:t>
            </a:fld>
            <a:endParaRPr lang="en-US"/>
          </a:p>
        </p:txBody>
      </p:sp>
    </p:spTree>
    <p:extLst>
      <p:ext uri="{BB962C8B-B14F-4D97-AF65-F5344CB8AC3E}">
        <p14:creationId xmlns:p14="http://schemas.microsoft.com/office/powerpoint/2010/main" val="2595796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Example of a graph </a:t>
            </a:r>
            <a:r>
              <a:rPr lang="fr-CA" dirty="0" err="1"/>
              <a:t>representing</a:t>
            </a:r>
            <a:r>
              <a:rPr lang="fr-CA" dirty="0"/>
              <a:t> </a:t>
            </a:r>
            <a:r>
              <a:rPr lang="fr-CA" dirty="0" err="1"/>
              <a:t>motor</a:t>
            </a:r>
            <a:r>
              <a:rPr lang="fr-CA" dirty="0"/>
              <a:t> unit spike trains (or </a:t>
            </a:r>
            <a:r>
              <a:rPr lang="fr-CA" dirty="0" err="1"/>
              <a:t>discharge</a:t>
            </a:r>
            <a:r>
              <a:rPr lang="fr-CA" dirty="0"/>
              <a:t> train)</a:t>
            </a:r>
          </a:p>
          <a:p>
            <a:endParaRPr lang="fr-CA" dirty="0"/>
          </a:p>
          <a:p>
            <a:endParaRPr lang="fr-CA" dirty="0"/>
          </a:p>
        </p:txBody>
      </p:sp>
      <p:sp>
        <p:nvSpPr>
          <p:cNvPr id="4" name="Slide Number Placeholder 3"/>
          <p:cNvSpPr>
            <a:spLocks noGrp="1"/>
          </p:cNvSpPr>
          <p:nvPr>
            <p:ph type="sldNum" sz="quarter" idx="5"/>
          </p:nvPr>
        </p:nvSpPr>
        <p:spPr/>
        <p:txBody>
          <a:bodyPr/>
          <a:lstStyle/>
          <a:p>
            <a:fld id="{5CD3C02A-94A9-4E52-835F-B6DB969C9D81}" type="slidenum">
              <a:rPr lang="en-US" smtClean="0"/>
              <a:t>9</a:t>
            </a:fld>
            <a:endParaRPr lang="en-US"/>
          </a:p>
        </p:txBody>
      </p:sp>
    </p:spTree>
    <p:extLst>
      <p:ext uri="{BB962C8B-B14F-4D97-AF65-F5344CB8AC3E}">
        <p14:creationId xmlns:p14="http://schemas.microsoft.com/office/powerpoint/2010/main" val="1312069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 between motor unit discharges and EMG signals.</a:t>
            </a:r>
          </a:p>
          <a:p>
            <a:endParaRPr lang="en-US" dirty="0"/>
          </a:p>
          <a:p>
            <a:r>
              <a:rPr lang="en-US" dirty="0"/>
              <a:t>The EMG signal is the sum of every activation of motor units (after different effect applied to the signal)</a:t>
            </a:r>
          </a:p>
        </p:txBody>
      </p:sp>
      <p:sp>
        <p:nvSpPr>
          <p:cNvPr id="4" name="Slide Number Placeholder 3"/>
          <p:cNvSpPr>
            <a:spLocks noGrp="1"/>
          </p:cNvSpPr>
          <p:nvPr>
            <p:ph type="sldNum" sz="quarter" idx="5"/>
          </p:nvPr>
        </p:nvSpPr>
        <p:spPr/>
        <p:txBody>
          <a:bodyPr/>
          <a:lstStyle/>
          <a:p>
            <a:fld id="{5CD3C02A-94A9-4E52-835F-B6DB969C9D81}" type="slidenum">
              <a:rPr lang="en-US" smtClean="0"/>
              <a:t>10</a:t>
            </a:fld>
            <a:endParaRPr lang="en-US"/>
          </a:p>
        </p:txBody>
      </p:sp>
    </p:spTree>
    <p:extLst>
      <p:ext uri="{BB962C8B-B14F-4D97-AF65-F5344CB8AC3E}">
        <p14:creationId xmlns:p14="http://schemas.microsoft.com/office/powerpoint/2010/main" val="1201878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elements of the body modify the signal.</a:t>
            </a:r>
          </a:p>
          <a:p>
            <a:pPr marL="171450" indent="-171450">
              <a:buFontTx/>
              <a:buChar char="-"/>
            </a:pPr>
            <a:r>
              <a:rPr lang="en-US" dirty="0"/>
              <a:t>Skin</a:t>
            </a:r>
          </a:p>
          <a:p>
            <a:pPr marL="171450" indent="-171450">
              <a:buFontTx/>
              <a:buChar char="-"/>
            </a:pPr>
            <a:r>
              <a:rPr lang="en-US" dirty="0"/>
              <a:t>Fat</a:t>
            </a:r>
          </a:p>
          <a:p>
            <a:pPr marL="171450" indent="-171450">
              <a:buFontTx/>
              <a:buChar char="-"/>
            </a:pPr>
            <a:r>
              <a:rPr lang="en-US" dirty="0"/>
              <a:t>Sweat</a:t>
            </a:r>
          </a:p>
          <a:p>
            <a:pPr marL="171450" indent="-171450">
              <a:buFontTx/>
              <a:buChar char="-"/>
            </a:pPr>
            <a:r>
              <a:rPr lang="en-US" dirty="0"/>
              <a:t>Blood</a:t>
            </a:r>
          </a:p>
          <a:p>
            <a:pPr marL="171450" indent="-171450">
              <a:buFontTx/>
              <a:buChar char="-"/>
            </a:pPr>
            <a:r>
              <a:rPr lang="en-US" dirty="0"/>
              <a:t>Other muscles</a:t>
            </a:r>
          </a:p>
          <a:p>
            <a:pPr marL="171450" indent="-171450">
              <a:buFontTx/>
              <a:buChar char="-"/>
            </a:pPr>
            <a:endParaRPr lang="en-US" dirty="0"/>
          </a:p>
          <a:p>
            <a:pPr marL="0" indent="0">
              <a:buFontTx/>
              <a:buNone/>
            </a:pPr>
            <a:r>
              <a:rPr lang="en-US" dirty="0"/>
              <a:t>Impacts:</a:t>
            </a:r>
          </a:p>
          <a:p>
            <a:pPr marL="171450" indent="-171450">
              <a:buFontTx/>
              <a:buChar char="-"/>
            </a:pPr>
            <a:r>
              <a:rPr lang="en-US" dirty="0"/>
              <a:t>Loss of amplitude the more a signal has to travel. Has a low pass type of response</a:t>
            </a:r>
          </a:p>
          <a:p>
            <a:pPr marL="171450" indent="-171450">
              <a:buFontTx/>
              <a:buChar char="-"/>
            </a:pPr>
            <a:r>
              <a:rPr lang="en-US" dirty="0"/>
              <a:t>Spatial blurring: Signals mixes together and is hard to decompose. Also a presence of crosstalk</a:t>
            </a:r>
          </a:p>
          <a:p>
            <a:pPr marL="171450" indent="-171450">
              <a:buFontTx/>
              <a:buChar char="-"/>
            </a:pPr>
            <a:endParaRPr lang="en-US" dirty="0"/>
          </a:p>
          <a:p>
            <a:endParaRPr lang="en-US" dirty="0"/>
          </a:p>
        </p:txBody>
      </p:sp>
      <p:sp>
        <p:nvSpPr>
          <p:cNvPr id="4" name="Slide Number Placeholder 3"/>
          <p:cNvSpPr>
            <a:spLocks noGrp="1"/>
          </p:cNvSpPr>
          <p:nvPr>
            <p:ph type="sldNum" sz="quarter" idx="5"/>
          </p:nvPr>
        </p:nvSpPr>
        <p:spPr/>
        <p:txBody>
          <a:bodyPr/>
          <a:lstStyle/>
          <a:p>
            <a:fld id="{5CD3C02A-94A9-4E52-835F-B6DB969C9D81}" type="slidenum">
              <a:rPr lang="en-US" smtClean="0"/>
              <a:t>11</a:t>
            </a:fld>
            <a:endParaRPr lang="en-US"/>
          </a:p>
        </p:txBody>
      </p:sp>
    </p:spTree>
    <p:extLst>
      <p:ext uri="{BB962C8B-B14F-4D97-AF65-F5344CB8AC3E}">
        <p14:creationId xmlns:p14="http://schemas.microsoft.com/office/powerpoint/2010/main" val="2574796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A </a:t>
            </a:r>
            <a:r>
              <a:rPr lang="fr-CA" dirty="0" err="1"/>
              <a:t>electrode</a:t>
            </a:r>
            <a:r>
              <a:rPr lang="fr-CA" dirty="0"/>
              <a:t> </a:t>
            </a:r>
            <a:r>
              <a:rPr lang="fr-CA" dirty="0" err="1"/>
              <a:t>is</a:t>
            </a:r>
            <a:r>
              <a:rPr lang="fr-CA" dirty="0"/>
              <a:t> </a:t>
            </a:r>
            <a:r>
              <a:rPr lang="fr-CA" dirty="0" err="1"/>
              <a:t>used</a:t>
            </a:r>
            <a:r>
              <a:rPr lang="fr-CA" dirty="0"/>
              <a:t> to </a:t>
            </a:r>
            <a:r>
              <a:rPr lang="fr-CA" dirty="0" err="1"/>
              <a:t>extract</a:t>
            </a:r>
            <a:r>
              <a:rPr lang="fr-CA" dirty="0"/>
              <a:t> EMG </a:t>
            </a:r>
            <a:r>
              <a:rPr lang="fr-CA" dirty="0" err="1"/>
              <a:t>signals</a:t>
            </a:r>
            <a:r>
              <a:rPr lang="en-US" dirty="0"/>
              <a:t>. More often than not, an array of electrode is used. Different parameters of the electrode:</a:t>
            </a:r>
          </a:p>
          <a:p>
            <a:pPr marL="171450" indent="-171450">
              <a:buFontTx/>
              <a:buChar char="-"/>
            </a:pPr>
            <a:r>
              <a:rPr lang="en-US" dirty="0"/>
              <a:t>Electrode type: i.e. where the signal is measured</a:t>
            </a:r>
          </a:p>
          <a:p>
            <a:pPr marL="171450" indent="-171450">
              <a:buFontTx/>
              <a:buChar char="-"/>
            </a:pPr>
            <a:r>
              <a:rPr lang="en-US" dirty="0"/>
              <a:t>Its material</a:t>
            </a:r>
          </a:p>
          <a:p>
            <a:pPr marL="171450" indent="-171450">
              <a:buFontTx/>
              <a:buChar char="-"/>
            </a:pPr>
            <a:r>
              <a:rPr lang="en-US" dirty="0"/>
              <a:t>The quantity</a:t>
            </a:r>
          </a:p>
          <a:p>
            <a:pPr marL="171450" indent="-171450">
              <a:buFontTx/>
              <a:buChar char="-"/>
            </a:pPr>
            <a:r>
              <a:rPr lang="en-US" dirty="0"/>
              <a:t>Its size</a:t>
            </a:r>
          </a:p>
          <a:p>
            <a:pPr marL="171450" indent="-171450">
              <a:buFontTx/>
              <a:buChar char="-"/>
            </a:pPr>
            <a:r>
              <a:rPr lang="en-US" dirty="0"/>
              <a:t>Its distance from adjacent electrodes</a:t>
            </a:r>
          </a:p>
          <a:p>
            <a:pPr marL="171450" indent="-171450">
              <a:buFontTx/>
              <a:buChar char="-"/>
            </a:pPr>
            <a:endParaRPr lang="en-US" dirty="0"/>
          </a:p>
          <a:p>
            <a:pPr marL="0" indent="0">
              <a:buFontTx/>
              <a:buNone/>
            </a:pPr>
            <a:r>
              <a:rPr lang="en-US" dirty="0"/>
              <a:t>Other factors to take into account for motor unit decomposition:</a:t>
            </a:r>
          </a:p>
          <a:p>
            <a:pPr marL="171450" indent="-171450">
              <a:buFontTx/>
              <a:buChar char="-"/>
            </a:pPr>
            <a:r>
              <a:rPr lang="en-US" dirty="0"/>
              <a:t>The algorithm used to extract</a:t>
            </a:r>
          </a:p>
          <a:p>
            <a:pPr marL="171450" indent="-171450">
              <a:buFontTx/>
              <a:buChar char="-"/>
            </a:pPr>
            <a:r>
              <a:rPr lang="en-US" dirty="0"/>
              <a:t>The contraction strength</a:t>
            </a:r>
            <a:endParaRPr lang="fr-CA" dirty="0"/>
          </a:p>
        </p:txBody>
      </p:sp>
      <p:sp>
        <p:nvSpPr>
          <p:cNvPr id="4" name="Slide Number Placeholder 3"/>
          <p:cNvSpPr>
            <a:spLocks noGrp="1"/>
          </p:cNvSpPr>
          <p:nvPr>
            <p:ph type="sldNum" sz="quarter" idx="5"/>
          </p:nvPr>
        </p:nvSpPr>
        <p:spPr/>
        <p:txBody>
          <a:bodyPr/>
          <a:lstStyle/>
          <a:p>
            <a:fld id="{5CD3C02A-94A9-4E52-835F-B6DB969C9D81}" type="slidenum">
              <a:rPr lang="en-US" smtClean="0"/>
              <a:t>12</a:t>
            </a:fld>
            <a:endParaRPr lang="en-US"/>
          </a:p>
        </p:txBody>
      </p:sp>
    </p:spTree>
    <p:extLst>
      <p:ext uri="{BB962C8B-B14F-4D97-AF65-F5344CB8AC3E}">
        <p14:creationId xmlns:p14="http://schemas.microsoft.com/office/powerpoint/2010/main" val="842890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electrode type: where the measurement is made</a:t>
            </a:r>
          </a:p>
          <a:p>
            <a:pPr marL="171450" indent="-171450">
              <a:buFontTx/>
              <a:buChar char="-"/>
            </a:pPr>
            <a:r>
              <a:rPr lang="en-US" dirty="0"/>
              <a:t>Surface: An electrode is set on the skin to measure the signal at the surface. It is the more comfortable option at the detriment of signal quality</a:t>
            </a:r>
          </a:p>
          <a:p>
            <a:pPr marL="171450" indent="-171450">
              <a:buFontTx/>
              <a:buChar char="-"/>
            </a:pPr>
            <a:r>
              <a:rPr lang="en-US" dirty="0"/>
              <a:t>Intramuscular: an electrode is inserted into the body to be close to the muscle. The SNR is the best since less modification of the signal from travelling to the surface of the skin. But, obviously, not the more comfortable option.</a:t>
            </a:r>
          </a:p>
          <a:p>
            <a:pPr marL="171450" indent="-171450">
              <a:buFontTx/>
              <a:buChar char="-"/>
            </a:pPr>
            <a:r>
              <a:rPr lang="en-US" dirty="0"/>
              <a:t>Says that for the following, only parameters for a surface electrode will be discussed since it’s  what the article is about</a:t>
            </a:r>
          </a:p>
        </p:txBody>
      </p:sp>
      <p:sp>
        <p:nvSpPr>
          <p:cNvPr id="4" name="Slide Number Placeholder 3"/>
          <p:cNvSpPr>
            <a:spLocks noGrp="1"/>
          </p:cNvSpPr>
          <p:nvPr>
            <p:ph type="sldNum" sz="quarter" idx="5"/>
          </p:nvPr>
        </p:nvSpPr>
        <p:spPr/>
        <p:txBody>
          <a:bodyPr/>
          <a:lstStyle/>
          <a:p>
            <a:fld id="{5CD3C02A-94A9-4E52-835F-B6DB969C9D81}" type="slidenum">
              <a:rPr lang="en-US" smtClean="0"/>
              <a:t>13</a:t>
            </a:fld>
            <a:endParaRPr lang="en-US"/>
          </a:p>
        </p:txBody>
      </p:sp>
    </p:spTree>
    <p:extLst>
      <p:ext uri="{BB962C8B-B14F-4D97-AF65-F5344CB8AC3E}">
        <p14:creationId xmlns:p14="http://schemas.microsoft.com/office/powerpoint/2010/main" val="3730915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50184-F4F2-CBF8-843D-0D5953140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0AFA0-AF47-9A30-CE8B-649F760B6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E120C-7611-8F7D-1306-374F84A9AEB1}"/>
              </a:ext>
            </a:extLst>
          </p:cNvPr>
          <p:cNvSpPr>
            <a:spLocks noGrp="1"/>
          </p:cNvSpPr>
          <p:nvPr>
            <p:ph type="body" idx="1"/>
          </p:nvPr>
        </p:nvSpPr>
        <p:spPr/>
        <p:txBody>
          <a:bodyPr/>
          <a:lstStyle/>
          <a:p>
            <a:r>
              <a:rPr lang="en-US" dirty="0"/>
              <a:t>Material of the electrode. Different material give different responses. Main material used is metal (Silver, Gold, Platinum). Polymers are also possible. Example of the right is PEDOT:PSS</a:t>
            </a:r>
            <a:br>
              <a:rPr lang="en-US" dirty="0"/>
            </a:br>
            <a:br>
              <a:rPr lang="en-US" dirty="0"/>
            </a:br>
            <a:r>
              <a:rPr lang="en-US" dirty="0" err="1"/>
              <a:t>PEDOT:PSS</a:t>
            </a:r>
            <a:r>
              <a:rPr lang="en-US" dirty="0"/>
              <a:t> : Poly(3,4-ethylenedioxythiophene) polystyrene sulfonate</a:t>
            </a:r>
          </a:p>
        </p:txBody>
      </p:sp>
      <p:sp>
        <p:nvSpPr>
          <p:cNvPr id="4" name="Slide Number Placeholder 3">
            <a:extLst>
              <a:ext uri="{FF2B5EF4-FFF2-40B4-BE49-F238E27FC236}">
                <a16:creationId xmlns:a16="http://schemas.microsoft.com/office/drawing/2014/main" id="{80BCEA09-313A-E22A-E37A-6A7F573F946F}"/>
              </a:ext>
            </a:extLst>
          </p:cNvPr>
          <p:cNvSpPr>
            <a:spLocks noGrp="1"/>
          </p:cNvSpPr>
          <p:nvPr>
            <p:ph type="sldNum" sz="quarter" idx="5"/>
          </p:nvPr>
        </p:nvSpPr>
        <p:spPr/>
        <p:txBody>
          <a:bodyPr/>
          <a:lstStyle/>
          <a:p>
            <a:fld id="{5CD3C02A-94A9-4E52-835F-B6DB969C9D81}" type="slidenum">
              <a:rPr lang="en-US" smtClean="0"/>
              <a:t>14</a:t>
            </a:fld>
            <a:endParaRPr lang="en-US"/>
          </a:p>
        </p:txBody>
      </p:sp>
    </p:spTree>
    <p:extLst>
      <p:ext uri="{BB962C8B-B14F-4D97-AF65-F5344CB8AC3E}">
        <p14:creationId xmlns:p14="http://schemas.microsoft.com/office/powerpoint/2010/main" val="729235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7B317-76DD-D971-C261-80949FCC3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66AC0-B01D-1862-263D-81211F019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250E5D-5167-DB98-2B80-54C6D98799D4}"/>
              </a:ext>
            </a:extLst>
          </p:cNvPr>
          <p:cNvSpPr>
            <a:spLocks noGrp="1"/>
          </p:cNvSpPr>
          <p:nvPr>
            <p:ph type="body" idx="1"/>
          </p:nvPr>
        </p:nvSpPr>
        <p:spPr/>
        <p:txBody>
          <a:bodyPr/>
          <a:lstStyle/>
          <a:p>
            <a:r>
              <a:rPr lang="en-US" dirty="0"/>
              <a:t>Diameter</a:t>
            </a:r>
          </a:p>
          <a:p>
            <a:endParaRPr lang="en-US" dirty="0"/>
          </a:p>
          <a:p>
            <a:r>
              <a:rPr lang="en-US" dirty="0"/>
              <a:t>An electrode averages the value over its surface area. It is the same as a low-pass filter.</a:t>
            </a:r>
          </a:p>
          <a:p>
            <a:r>
              <a:rPr lang="en-US" dirty="0"/>
              <a:t>A larger electrode means a bigger average, so a higher low pass effect. But it also means that the signal is more stable (i.e. less noisy)</a:t>
            </a:r>
          </a:p>
          <a:p>
            <a:r>
              <a:rPr lang="en-US" dirty="0"/>
              <a:t>A smaller electrode means a more precise measurement for a local point on the skin. But, more impacted by noise by reducing the averaging.</a:t>
            </a:r>
          </a:p>
        </p:txBody>
      </p:sp>
      <p:sp>
        <p:nvSpPr>
          <p:cNvPr id="4" name="Slide Number Placeholder 3">
            <a:extLst>
              <a:ext uri="{FF2B5EF4-FFF2-40B4-BE49-F238E27FC236}">
                <a16:creationId xmlns:a16="http://schemas.microsoft.com/office/drawing/2014/main" id="{D07AB7AA-CA76-1853-CB9B-A8C7BFCCC1D5}"/>
              </a:ext>
            </a:extLst>
          </p:cNvPr>
          <p:cNvSpPr>
            <a:spLocks noGrp="1"/>
          </p:cNvSpPr>
          <p:nvPr>
            <p:ph type="sldNum" sz="quarter" idx="5"/>
          </p:nvPr>
        </p:nvSpPr>
        <p:spPr/>
        <p:txBody>
          <a:bodyPr/>
          <a:lstStyle/>
          <a:p>
            <a:fld id="{5CD3C02A-94A9-4E52-835F-B6DB969C9D81}" type="slidenum">
              <a:rPr lang="en-US" smtClean="0"/>
              <a:t>15</a:t>
            </a:fld>
            <a:endParaRPr lang="en-US"/>
          </a:p>
        </p:txBody>
      </p:sp>
    </p:spTree>
    <p:extLst>
      <p:ext uri="{BB962C8B-B14F-4D97-AF65-F5344CB8AC3E}">
        <p14:creationId xmlns:p14="http://schemas.microsoft.com/office/powerpoint/2010/main" val="2433462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053CA-E36E-2D27-3B73-2343A329E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06A73-B912-0BE1-29A7-306094C36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C19AF-1A92-CC58-C827-F54DEF167F96}"/>
              </a:ext>
            </a:extLst>
          </p:cNvPr>
          <p:cNvSpPr>
            <a:spLocks noGrp="1"/>
          </p:cNvSpPr>
          <p:nvPr>
            <p:ph type="body" idx="1"/>
          </p:nvPr>
        </p:nvSpPr>
        <p:spPr/>
        <p:txBody>
          <a:bodyPr/>
          <a:lstStyle/>
          <a:p>
            <a:r>
              <a:rPr lang="fr-CA" dirty="0"/>
              <a:t>IED</a:t>
            </a:r>
          </a:p>
          <a:p>
            <a:r>
              <a:rPr lang="fr-CA" dirty="0" err="1"/>
              <a:t>Signals</a:t>
            </a:r>
            <a:r>
              <a:rPr lang="fr-CA" dirty="0"/>
              <a:t> </a:t>
            </a:r>
            <a:r>
              <a:rPr lang="fr-CA" dirty="0" err="1"/>
              <a:t>travels</a:t>
            </a:r>
            <a:r>
              <a:rPr lang="fr-CA" dirty="0"/>
              <a:t> at approx 3 to 5 m/s</a:t>
            </a:r>
          </a:p>
          <a:p>
            <a:r>
              <a:rPr lang="fr-CA" dirty="0"/>
              <a:t>Spatial variation (i.e. in respect to time) can </a:t>
            </a:r>
            <a:r>
              <a:rPr lang="fr-CA" dirty="0" err="1"/>
              <a:t>be</a:t>
            </a:r>
            <a:r>
              <a:rPr lang="fr-CA" dirty="0"/>
              <a:t> </a:t>
            </a:r>
            <a:r>
              <a:rPr lang="fr-CA" dirty="0" err="1"/>
              <a:t>detected</a:t>
            </a:r>
            <a:r>
              <a:rPr lang="fr-CA" dirty="0"/>
              <a:t> if the électrodes are close </a:t>
            </a:r>
            <a:r>
              <a:rPr lang="fr-CA" dirty="0" err="1"/>
              <a:t>enough</a:t>
            </a:r>
            <a:r>
              <a:rPr lang="fr-CA" dirty="0"/>
              <a:t> to one </a:t>
            </a:r>
            <a:r>
              <a:rPr lang="fr-CA" dirty="0" err="1"/>
              <a:t>another</a:t>
            </a:r>
            <a:r>
              <a:rPr lang="fr-CA" dirty="0"/>
              <a:t>.</a:t>
            </a:r>
          </a:p>
          <a:p>
            <a:r>
              <a:rPr lang="fr-CA" dirty="0" err="1"/>
              <a:t>Same-ish</a:t>
            </a:r>
            <a:r>
              <a:rPr lang="fr-CA" dirty="0"/>
              <a:t> </a:t>
            </a:r>
            <a:r>
              <a:rPr lang="fr-CA" dirty="0" err="1"/>
              <a:t>theory</a:t>
            </a:r>
            <a:r>
              <a:rPr lang="fr-CA" dirty="0"/>
              <a:t> as </a:t>
            </a:r>
            <a:r>
              <a:rPr lang="fr-CA" dirty="0" err="1"/>
              <a:t>Nyquist</a:t>
            </a:r>
            <a:r>
              <a:rPr lang="fr-CA" dirty="0"/>
              <a:t> </a:t>
            </a:r>
            <a:r>
              <a:rPr lang="fr-CA" dirty="0" err="1"/>
              <a:t>frequency</a:t>
            </a:r>
            <a:r>
              <a:rPr lang="fr-CA" dirty="0"/>
              <a:t> (not the exact </a:t>
            </a:r>
            <a:r>
              <a:rPr lang="fr-CA" dirty="0" err="1"/>
              <a:t>same</a:t>
            </a:r>
            <a:r>
              <a:rPr lang="fr-CA" dirty="0"/>
              <a:t> relation, but </a:t>
            </a:r>
            <a:r>
              <a:rPr lang="fr-CA" dirty="0" err="1"/>
              <a:t>same</a:t>
            </a:r>
            <a:r>
              <a:rPr lang="fr-CA" dirty="0"/>
              <a:t> in concept):</a:t>
            </a:r>
          </a:p>
          <a:p>
            <a:r>
              <a:rPr lang="fr-CA" dirty="0"/>
              <a:t>- The </a:t>
            </a:r>
            <a:r>
              <a:rPr lang="fr-CA" dirty="0" err="1"/>
              <a:t>higher</a:t>
            </a:r>
            <a:r>
              <a:rPr lang="fr-CA" dirty="0"/>
              <a:t> the </a:t>
            </a:r>
            <a:r>
              <a:rPr lang="fr-CA" dirty="0" err="1"/>
              <a:t>frequency</a:t>
            </a:r>
            <a:r>
              <a:rPr lang="fr-CA" dirty="0"/>
              <a:t> of </a:t>
            </a:r>
            <a:r>
              <a:rPr lang="fr-CA" dirty="0" err="1"/>
              <a:t>electrode</a:t>
            </a:r>
            <a:r>
              <a:rPr lang="fr-CA" dirty="0"/>
              <a:t> in </a:t>
            </a:r>
            <a:r>
              <a:rPr lang="fr-CA" dirty="0" err="1"/>
              <a:t>space</a:t>
            </a:r>
            <a:r>
              <a:rPr lang="fr-CA" dirty="0"/>
              <a:t> (i.e. the </a:t>
            </a:r>
            <a:r>
              <a:rPr lang="fr-CA" dirty="0" err="1"/>
              <a:t>closer</a:t>
            </a:r>
            <a:r>
              <a:rPr lang="fr-CA" dirty="0"/>
              <a:t> </a:t>
            </a:r>
            <a:r>
              <a:rPr lang="fr-CA" dirty="0" err="1"/>
              <a:t>they</a:t>
            </a:r>
            <a:r>
              <a:rPr lang="fr-CA" dirty="0"/>
              <a:t> are), the more spatial information can </a:t>
            </a:r>
            <a:r>
              <a:rPr lang="fr-CA" dirty="0" err="1"/>
              <a:t>be</a:t>
            </a:r>
            <a:r>
              <a:rPr lang="fr-CA" dirty="0"/>
              <a:t> </a:t>
            </a:r>
            <a:r>
              <a:rPr lang="fr-CA" dirty="0" err="1"/>
              <a:t>collected</a:t>
            </a:r>
            <a:endParaRPr lang="fr-CA" dirty="0"/>
          </a:p>
          <a:p>
            <a:endParaRPr lang="fr-CA" dirty="0"/>
          </a:p>
        </p:txBody>
      </p:sp>
      <p:sp>
        <p:nvSpPr>
          <p:cNvPr id="4" name="Slide Number Placeholder 3">
            <a:extLst>
              <a:ext uri="{FF2B5EF4-FFF2-40B4-BE49-F238E27FC236}">
                <a16:creationId xmlns:a16="http://schemas.microsoft.com/office/drawing/2014/main" id="{6D5B9825-E81C-E260-9FF6-63183BB98BA4}"/>
              </a:ext>
            </a:extLst>
          </p:cNvPr>
          <p:cNvSpPr>
            <a:spLocks noGrp="1"/>
          </p:cNvSpPr>
          <p:nvPr>
            <p:ph type="sldNum" sz="quarter" idx="5"/>
          </p:nvPr>
        </p:nvSpPr>
        <p:spPr/>
        <p:txBody>
          <a:bodyPr/>
          <a:lstStyle/>
          <a:p>
            <a:fld id="{5CD3C02A-94A9-4E52-835F-B6DB969C9D81}" type="slidenum">
              <a:rPr lang="en-US" smtClean="0"/>
              <a:t>16</a:t>
            </a:fld>
            <a:endParaRPr lang="en-US"/>
          </a:p>
        </p:txBody>
      </p:sp>
    </p:spTree>
    <p:extLst>
      <p:ext uri="{BB962C8B-B14F-4D97-AF65-F5344CB8AC3E}">
        <p14:creationId xmlns:p14="http://schemas.microsoft.com/office/powerpoint/2010/main" val="3394219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0E32B-38A0-013D-0073-CCDB12C8C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FE879-28F9-AADF-73F5-7BAD9A72DC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D358E6-3673-E001-B49A-78BF2192DC7B}"/>
              </a:ext>
            </a:extLst>
          </p:cNvPr>
          <p:cNvSpPr>
            <a:spLocks noGrp="1"/>
          </p:cNvSpPr>
          <p:nvPr>
            <p:ph type="body" idx="1"/>
          </p:nvPr>
        </p:nvSpPr>
        <p:spPr/>
        <p:txBody>
          <a:bodyPr/>
          <a:lstStyle/>
          <a:p>
            <a:r>
              <a:rPr lang="fr-CA" dirty="0"/>
              <a:t>Quantité</a:t>
            </a:r>
          </a:p>
          <a:p>
            <a:r>
              <a:rPr lang="fr-CA" dirty="0" err="1"/>
              <a:t>Add</a:t>
            </a:r>
            <a:r>
              <a:rPr lang="fr-CA" dirty="0"/>
              <a:t> image </a:t>
            </a:r>
            <a:r>
              <a:rPr lang="fr-CA" dirty="0" err="1"/>
              <a:t>that</a:t>
            </a:r>
            <a:r>
              <a:rPr lang="fr-CA" dirty="0"/>
              <a:t> shows </a:t>
            </a:r>
            <a:r>
              <a:rPr lang="fr-CA" dirty="0" err="1"/>
              <a:t>difference</a:t>
            </a:r>
            <a:r>
              <a:rPr lang="fr-CA" dirty="0"/>
              <a:t> </a:t>
            </a:r>
            <a:r>
              <a:rPr lang="fr-CA" dirty="0" err="1"/>
              <a:t>from</a:t>
            </a:r>
            <a:r>
              <a:rPr lang="fr-CA" dirty="0"/>
              <a:t> </a:t>
            </a:r>
            <a:r>
              <a:rPr lang="fr-CA" dirty="0" err="1"/>
              <a:t>low</a:t>
            </a:r>
            <a:r>
              <a:rPr lang="fr-CA" dirty="0"/>
              <a:t> to high </a:t>
            </a:r>
            <a:r>
              <a:rPr lang="fr-CA" dirty="0" err="1"/>
              <a:t>quality</a:t>
            </a:r>
            <a:endParaRPr lang="en-US" dirty="0"/>
          </a:p>
        </p:txBody>
      </p:sp>
      <p:sp>
        <p:nvSpPr>
          <p:cNvPr id="4" name="Slide Number Placeholder 3">
            <a:extLst>
              <a:ext uri="{FF2B5EF4-FFF2-40B4-BE49-F238E27FC236}">
                <a16:creationId xmlns:a16="http://schemas.microsoft.com/office/drawing/2014/main" id="{333E60A1-C2B6-D4A4-6D2F-ECCA28360249}"/>
              </a:ext>
            </a:extLst>
          </p:cNvPr>
          <p:cNvSpPr>
            <a:spLocks noGrp="1"/>
          </p:cNvSpPr>
          <p:nvPr>
            <p:ph type="sldNum" sz="quarter" idx="5"/>
          </p:nvPr>
        </p:nvSpPr>
        <p:spPr/>
        <p:txBody>
          <a:bodyPr/>
          <a:lstStyle/>
          <a:p>
            <a:fld id="{5CD3C02A-94A9-4E52-835F-B6DB969C9D81}" type="slidenum">
              <a:rPr lang="en-US" smtClean="0"/>
              <a:t>17</a:t>
            </a:fld>
            <a:endParaRPr lang="en-US"/>
          </a:p>
        </p:txBody>
      </p:sp>
    </p:spTree>
    <p:extLst>
      <p:ext uri="{BB962C8B-B14F-4D97-AF65-F5344CB8AC3E}">
        <p14:creationId xmlns:p14="http://schemas.microsoft.com/office/powerpoint/2010/main" val="1119436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0D3FD-24BA-2E5F-5C73-1ECA69BE3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765C0-CFFA-003E-2CC8-C9BBC61F7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06BE98-3F75-648C-4EF1-FDDF10C336BB}"/>
              </a:ext>
            </a:extLst>
          </p:cNvPr>
          <p:cNvSpPr>
            <a:spLocks noGrp="1"/>
          </p:cNvSpPr>
          <p:nvPr>
            <p:ph type="body" idx="1"/>
          </p:nvPr>
        </p:nvSpPr>
        <p:spPr/>
        <p:txBody>
          <a:bodyPr/>
          <a:lstStyle/>
          <a:p>
            <a:r>
              <a:rPr lang="en-US" dirty="0"/>
              <a:t>Use this slide as an example to how signal travels in space (IED slide and quantity slide)</a:t>
            </a:r>
          </a:p>
          <a:p>
            <a:endParaRPr lang="en-US" dirty="0"/>
          </a:p>
          <a:p>
            <a:r>
              <a:rPr lang="en-US" dirty="0"/>
              <a:t>Also, quick mention to the algo. We can patterns in the waves. So, we can extract those patterns and classify them as a motor unit.</a:t>
            </a:r>
          </a:p>
        </p:txBody>
      </p:sp>
      <p:sp>
        <p:nvSpPr>
          <p:cNvPr id="4" name="Slide Number Placeholder 3">
            <a:extLst>
              <a:ext uri="{FF2B5EF4-FFF2-40B4-BE49-F238E27FC236}">
                <a16:creationId xmlns:a16="http://schemas.microsoft.com/office/drawing/2014/main" id="{DDC482C7-168D-F71E-BF19-BD3CBA0F5400}"/>
              </a:ext>
            </a:extLst>
          </p:cNvPr>
          <p:cNvSpPr>
            <a:spLocks noGrp="1"/>
          </p:cNvSpPr>
          <p:nvPr>
            <p:ph type="sldNum" sz="quarter" idx="5"/>
          </p:nvPr>
        </p:nvSpPr>
        <p:spPr/>
        <p:txBody>
          <a:bodyPr/>
          <a:lstStyle/>
          <a:p>
            <a:fld id="{5CD3C02A-94A9-4E52-835F-B6DB969C9D81}" type="slidenum">
              <a:rPr lang="en-US" smtClean="0"/>
              <a:t>18</a:t>
            </a:fld>
            <a:endParaRPr lang="en-US"/>
          </a:p>
        </p:txBody>
      </p:sp>
    </p:spTree>
    <p:extLst>
      <p:ext uri="{BB962C8B-B14F-4D97-AF65-F5344CB8AC3E}">
        <p14:creationId xmlns:p14="http://schemas.microsoft.com/office/powerpoint/2010/main" val="118908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1A95-73A6-E1DD-E007-71922083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BA429-F5F5-9DD0-3730-85560D50E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61644-D750-1EEC-A4FC-8B2B460668B3}"/>
              </a:ext>
            </a:extLst>
          </p:cNvPr>
          <p:cNvSpPr>
            <a:spLocks noGrp="1"/>
          </p:cNvSpPr>
          <p:nvPr>
            <p:ph type="body" idx="1"/>
          </p:nvPr>
        </p:nvSpPr>
        <p:spPr/>
        <p:txBody>
          <a:bodyPr/>
          <a:lstStyle/>
          <a:p>
            <a:r>
              <a:rPr lang="fr-CA" dirty="0"/>
              <a:t>Relative maximum </a:t>
            </a:r>
            <a:r>
              <a:rPr lang="fr-CA" dirty="0" err="1"/>
              <a:t>voluntary</a:t>
            </a:r>
            <a:r>
              <a:rPr lang="fr-CA" dirty="0"/>
              <a:t> contraction: Force </a:t>
            </a:r>
            <a:r>
              <a:rPr lang="fr-CA" dirty="0" err="1"/>
              <a:t>exerted</a:t>
            </a:r>
            <a:r>
              <a:rPr lang="fr-CA" dirty="0"/>
              <a:t> by muscles relative to </a:t>
            </a:r>
            <a:r>
              <a:rPr lang="fr-CA" dirty="0" err="1"/>
              <a:t>their</a:t>
            </a:r>
            <a:r>
              <a:rPr lang="fr-CA" dirty="0"/>
              <a:t> maximum.</a:t>
            </a:r>
          </a:p>
          <a:p>
            <a:r>
              <a:rPr lang="fr-CA" dirty="0" err="1"/>
              <a:t>When</a:t>
            </a:r>
            <a:r>
              <a:rPr lang="fr-CA" dirty="0"/>
              <a:t> </a:t>
            </a:r>
            <a:r>
              <a:rPr lang="fr-CA" dirty="0" err="1"/>
              <a:t>small</a:t>
            </a:r>
            <a:r>
              <a:rPr lang="fr-CA" dirty="0"/>
              <a:t> </a:t>
            </a:r>
            <a:r>
              <a:rPr lang="fr-CA" dirty="0" err="1"/>
              <a:t>enough</a:t>
            </a:r>
            <a:r>
              <a:rPr lang="fr-CA" dirty="0"/>
              <a:t>, </a:t>
            </a:r>
            <a:r>
              <a:rPr lang="fr-CA" dirty="0" err="1"/>
              <a:t>it</a:t>
            </a:r>
            <a:r>
              <a:rPr lang="fr-CA" dirty="0"/>
              <a:t> </a:t>
            </a:r>
            <a:r>
              <a:rPr lang="fr-CA" dirty="0" err="1"/>
              <a:t>is</a:t>
            </a:r>
            <a:r>
              <a:rPr lang="fr-CA" dirty="0"/>
              <a:t> </a:t>
            </a:r>
            <a:r>
              <a:rPr lang="fr-CA" dirty="0" err="1"/>
              <a:t>easier</a:t>
            </a:r>
            <a:r>
              <a:rPr lang="fr-CA" dirty="0"/>
              <a:t> to </a:t>
            </a:r>
            <a:r>
              <a:rPr lang="fr-CA" dirty="0" err="1"/>
              <a:t>decompose</a:t>
            </a:r>
            <a:r>
              <a:rPr lang="fr-CA" dirty="0"/>
              <a:t> the </a:t>
            </a:r>
            <a:r>
              <a:rPr lang="fr-CA" dirty="0" err="1"/>
              <a:t>motor</a:t>
            </a:r>
            <a:r>
              <a:rPr lang="fr-CA" dirty="0"/>
              <a:t> </a:t>
            </a:r>
            <a:r>
              <a:rPr lang="fr-CA" dirty="0" err="1"/>
              <a:t>units</a:t>
            </a:r>
            <a:r>
              <a:rPr lang="fr-CA" dirty="0"/>
              <a:t>. But </a:t>
            </a:r>
            <a:r>
              <a:rPr lang="fr-CA" dirty="0" err="1"/>
              <a:t>when</a:t>
            </a:r>
            <a:r>
              <a:rPr lang="fr-CA" dirty="0"/>
              <a:t> </a:t>
            </a:r>
            <a:r>
              <a:rPr lang="fr-CA" dirty="0" err="1"/>
              <a:t>too</a:t>
            </a:r>
            <a:r>
              <a:rPr lang="fr-CA" dirty="0"/>
              <a:t> high, spatial </a:t>
            </a:r>
            <a:r>
              <a:rPr lang="fr-CA" dirty="0" err="1"/>
              <a:t>blurry</a:t>
            </a:r>
            <a:r>
              <a:rPr lang="fr-CA" dirty="0"/>
              <a:t> </a:t>
            </a:r>
            <a:r>
              <a:rPr lang="fr-CA" dirty="0" err="1"/>
              <a:t>becomes</a:t>
            </a:r>
            <a:r>
              <a:rPr lang="fr-CA" dirty="0"/>
              <a:t> </a:t>
            </a:r>
            <a:r>
              <a:rPr lang="fr-CA" dirty="0" err="1"/>
              <a:t>too</a:t>
            </a:r>
            <a:r>
              <a:rPr lang="fr-CA" dirty="0"/>
              <a:t> </a:t>
            </a:r>
            <a:r>
              <a:rPr lang="fr-CA" dirty="0" err="1"/>
              <a:t>much</a:t>
            </a:r>
            <a:r>
              <a:rPr lang="fr-CA" dirty="0"/>
              <a:t> and </a:t>
            </a:r>
            <a:r>
              <a:rPr lang="fr-CA" dirty="0" err="1"/>
              <a:t>smaller</a:t>
            </a:r>
            <a:r>
              <a:rPr lang="fr-CA" dirty="0"/>
              <a:t> </a:t>
            </a:r>
            <a:r>
              <a:rPr lang="fr-CA" dirty="0" err="1"/>
              <a:t>motor</a:t>
            </a:r>
            <a:r>
              <a:rPr lang="fr-CA" dirty="0"/>
              <a:t> </a:t>
            </a:r>
            <a:r>
              <a:rPr lang="fr-CA" dirty="0" err="1"/>
              <a:t>units</a:t>
            </a:r>
            <a:r>
              <a:rPr lang="fr-CA" dirty="0"/>
              <a:t> </a:t>
            </a:r>
            <a:r>
              <a:rPr lang="fr-CA" dirty="0" err="1"/>
              <a:t>can’t</a:t>
            </a:r>
            <a:r>
              <a:rPr lang="fr-CA" dirty="0"/>
              <a:t> </a:t>
            </a:r>
            <a:r>
              <a:rPr lang="fr-CA" dirty="0" err="1"/>
              <a:t>be</a:t>
            </a:r>
            <a:r>
              <a:rPr lang="fr-CA" dirty="0"/>
              <a:t> </a:t>
            </a:r>
            <a:r>
              <a:rPr lang="fr-CA" dirty="0" err="1"/>
              <a:t>decomposed</a:t>
            </a:r>
            <a:r>
              <a:rPr lang="fr-CA" dirty="0"/>
              <a:t>.</a:t>
            </a:r>
          </a:p>
          <a:p>
            <a:endParaRPr lang="fr-CA" dirty="0"/>
          </a:p>
          <a:p>
            <a:r>
              <a:rPr lang="fr-CA" dirty="0"/>
              <a:t>2 </a:t>
            </a:r>
            <a:r>
              <a:rPr lang="fr-CA" dirty="0" err="1"/>
              <a:t>examples</a:t>
            </a:r>
            <a:r>
              <a:rPr lang="fr-CA" dirty="0"/>
              <a:t> to </a:t>
            </a:r>
            <a:r>
              <a:rPr lang="fr-CA" dirty="0" err="1"/>
              <a:t>understand</a:t>
            </a:r>
            <a:r>
              <a:rPr lang="fr-CA" dirty="0"/>
              <a:t>:</a:t>
            </a:r>
          </a:p>
          <a:p>
            <a:r>
              <a:rPr lang="fr-CA" dirty="0"/>
              <a:t>1- Try to use </a:t>
            </a:r>
            <a:r>
              <a:rPr lang="fr-CA" dirty="0" err="1"/>
              <a:t>you</a:t>
            </a:r>
            <a:r>
              <a:rPr lang="fr-CA" dirty="0"/>
              <a:t> hand </a:t>
            </a:r>
            <a:r>
              <a:rPr lang="fr-CA" dirty="0" err="1"/>
              <a:t>with</a:t>
            </a:r>
            <a:r>
              <a:rPr lang="fr-CA" dirty="0"/>
              <a:t> </a:t>
            </a:r>
            <a:r>
              <a:rPr lang="fr-CA" dirty="0" err="1"/>
              <a:t>dexterity</a:t>
            </a:r>
            <a:r>
              <a:rPr lang="fr-CA" dirty="0"/>
              <a:t> </a:t>
            </a:r>
            <a:r>
              <a:rPr lang="fr-CA" dirty="0" err="1"/>
              <a:t>with</a:t>
            </a:r>
            <a:r>
              <a:rPr lang="fr-CA" dirty="0"/>
              <a:t> arm </a:t>
            </a:r>
            <a:r>
              <a:rPr lang="fr-CA" dirty="0" err="1"/>
              <a:t>fully</a:t>
            </a:r>
            <a:r>
              <a:rPr lang="fr-CA" dirty="0"/>
              <a:t> </a:t>
            </a:r>
            <a:r>
              <a:rPr lang="fr-CA" dirty="0" err="1"/>
              <a:t>contracted</a:t>
            </a:r>
            <a:endParaRPr lang="fr-CA" dirty="0"/>
          </a:p>
          <a:p>
            <a:r>
              <a:rPr lang="fr-CA" dirty="0"/>
              <a:t>2- Audio </a:t>
            </a:r>
            <a:r>
              <a:rPr lang="fr-CA" dirty="0" err="1"/>
              <a:t>with</a:t>
            </a:r>
            <a:r>
              <a:rPr lang="fr-CA" dirty="0"/>
              <a:t> multiple speakers. The </a:t>
            </a:r>
            <a:r>
              <a:rPr lang="fr-CA" dirty="0" err="1"/>
              <a:t>louder</a:t>
            </a:r>
            <a:r>
              <a:rPr lang="fr-CA" dirty="0"/>
              <a:t> the speakers at the </a:t>
            </a:r>
            <a:r>
              <a:rPr lang="fr-CA" dirty="0" err="1"/>
              <a:t>same</a:t>
            </a:r>
            <a:r>
              <a:rPr lang="fr-CA" dirty="0"/>
              <a:t> time, the harder </a:t>
            </a:r>
            <a:r>
              <a:rPr lang="fr-CA" dirty="0" err="1"/>
              <a:t>it</a:t>
            </a:r>
            <a:r>
              <a:rPr lang="fr-CA" dirty="0"/>
              <a:t> </a:t>
            </a:r>
            <a:r>
              <a:rPr lang="fr-CA" dirty="0" err="1"/>
              <a:t>is</a:t>
            </a:r>
            <a:r>
              <a:rPr lang="fr-CA" dirty="0"/>
              <a:t> to know </a:t>
            </a:r>
            <a:r>
              <a:rPr lang="fr-CA" dirty="0" err="1"/>
              <a:t>which</a:t>
            </a:r>
            <a:r>
              <a:rPr lang="fr-CA" dirty="0"/>
              <a:t> one output </a:t>
            </a:r>
            <a:r>
              <a:rPr lang="fr-CA" dirty="0" err="1"/>
              <a:t>what</a:t>
            </a:r>
            <a:r>
              <a:rPr lang="fr-CA" dirty="0"/>
              <a:t> </a:t>
            </a:r>
            <a:r>
              <a:rPr lang="fr-CA" dirty="0" err="1"/>
              <a:t>sound</a:t>
            </a:r>
            <a:endParaRPr lang="en-US" dirty="0"/>
          </a:p>
        </p:txBody>
      </p:sp>
      <p:sp>
        <p:nvSpPr>
          <p:cNvPr id="4" name="Slide Number Placeholder 3">
            <a:extLst>
              <a:ext uri="{FF2B5EF4-FFF2-40B4-BE49-F238E27FC236}">
                <a16:creationId xmlns:a16="http://schemas.microsoft.com/office/drawing/2014/main" id="{1E7505CE-B48B-E5AA-AA69-9C07A37C95C4}"/>
              </a:ext>
            </a:extLst>
          </p:cNvPr>
          <p:cNvSpPr>
            <a:spLocks noGrp="1"/>
          </p:cNvSpPr>
          <p:nvPr>
            <p:ph type="sldNum" sz="quarter" idx="5"/>
          </p:nvPr>
        </p:nvSpPr>
        <p:spPr/>
        <p:txBody>
          <a:bodyPr/>
          <a:lstStyle/>
          <a:p>
            <a:fld id="{5CD3C02A-94A9-4E52-835F-B6DB969C9D81}" type="slidenum">
              <a:rPr lang="en-US" smtClean="0"/>
              <a:t>19</a:t>
            </a:fld>
            <a:endParaRPr lang="en-US"/>
          </a:p>
        </p:txBody>
      </p:sp>
    </p:spTree>
    <p:extLst>
      <p:ext uri="{BB962C8B-B14F-4D97-AF65-F5344CB8AC3E}">
        <p14:creationId xmlns:p14="http://schemas.microsoft.com/office/powerpoint/2010/main" val="2437874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Article </a:t>
            </a:r>
            <a:r>
              <a:rPr lang="fr-CA" dirty="0" err="1"/>
              <a:t>Analysis</a:t>
            </a:r>
            <a:r>
              <a:rPr lang="fr-CA" dirty="0"/>
              <a:t>:</a:t>
            </a:r>
          </a:p>
          <a:p>
            <a:pPr marL="171450" indent="-171450">
              <a:buFontTx/>
              <a:buChar char="-"/>
            </a:pPr>
            <a:r>
              <a:rPr lang="en-CA" dirty="0"/>
              <a:t>Arnault H. Caillet</a:t>
            </a:r>
          </a:p>
          <a:p>
            <a:pPr marL="171450" indent="-171450">
              <a:buFontTx/>
              <a:buChar char="-"/>
            </a:pPr>
            <a:r>
              <a:rPr lang="en-CA" dirty="0"/>
              <a:t>Directed by Dr. Dario Farina</a:t>
            </a:r>
          </a:p>
          <a:p>
            <a:pPr marL="171450" indent="-171450">
              <a:buFontTx/>
              <a:buChar char="-"/>
            </a:pPr>
            <a:r>
              <a:rPr lang="en-CA" dirty="0"/>
              <a:t>Article published in 2023</a:t>
            </a:r>
            <a:endParaRPr lang="en-US" dirty="0"/>
          </a:p>
        </p:txBody>
      </p:sp>
      <p:sp>
        <p:nvSpPr>
          <p:cNvPr id="4" name="Slide Number Placeholder 3"/>
          <p:cNvSpPr>
            <a:spLocks noGrp="1"/>
          </p:cNvSpPr>
          <p:nvPr>
            <p:ph type="sldNum" sz="quarter" idx="5"/>
          </p:nvPr>
        </p:nvSpPr>
        <p:spPr/>
        <p:txBody>
          <a:bodyPr/>
          <a:lstStyle/>
          <a:p>
            <a:fld id="{5CD3C02A-94A9-4E52-835F-B6DB969C9D81}" type="slidenum">
              <a:rPr lang="en-US" smtClean="0"/>
              <a:t>20</a:t>
            </a:fld>
            <a:endParaRPr lang="en-US"/>
          </a:p>
        </p:txBody>
      </p:sp>
    </p:spTree>
    <p:extLst>
      <p:ext uri="{BB962C8B-B14F-4D97-AF65-F5344CB8AC3E}">
        <p14:creationId xmlns:p14="http://schemas.microsoft.com/office/powerpoint/2010/main" val="4059439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D4CB7-FF2A-50BD-F584-3FCDC34CB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83352-0B45-255A-0391-E990AB830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B632A-FE3C-A40D-FC72-5B9F64455923}"/>
              </a:ext>
            </a:extLst>
          </p:cNvPr>
          <p:cNvSpPr>
            <a:spLocks noGrp="1"/>
          </p:cNvSpPr>
          <p:nvPr>
            <p:ph type="body" idx="1"/>
          </p:nvPr>
        </p:nvSpPr>
        <p:spPr/>
        <p:txBody>
          <a:bodyPr/>
          <a:lstStyle/>
          <a:p>
            <a:r>
              <a:rPr lang="fr-CA" dirty="0" err="1"/>
              <a:t>Hypothesis</a:t>
            </a:r>
            <a:r>
              <a:rPr lang="fr-CA" dirty="0"/>
              <a:t>: </a:t>
            </a:r>
            <a:r>
              <a:rPr lang="fr-CA" dirty="0" err="1"/>
              <a:t>Denser</a:t>
            </a:r>
            <a:r>
              <a:rPr lang="fr-CA" dirty="0"/>
              <a:t> and </a:t>
            </a:r>
            <a:r>
              <a:rPr lang="fr-CA" dirty="0" err="1"/>
              <a:t>larger</a:t>
            </a:r>
            <a:r>
              <a:rPr lang="fr-CA" dirty="0"/>
              <a:t> </a:t>
            </a:r>
            <a:r>
              <a:rPr lang="fr-CA" dirty="0" err="1"/>
              <a:t>electrode</a:t>
            </a:r>
            <a:r>
              <a:rPr lang="fr-CA" dirty="0"/>
              <a:t> </a:t>
            </a:r>
            <a:r>
              <a:rPr lang="fr-CA" dirty="0" err="1"/>
              <a:t>grid</a:t>
            </a:r>
            <a:r>
              <a:rPr lang="fr-CA" dirty="0"/>
              <a:t> </a:t>
            </a:r>
            <a:r>
              <a:rPr lang="fr-CA" dirty="0" err="1"/>
              <a:t>will</a:t>
            </a:r>
            <a:r>
              <a:rPr lang="fr-CA" dirty="0"/>
              <a:t> </a:t>
            </a:r>
            <a:r>
              <a:rPr lang="fr-CA" dirty="0" err="1"/>
              <a:t>increase</a:t>
            </a:r>
            <a:r>
              <a:rPr lang="fr-CA" dirty="0"/>
              <a:t> the </a:t>
            </a:r>
            <a:r>
              <a:rPr lang="fr-CA" dirty="0" err="1"/>
              <a:t>number</a:t>
            </a:r>
            <a:r>
              <a:rPr lang="fr-CA" dirty="0"/>
              <a:t> of </a:t>
            </a:r>
            <a:r>
              <a:rPr lang="fr-CA" dirty="0" err="1"/>
              <a:t>motor</a:t>
            </a:r>
            <a:r>
              <a:rPr lang="fr-CA" dirty="0"/>
              <a:t> </a:t>
            </a:r>
            <a:r>
              <a:rPr lang="fr-CA" dirty="0" err="1"/>
              <a:t>units</a:t>
            </a:r>
            <a:r>
              <a:rPr lang="fr-CA" dirty="0"/>
              <a:t> </a:t>
            </a:r>
            <a:r>
              <a:rPr lang="fr-CA" dirty="0" err="1"/>
              <a:t>extracted</a:t>
            </a:r>
            <a:r>
              <a:rPr lang="fr-CA" dirty="0"/>
              <a:t>.</a:t>
            </a:r>
          </a:p>
          <a:p>
            <a:endParaRPr lang="fr-CA" dirty="0"/>
          </a:p>
          <a:p>
            <a:r>
              <a:rPr lang="en-US" dirty="0"/>
              <a:t>The experiment took 2 parts:</a:t>
            </a:r>
          </a:p>
          <a:p>
            <a:r>
              <a:rPr lang="en-US" dirty="0"/>
              <a:t>1- Simulation for theorical data</a:t>
            </a:r>
          </a:p>
          <a:p>
            <a:r>
              <a:rPr lang="en-US" dirty="0"/>
              <a:t>2- Real measurements with variable parameters</a:t>
            </a:r>
          </a:p>
        </p:txBody>
      </p:sp>
      <p:sp>
        <p:nvSpPr>
          <p:cNvPr id="4" name="Slide Number Placeholder 3">
            <a:extLst>
              <a:ext uri="{FF2B5EF4-FFF2-40B4-BE49-F238E27FC236}">
                <a16:creationId xmlns:a16="http://schemas.microsoft.com/office/drawing/2014/main" id="{465D758A-72FE-15D3-0B99-C5BFE2AD782E}"/>
              </a:ext>
            </a:extLst>
          </p:cNvPr>
          <p:cNvSpPr>
            <a:spLocks noGrp="1"/>
          </p:cNvSpPr>
          <p:nvPr>
            <p:ph type="sldNum" sz="quarter" idx="5"/>
          </p:nvPr>
        </p:nvSpPr>
        <p:spPr/>
        <p:txBody>
          <a:bodyPr/>
          <a:lstStyle/>
          <a:p>
            <a:fld id="{5CD3C02A-94A9-4E52-835F-B6DB969C9D81}" type="slidenum">
              <a:rPr lang="en-US" smtClean="0"/>
              <a:t>21</a:t>
            </a:fld>
            <a:endParaRPr lang="en-US"/>
          </a:p>
        </p:txBody>
      </p:sp>
    </p:spTree>
    <p:extLst>
      <p:ext uri="{BB962C8B-B14F-4D97-AF65-F5344CB8AC3E}">
        <p14:creationId xmlns:p14="http://schemas.microsoft.com/office/powerpoint/2010/main" val="2263754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EA295-1BB8-20C8-5868-829D7205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BFC93-8739-221B-FAEB-3435ECF40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D73BE-B3BC-D7A6-C865-4F6C5D63FC5D}"/>
              </a:ext>
            </a:extLst>
          </p:cNvPr>
          <p:cNvSpPr>
            <a:spLocks noGrp="1"/>
          </p:cNvSpPr>
          <p:nvPr>
            <p:ph type="body" idx="1"/>
          </p:nvPr>
        </p:nvSpPr>
        <p:spPr/>
        <p:txBody>
          <a:bodyPr/>
          <a:lstStyle/>
          <a:p>
            <a:r>
              <a:rPr lang="en-US" noProof="0" dirty="0"/>
              <a:t>Simulation part:</a:t>
            </a:r>
          </a:p>
          <a:p>
            <a:r>
              <a:rPr lang="en-US" noProof="0" dirty="0"/>
              <a:t>200 motor units were simulated to see how many motor units can be extracted when:</a:t>
            </a:r>
          </a:p>
          <a:p>
            <a:pPr marL="171450" indent="-171450">
              <a:buFontTx/>
              <a:buChar char="-"/>
            </a:pPr>
            <a:r>
              <a:rPr lang="en-US" noProof="0" dirty="0"/>
              <a:t>The IED changes</a:t>
            </a:r>
          </a:p>
          <a:p>
            <a:pPr marL="171450" indent="-171450">
              <a:buFontTx/>
              <a:buChar char="-"/>
            </a:pPr>
            <a:r>
              <a:rPr lang="en-US" noProof="0" dirty="0"/>
              <a:t>The grid changes size (i.e. with a smaller count of electrodes)</a:t>
            </a:r>
          </a:p>
        </p:txBody>
      </p:sp>
      <p:sp>
        <p:nvSpPr>
          <p:cNvPr id="4" name="Slide Number Placeholder 3">
            <a:extLst>
              <a:ext uri="{FF2B5EF4-FFF2-40B4-BE49-F238E27FC236}">
                <a16:creationId xmlns:a16="http://schemas.microsoft.com/office/drawing/2014/main" id="{8A057B81-E363-9547-7943-ED847DCF1417}"/>
              </a:ext>
            </a:extLst>
          </p:cNvPr>
          <p:cNvSpPr>
            <a:spLocks noGrp="1"/>
          </p:cNvSpPr>
          <p:nvPr>
            <p:ph type="sldNum" sz="quarter" idx="5"/>
          </p:nvPr>
        </p:nvSpPr>
        <p:spPr/>
        <p:txBody>
          <a:bodyPr/>
          <a:lstStyle/>
          <a:p>
            <a:fld id="{5CD3C02A-94A9-4E52-835F-B6DB969C9D81}" type="slidenum">
              <a:rPr lang="en-US" smtClean="0"/>
              <a:t>22</a:t>
            </a:fld>
            <a:endParaRPr lang="en-US"/>
          </a:p>
        </p:txBody>
      </p:sp>
    </p:spTree>
    <p:extLst>
      <p:ext uri="{BB962C8B-B14F-4D97-AF65-F5344CB8AC3E}">
        <p14:creationId xmlns:p14="http://schemas.microsoft.com/office/powerpoint/2010/main" val="3370313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79C5-C6FF-D931-CDC1-2F5226B4B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14A08-3E11-A3E5-79E2-61C401541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CD010-B182-6094-819B-BE00644BCDE6}"/>
              </a:ext>
            </a:extLst>
          </p:cNvPr>
          <p:cNvSpPr>
            <a:spLocks noGrp="1"/>
          </p:cNvSpPr>
          <p:nvPr>
            <p:ph type="body" idx="1"/>
          </p:nvPr>
        </p:nvSpPr>
        <p:spPr/>
        <p:txBody>
          <a:bodyPr/>
          <a:lstStyle/>
          <a:p>
            <a:r>
              <a:rPr lang="fr-CA" dirty="0"/>
              <a:t>Simulation </a:t>
            </a:r>
            <a:r>
              <a:rPr lang="fr-CA" dirty="0" err="1"/>
              <a:t>results</a:t>
            </a:r>
            <a:r>
              <a:rPr lang="fr-CA" dirty="0"/>
              <a:t>:</a:t>
            </a:r>
          </a:p>
          <a:p>
            <a:pPr marL="171450" indent="-171450">
              <a:buFontTx/>
              <a:buChar char="-"/>
            </a:pPr>
            <a:r>
              <a:rPr lang="fr-CA" dirty="0" err="1"/>
              <a:t>Smaller</a:t>
            </a:r>
            <a:r>
              <a:rPr lang="fr-CA" dirty="0"/>
              <a:t> IED and </a:t>
            </a:r>
            <a:r>
              <a:rPr lang="fr-CA" dirty="0" err="1"/>
              <a:t>bigger</a:t>
            </a:r>
            <a:r>
              <a:rPr lang="fr-CA" dirty="0"/>
              <a:t> </a:t>
            </a:r>
            <a:r>
              <a:rPr lang="fr-CA" dirty="0" err="1"/>
              <a:t>grid</a:t>
            </a:r>
            <a:r>
              <a:rPr lang="fr-CA" dirty="0"/>
              <a:t> </a:t>
            </a:r>
            <a:r>
              <a:rPr lang="fr-CA" dirty="0" err="1"/>
              <a:t>seems</a:t>
            </a:r>
            <a:r>
              <a:rPr lang="fr-CA" dirty="0"/>
              <a:t> to </a:t>
            </a:r>
            <a:r>
              <a:rPr lang="fr-CA" dirty="0" err="1"/>
              <a:t>be</a:t>
            </a:r>
            <a:r>
              <a:rPr lang="fr-CA" dirty="0"/>
              <a:t> able to </a:t>
            </a:r>
            <a:r>
              <a:rPr lang="fr-CA" dirty="0" err="1"/>
              <a:t>extract</a:t>
            </a:r>
            <a:r>
              <a:rPr lang="fr-CA" dirty="0"/>
              <a:t> </a:t>
            </a:r>
            <a:r>
              <a:rPr lang="fr-CA" dirty="0" err="1"/>
              <a:t>smaller</a:t>
            </a:r>
            <a:r>
              <a:rPr lang="fr-CA" dirty="0"/>
              <a:t> </a:t>
            </a:r>
            <a:r>
              <a:rPr lang="fr-CA" dirty="0" err="1"/>
              <a:t>motor</a:t>
            </a:r>
            <a:r>
              <a:rPr lang="fr-CA" dirty="0"/>
              <a:t> </a:t>
            </a:r>
            <a:r>
              <a:rPr lang="fr-CA" dirty="0" err="1"/>
              <a:t>units</a:t>
            </a:r>
            <a:r>
              <a:rPr lang="fr-CA" dirty="0"/>
              <a:t> and </a:t>
            </a:r>
            <a:r>
              <a:rPr lang="fr-CA" dirty="0" err="1"/>
              <a:t>extract</a:t>
            </a:r>
            <a:r>
              <a:rPr lang="fr-CA" dirty="0"/>
              <a:t> </a:t>
            </a:r>
            <a:r>
              <a:rPr lang="fr-CA" dirty="0" err="1"/>
              <a:t>motor</a:t>
            </a:r>
            <a:r>
              <a:rPr lang="fr-CA" dirty="0"/>
              <a:t> </a:t>
            </a:r>
            <a:r>
              <a:rPr lang="fr-CA" dirty="0" err="1"/>
              <a:t>units</a:t>
            </a:r>
            <a:r>
              <a:rPr lang="fr-CA" dirty="0"/>
              <a:t> </a:t>
            </a:r>
            <a:r>
              <a:rPr lang="fr-CA" dirty="0" err="1"/>
              <a:t>that</a:t>
            </a:r>
            <a:r>
              <a:rPr lang="fr-CA" dirty="0"/>
              <a:t> are </a:t>
            </a:r>
            <a:r>
              <a:rPr lang="fr-CA" dirty="0" err="1"/>
              <a:t>deeper</a:t>
            </a:r>
            <a:r>
              <a:rPr lang="fr-CA" dirty="0"/>
              <a:t> in the </a:t>
            </a:r>
            <a:r>
              <a:rPr lang="fr-CA" dirty="0" err="1"/>
              <a:t>limb</a:t>
            </a:r>
            <a:endParaRPr lang="fr-CA" dirty="0"/>
          </a:p>
          <a:p>
            <a:pPr marL="171450" indent="-171450">
              <a:buFontTx/>
              <a:buChar char="-"/>
            </a:pPr>
            <a:r>
              <a:rPr lang="fr-CA" dirty="0" err="1"/>
              <a:t>Theorical</a:t>
            </a:r>
            <a:r>
              <a:rPr lang="fr-CA" dirty="0"/>
              <a:t> value for </a:t>
            </a:r>
            <a:r>
              <a:rPr lang="fr-CA" dirty="0" err="1"/>
              <a:t>used</a:t>
            </a:r>
            <a:r>
              <a:rPr lang="fr-CA" dirty="0"/>
              <a:t> </a:t>
            </a:r>
            <a:r>
              <a:rPr lang="fr-CA" dirty="0" err="1"/>
              <a:t>grid</a:t>
            </a:r>
            <a:r>
              <a:rPr lang="fr-CA" dirty="0"/>
              <a:t>: (77.8 ± 5.5) %</a:t>
            </a:r>
            <a:endParaRPr lang="en-US" dirty="0"/>
          </a:p>
        </p:txBody>
      </p:sp>
      <p:sp>
        <p:nvSpPr>
          <p:cNvPr id="4" name="Slide Number Placeholder 3">
            <a:extLst>
              <a:ext uri="{FF2B5EF4-FFF2-40B4-BE49-F238E27FC236}">
                <a16:creationId xmlns:a16="http://schemas.microsoft.com/office/drawing/2014/main" id="{9D1FD3D0-3DD2-0F12-7A7A-3C0AEEA7F8F3}"/>
              </a:ext>
            </a:extLst>
          </p:cNvPr>
          <p:cNvSpPr>
            <a:spLocks noGrp="1"/>
          </p:cNvSpPr>
          <p:nvPr>
            <p:ph type="sldNum" sz="quarter" idx="5"/>
          </p:nvPr>
        </p:nvSpPr>
        <p:spPr/>
        <p:txBody>
          <a:bodyPr/>
          <a:lstStyle/>
          <a:p>
            <a:fld id="{5CD3C02A-94A9-4E52-835F-B6DB969C9D81}" type="slidenum">
              <a:rPr lang="en-US" smtClean="0"/>
              <a:t>23</a:t>
            </a:fld>
            <a:endParaRPr lang="en-US"/>
          </a:p>
        </p:txBody>
      </p:sp>
    </p:spTree>
    <p:extLst>
      <p:ext uri="{BB962C8B-B14F-4D97-AF65-F5344CB8AC3E}">
        <p14:creationId xmlns:p14="http://schemas.microsoft.com/office/powerpoint/2010/main" val="1228131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DA3DD-90D2-FDC4-66CA-2B51E1035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349CD-A966-3E16-E14E-E6E496833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7B025-B30B-2AAE-5674-13C5DB2CFB0B}"/>
              </a:ext>
            </a:extLst>
          </p:cNvPr>
          <p:cNvSpPr>
            <a:spLocks noGrp="1"/>
          </p:cNvSpPr>
          <p:nvPr>
            <p:ph type="body" idx="1"/>
          </p:nvPr>
        </p:nvSpPr>
        <p:spPr/>
        <p:txBody>
          <a:bodyPr/>
          <a:lstStyle/>
          <a:p>
            <a:r>
              <a:rPr lang="fr-CA" dirty="0"/>
              <a:t>Real </a:t>
            </a:r>
            <a:r>
              <a:rPr lang="fr-CA" dirty="0" err="1"/>
              <a:t>measurement</a:t>
            </a:r>
            <a:r>
              <a:rPr lang="fr-CA" dirty="0"/>
              <a:t> setup</a:t>
            </a:r>
          </a:p>
          <a:p>
            <a:pPr marL="171450" indent="-171450">
              <a:buFontTx/>
              <a:buChar char="-"/>
            </a:pPr>
            <a:r>
              <a:rPr lang="fr-CA" dirty="0"/>
              <a:t>6 participants (22 to 30 </a:t>
            </a:r>
            <a:r>
              <a:rPr lang="fr-CA" dirty="0" err="1"/>
              <a:t>years</a:t>
            </a:r>
            <a:r>
              <a:rPr lang="fr-CA" dirty="0"/>
              <a:t> </a:t>
            </a:r>
            <a:r>
              <a:rPr lang="fr-CA" dirty="0" err="1"/>
              <a:t>old</a:t>
            </a:r>
            <a:r>
              <a:rPr lang="fr-CA" dirty="0"/>
              <a:t>) for the first </a:t>
            </a:r>
            <a:r>
              <a:rPr lang="fr-CA" dirty="0" err="1"/>
              <a:t>grid</a:t>
            </a:r>
            <a:r>
              <a:rPr lang="fr-CA" dirty="0"/>
              <a:t>: 256 </a:t>
            </a:r>
            <a:r>
              <a:rPr lang="fr-CA" dirty="0" err="1"/>
              <a:t>electrodes</a:t>
            </a:r>
            <a:r>
              <a:rPr lang="fr-CA" dirty="0"/>
              <a:t> (13 x 5 – 1 corner), 1 mm </a:t>
            </a:r>
            <a:r>
              <a:rPr lang="fr-CA" dirty="0" err="1"/>
              <a:t>diameter</a:t>
            </a:r>
            <a:r>
              <a:rPr lang="fr-CA" dirty="0"/>
              <a:t>, 4 mm IED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CA" dirty="0" err="1"/>
              <a:t>Only</a:t>
            </a:r>
            <a:r>
              <a:rPr lang="fr-CA" dirty="0"/>
              <a:t> one participant for the second </a:t>
            </a:r>
            <a:r>
              <a:rPr lang="fr-CA" dirty="0" err="1"/>
              <a:t>grid</a:t>
            </a:r>
            <a:r>
              <a:rPr lang="fr-CA" dirty="0"/>
              <a:t> (ultra dense one): 256 </a:t>
            </a:r>
            <a:r>
              <a:rPr lang="fr-CA" dirty="0" err="1"/>
              <a:t>electrodes</a:t>
            </a:r>
            <a:r>
              <a:rPr lang="fr-CA" dirty="0"/>
              <a:t> (13 x 5 – 1 corner), 1 mm </a:t>
            </a:r>
            <a:r>
              <a:rPr lang="fr-CA" dirty="0" err="1"/>
              <a:t>diameter</a:t>
            </a:r>
            <a:r>
              <a:rPr lang="fr-CA" dirty="0"/>
              <a:t>, 2 mm IED</a:t>
            </a:r>
          </a:p>
          <a:p>
            <a:pPr marL="171450" indent="-171450">
              <a:buFontTx/>
              <a:buChar char="-"/>
            </a:pPr>
            <a:endParaRPr lang="fr-CA" dirty="0"/>
          </a:p>
          <a:p>
            <a:pPr marL="0" indent="0">
              <a:buFontTx/>
              <a:buNone/>
            </a:pPr>
            <a:endParaRPr lang="en-US" dirty="0"/>
          </a:p>
        </p:txBody>
      </p:sp>
      <p:sp>
        <p:nvSpPr>
          <p:cNvPr id="4" name="Slide Number Placeholder 3">
            <a:extLst>
              <a:ext uri="{FF2B5EF4-FFF2-40B4-BE49-F238E27FC236}">
                <a16:creationId xmlns:a16="http://schemas.microsoft.com/office/drawing/2014/main" id="{5AB9EF1E-5630-A24F-1EF5-652C41FCBACF}"/>
              </a:ext>
            </a:extLst>
          </p:cNvPr>
          <p:cNvSpPr>
            <a:spLocks noGrp="1"/>
          </p:cNvSpPr>
          <p:nvPr>
            <p:ph type="sldNum" sz="quarter" idx="5"/>
          </p:nvPr>
        </p:nvSpPr>
        <p:spPr/>
        <p:txBody>
          <a:bodyPr/>
          <a:lstStyle/>
          <a:p>
            <a:fld id="{5CD3C02A-94A9-4E52-835F-B6DB969C9D81}" type="slidenum">
              <a:rPr lang="en-US" smtClean="0"/>
              <a:t>24</a:t>
            </a:fld>
            <a:endParaRPr lang="en-US"/>
          </a:p>
        </p:txBody>
      </p:sp>
    </p:spTree>
    <p:extLst>
      <p:ext uri="{BB962C8B-B14F-4D97-AF65-F5344CB8AC3E}">
        <p14:creationId xmlns:p14="http://schemas.microsoft.com/office/powerpoint/2010/main" val="868283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0C845-AAF6-D878-1C6E-29FE25521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41078-B771-7954-F6F5-DC7D70B23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3D7B4-F0B0-DF81-4051-8D09AA247D02}"/>
              </a:ext>
            </a:extLst>
          </p:cNvPr>
          <p:cNvSpPr>
            <a:spLocks noGrp="1"/>
          </p:cNvSpPr>
          <p:nvPr>
            <p:ph type="body" idx="1"/>
          </p:nvPr>
        </p:nvSpPr>
        <p:spPr/>
        <p:txBody>
          <a:bodyPr/>
          <a:lstStyle/>
          <a:p>
            <a:r>
              <a:rPr lang="fr-CA" dirty="0" err="1"/>
              <a:t>Results</a:t>
            </a:r>
            <a:r>
              <a:rPr lang="fr-CA" dirty="0"/>
              <a:t>: 79 </a:t>
            </a:r>
            <a:r>
              <a:rPr lang="fr-CA" dirty="0" err="1"/>
              <a:t>motor</a:t>
            </a:r>
            <a:r>
              <a:rPr lang="fr-CA" dirty="0"/>
              <a:t> </a:t>
            </a:r>
            <a:r>
              <a:rPr lang="fr-CA" dirty="0" err="1"/>
              <a:t>units</a:t>
            </a:r>
            <a:r>
              <a:rPr lang="fr-CA" dirty="0"/>
              <a:t> </a:t>
            </a:r>
            <a:r>
              <a:rPr lang="fr-CA" dirty="0" err="1"/>
              <a:t>extracted</a:t>
            </a:r>
            <a:r>
              <a:rPr lang="fr-CA" dirty="0"/>
              <a:t> at 30 %MVC</a:t>
            </a:r>
            <a:endParaRPr lang="en-US" dirty="0"/>
          </a:p>
        </p:txBody>
      </p:sp>
      <p:sp>
        <p:nvSpPr>
          <p:cNvPr id="4" name="Slide Number Placeholder 3">
            <a:extLst>
              <a:ext uri="{FF2B5EF4-FFF2-40B4-BE49-F238E27FC236}">
                <a16:creationId xmlns:a16="http://schemas.microsoft.com/office/drawing/2014/main" id="{0A17BF93-C6EF-9028-C4E5-8ABA471D505A}"/>
              </a:ext>
            </a:extLst>
          </p:cNvPr>
          <p:cNvSpPr>
            <a:spLocks noGrp="1"/>
          </p:cNvSpPr>
          <p:nvPr>
            <p:ph type="sldNum" sz="quarter" idx="5"/>
          </p:nvPr>
        </p:nvSpPr>
        <p:spPr/>
        <p:txBody>
          <a:bodyPr/>
          <a:lstStyle/>
          <a:p>
            <a:fld id="{5CD3C02A-94A9-4E52-835F-B6DB969C9D81}" type="slidenum">
              <a:rPr lang="en-US" smtClean="0"/>
              <a:t>25</a:t>
            </a:fld>
            <a:endParaRPr lang="en-US"/>
          </a:p>
        </p:txBody>
      </p:sp>
    </p:spTree>
    <p:extLst>
      <p:ext uri="{BB962C8B-B14F-4D97-AF65-F5344CB8AC3E}">
        <p14:creationId xmlns:p14="http://schemas.microsoft.com/office/powerpoint/2010/main" val="265499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1875B-DBEE-A7B1-E406-810696C4B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FF2E1-609A-6C65-ADBC-901B120FF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907C0-38C6-111B-8BA0-A14587B778B3}"/>
              </a:ext>
            </a:extLst>
          </p:cNvPr>
          <p:cNvSpPr>
            <a:spLocks noGrp="1"/>
          </p:cNvSpPr>
          <p:nvPr>
            <p:ph type="body" idx="1"/>
          </p:nvPr>
        </p:nvSpPr>
        <p:spPr/>
        <p:txBody>
          <a:bodyPr/>
          <a:lstStyle/>
          <a:p>
            <a:r>
              <a:rPr lang="fr-CA" dirty="0"/>
              <a:t>58 </a:t>
            </a:r>
            <a:r>
              <a:rPr lang="fr-CA" dirty="0" err="1"/>
              <a:t>motor</a:t>
            </a:r>
            <a:r>
              <a:rPr lang="fr-CA" dirty="0"/>
              <a:t> </a:t>
            </a:r>
            <a:r>
              <a:rPr lang="fr-CA" dirty="0" err="1"/>
              <a:t>units</a:t>
            </a:r>
            <a:r>
              <a:rPr lang="fr-CA" dirty="0"/>
              <a:t> at 50 %MVC</a:t>
            </a:r>
            <a:endParaRPr lang="en-US" dirty="0"/>
          </a:p>
        </p:txBody>
      </p:sp>
      <p:sp>
        <p:nvSpPr>
          <p:cNvPr id="4" name="Slide Number Placeholder 3">
            <a:extLst>
              <a:ext uri="{FF2B5EF4-FFF2-40B4-BE49-F238E27FC236}">
                <a16:creationId xmlns:a16="http://schemas.microsoft.com/office/drawing/2014/main" id="{13873FF8-57BE-2DBF-64E9-DE20FBC6E747}"/>
              </a:ext>
            </a:extLst>
          </p:cNvPr>
          <p:cNvSpPr>
            <a:spLocks noGrp="1"/>
          </p:cNvSpPr>
          <p:nvPr>
            <p:ph type="sldNum" sz="quarter" idx="5"/>
          </p:nvPr>
        </p:nvSpPr>
        <p:spPr/>
        <p:txBody>
          <a:bodyPr/>
          <a:lstStyle/>
          <a:p>
            <a:fld id="{5CD3C02A-94A9-4E52-835F-B6DB969C9D81}" type="slidenum">
              <a:rPr lang="en-US" smtClean="0"/>
              <a:t>26</a:t>
            </a:fld>
            <a:endParaRPr lang="en-US"/>
          </a:p>
        </p:txBody>
      </p:sp>
    </p:spTree>
    <p:extLst>
      <p:ext uri="{BB962C8B-B14F-4D97-AF65-F5344CB8AC3E}">
        <p14:creationId xmlns:p14="http://schemas.microsoft.com/office/powerpoint/2010/main" val="1742264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03DAF-BC82-0CDE-BD75-8FBC35DF4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FF350-F3BE-B933-8632-E0F6F1F19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F1C66-142C-2F6F-4C92-D827C1F4EBAF}"/>
              </a:ext>
            </a:extLst>
          </p:cNvPr>
          <p:cNvSpPr>
            <a:spLocks noGrp="1"/>
          </p:cNvSpPr>
          <p:nvPr>
            <p:ph type="body" idx="1"/>
          </p:nvPr>
        </p:nvSpPr>
        <p:spPr/>
        <p:txBody>
          <a:bodyPr/>
          <a:lstStyle/>
          <a:p>
            <a:r>
              <a:rPr lang="fr-CA" dirty="0"/>
              <a:t>30 %MVC</a:t>
            </a:r>
          </a:p>
          <a:p>
            <a:r>
              <a:rPr lang="fr-CA" dirty="0" err="1"/>
              <a:t>Results</a:t>
            </a:r>
            <a:r>
              <a:rPr lang="fr-CA" dirty="0"/>
              <a:t> for </a:t>
            </a:r>
            <a:r>
              <a:rPr lang="fr-CA" dirty="0" err="1"/>
              <a:t>changing</a:t>
            </a:r>
            <a:r>
              <a:rPr lang="fr-CA" dirty="0"/>
              <a:t> </a:t>
            </a:r>
            <a:r>
              <a:rPr lang="fr-CA" dirty="0" err="1"/>
              <a:t>density</a:t>
            </a:r>
            <a:r>
              <a:rPr lang="fr-CA" dirty="0"/>
              <a:t>, but </a:t>
            </a:r>
            <a:r>
              <a:rPr lang="fr-CA" dirty="0" err="1"/>
              <a:t>keeping</a:t>
            </a:r>
            <a:r>
              <a:rPr lang="fr-CA" dirty="0"/>
              <a:t> the </a:t>
            </a:r>
            <a:r>
              <a:rPr lang="fr-CA" dirty="0" err="1"/>
              <a:t>same</a:t>
            </a:r>
            <a:r>
              <a:rPr lang="fr-CA" dirty="0"/>
              <a:t> surface. I.e., </a:t>
            </a:r>
            <a:r>
              <a:rPr lang="fr-CA" dirty="0" err="1"/>
              <a:t>changing</a:t>
            </a:r>
            <a:r>
              <a:rPr lang="fr-CA" dirty="0"/>
              <a:t> the IED and </a:t>
            </a:r>
            <a:r>
              <a:rPr lang="fr-CA" dirty="0" err="1"/>
              <a:t>less</a:t>
            </a:r>
            <a:r>
              <a:rPr lang="fr-CA" dirty="0"/>
              <a:t> </a:t>
            </a:r>
            <a:r>
              <a:rPr lang="fr-CA" dirty="0" err="1"/>
              <a:t>electrodes</a:t>
            </a:r>
            <a:endParaRPr lang="en-US" dirty="0"/>
          </a:p>
        </p:txBody>
      </p:sp>
      <p:sp>
        <p:nvSpPr>
          <p:cNvPr id="4" name="Slide Number Placeholder 3">
            <a:extLst>
              <a:ext uri="{FF2B5EF4-FFF2-40B4-BE49-F238E27FC236}">
                <a16:creationId xmlns:a16="http://schemas.microsoft.com/office/drawing/2014/main" id="{4591A66E-C93D-D1C4-365A-DBCDCE4CA4FA}"/>
              </a:ext>
            </a:extLst>
          </p:cNvPr>
          <p:cNvSpPr>
            <a:spLocks noGrp="1"/>
          </p:cNvSpPr>
          <p:nvPr>
            <p:ph type="sldNum" sz="quarter" idx="5"/>
          </p:nvPr>
        </p:nvSpPr>
        <p:spPr/>
        <p:txBody>
          <a:bodyPr/>
          <a:lstStyle/>
          <a:p>
            <a:fld id="{5CD3C02A-94A9-4E52-835F-B6DB969C9D81}" type="slidenum">
              <a:rPr lang="en-US" smtClean="0"/>
              <a:t>27</a:t>
            </a:fld>
            <a:endParaRPr lang="en-US"/>
          </a:p>
        </p:txBody>
      </p:sp>
    </p:spTree>
    <p:extLst>
      <p:ext uri="{BB962C8B-B14F-4D97-AF65-F5344CB8AC3E}">
        <p14:creationId xmlns:p14="http://schemas.microsoft.com/office/powerpoint/2010/main" val="1916656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D1FAF-8602-84EE-A8BD-061342445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0E96A-A035-FC79-0ACE-BA4D4C729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F6E2B-0E2E-8CE7-2B66-76591CCC6BE0}"/>
              </a:ext>
            </a:extLst>
          </p:cNvPr>
          <p:cNvSpPr>
            <a:spLocks noGrp="1"/>
          </p:cNvSpPr>
          <p:nvPr>
            <p:ph type="body" idx="1"/>
          </p:nvPr>
        </p:nvSpPr>
        <p:spPr/>
        <p:txBody>
          <a:bodyPr/>
          <a:lstStyle/>
          <a:p>
            <a:r>
              <a:rPr lang="fr-CA" dirty="0"/>
              <a:t>30 %MVC</a:t>
            </a:r>
          </a:p>
          <a:p>
            <a:r>
              <a:rPr lang="fr-CA" dirty="0" err="1"/>
              <a:t>Results</a:t>
            </a:r>
            <a:r>
              <a:rPr lang="fr-CA" dirty="0"/>
              <a:t> for </a:t>
            </a:r>
            <a:r>
              <a:rPr lang="fr-CA" dirty="0" err="1"/>
              <a:t>keeping</a:t>
            </a:r>
            <a:r>
              <a:rPr lang="fr-CA" dirty="0"/>
              <a:t> </a:t>
            </a:r>
            <a:r>
              <a:rPr lang="fr-CA" dirty="0" err="1"/>
              <a:t>density</a:t>
            </a:r>
            <a:r>
              <a:rPr lang="fr-CA" dirty="0"/>
              <a:t>, but </a:t>
            </a:r>
            <a:r>
              <a:rPr lang="fr-CA" dirty="0" err="1"/>
              <a:t>smaller</a:t>
            </a:r>
            <a:r>
              <a:rPr lang="fr-CA" dirty="0"/>
              <a:t> </a:t>
            </a:r>
            <a:r>
              <a:rPr lang="fr-CA" dirty="0" err="1"/>
              <a:t>grids</a:t>
            </a:r>
            <a:r>
              <a:rPr lang="fr-CA" dirty="0"/>
              <a:t> (i.e. </a:t>
            </a:r>
            <a:r>
              <a:rPr lang="fr-CA" dirty="0" err="1"/>
              <a:t>less</a:t>
            </a:r>
            <a:r>
              <a:rPr lang="fr-CA" dirty="0"/>
              <a:t> </a:t>
            </a:r>
            <a:r>
              <a:rPr lang="fr-CA" dirty="0" err="1"/>
              <a:t>electrodes</a:t>
            </a:r>
            <a:r>
              <a:rPr lang="fr-CA" dirty="0"/>
              <a:t>)</a:t>
            </a:r>
            <a:endParaRPr lang="en-US" dirty="0"/>
          </a:p>
        </p:txBody>
      </p:sp>
      <p:sp>
        <p:nvSpPr>
          <p:cNvPr id="4" name="Slide Number Placeholder 3">
            <a:extLst>
              <a:ext uri="{FF2B5EF4-FFF2-40B4-BE49-F238E27FC236}">
                <a16:creationId xmlns:a16="http://schemas.microsoft.com/office/drawing/2014/main" id="{EC9A60D3-2942-B532-7DF6-FA2426F82EF9}"/>
              </a:ext>
            </a:extLst>
          </p:cNvPr>
          <p:cNvSpPr>
            <a:spLocks noGrp="1"/>
          </p:cNvSpPr>
          <p:nvPr>
            <p:ph type="sldNum" sz="quarter" idx="5"/>
          </p:nvPr>
        </p:nvSpPr>
        <p:spPr/>
        <p:txBody>
          <a:bodyPr/>
          <a:lstStyle/>
          <a:p>
            <a:fld id="{5CD3C02A-94A9-4E52-835F-B6DB969C9D81}" type="slidenum">
              <a:rPr lang="en-US" smtClean="0"/>
              <a:t>28</a:t>
            </a:fld>
            <a:endParaRPr lang="en-US"/>
          </a:p>
        </p:txBody>
      </p:sp>
    </p:spTree>
    <p:extLst>
      <p:ext uri="{BB962C8B-B14F-4D97-AF65-F5344CB8AC3E}">
        <p14:creationId xmlns:p14="http://schemas.microsoft.com/office/powerpoint/2010/main" val="727247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BB49-6FE7-B9A5-44BA-42A2BAB9A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D55A0-031C-3987-BA01-867A79792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69B74-CE66-EE33-7086-BB6E61161C04}"/>
              </a:ext>
            </a:extLst>
          </p:cNvPr>
          <p:cNvSpPr>
            <a:spLocks noGrp="1"/>
          </p:cNvSpPr>
          <p:nvPr>
            <p:ph type="body" idx="1"/>
          </p:nvPr>
        </p:nvSpPr>
        <p:spPr/>
        <p:txBody>
          <a:bodyPr/>
          <a:lstStyle/>
          <a:p>
            <a:r>
              <a:rPr lang="fr-CA" dirty="0" err="1"/>
              <a:t>Same</a:t>
            </a:r>
            <a:r>
              <a:rPr lang="fr-CA" dirty="0"/>
              <a:t> </a:t>
            </a:r>
            <a:r>
              <a:rPr lang="fr-CA" dirty="0" err="1"/>
              <a:t>here</a:t>
            </a:r>
            <a:r>
              <a:rPr lang="fr-CA" dirty="0"/>
              <a:t> for 50% MVC for </a:t>
            </a:r>
            <a:r>
              <a:rPr lang="fr-CA" dirty="0" err="1"/>
              <a:t>density</a:t>
            </a:r>
            <a:endParaRPr lang="en-US" dirty="0"/>
          </a:p>
        </p:txBody>
      </p:sp>
      <p:sp>
        <p:nvSpPr>
          <p:cNvPr id="4" name="Slide Number Placeholder 3">
            <a:extLst>
              <a:ext uri="{FF2B5EF4-FFF2-40B4-BE49-F238E27FC236}">
                <a16:creationId xmlns:a16="http://schemas.microsoft.com/office/drawing/2014/main" id="{C8A625BB-2405-E8E4-E232-6739EB56A9C1}"/>
              </a:ext>
            </a:extLst>
          </p:cNvPr>
          <p:cNvSpPr>
            <a:spLocks noGrp="1"/>
          </p:cNvSpPr>
          <p:nvPr>
            <p:ph type="sldNum" sz="quarter" idx="5"/>
          </p:nvPr>
        </p:nvSpPr>
        <p:spPr/>
        <p:txBody>
          <a:bodyPr/>
          <a:lstStyle/>
          <a:p>
            <a:fld id="{5CD3C02A-94A9-4E52-835F-B6DB969C9D81}" type="slidenum">
              <a:rPr lang="en-US" smtClean="0"/>
              <a:t>29</a:t>
            </a:fld>
            <a:endParaRPr lang="en-US"/>
          </a:p>
        </p:txBody>
      </p:sp>
    </p:spTree>
    <p:extLst>
      <p:ext uri="{BB962C8B-B14F-4D97-AF65-F5344CB8AC3E}">
        <p14:creationId xmlns:p14="http://schemas.microsoft.com/office/powerpoint/2010/main" val="1064556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DC518-6947-AB0C-044E-1337C133F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7BB07-72B6-FA38-D877-B776CA59D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AFE02-C00C-C3B9-0408-4AD9AA690559}"/>
              </a:ext>
            </a:extLst>
          </p:cNvPr>
          <p:cNvSpPr>
            <a:spLocks noGrp="1"/>
          </p:cNvSpPr>
          <p:nvPr>
            <p:ph type="body" idx="1"/>
          </p:nvPr>
        </p:nvSpPr>
        <p:spPr/>
        <p:txBody>
          <a:bodyPr/>
          <a:lstStyle/>
          <a:p>
            <a:r>
              <a:rPr lang="fr-CA" dirty="0" err="1"/>
              <a:t>Same</a:t>
            </a:r>
            <a:r>
              <a:rPr lang="fr-CA" dirty="0"/>
              <a:t> </a:t>
            </a:r>
            <a:r>
              <a:rPr lang="fr-CA" dirty="0" err="1"/>
              <a:t>here</a:t>
            </a:r>
            <a:r>
              <a:rPr lang="fr-CA" dirty="0"/>
              <a:t> for 50% MVC for </a:t>
            </a:r>
            <a:r>
              <a:rPr lang="fr-CA" dirty="0" err="1"/>
              <a:t>same</a:t>
            </a:r>
            <a:r>
              <a:rPr lang="fr-CA" dirty="0"/>
              <a:t> </a:t>
            </a:r>
            <a:r>
              <a:rPr lang="fr-CA" dirty="0" err="1"/>
              <a:t>density</a:t>
            </a:r>
            <a:r>
              <a:rPr lang="fr-CA" dirty="0"/>
              <a:t> but </a:t>
            </a:r>
            <a:r>
              <a:rPr lang="fr-CA" dirty="0" err="1"/>
              <a:t>less</a:t>
            </a:r>
            <a:r>
              <a:rPr lang="fr-CA" dirty="0"/>
              <a:t> </a:t>
            </a:r>
            <a:r>
              <a:rPr lang="fr-CA" dirty="0" err="1"/>
              <a:t>coverage</a:t>
            </a:r>
            <a:endParaRPr lang="en-US" dirty="0"/>
          </a:p>
        </p:txBody>
      </p:sp>
      <p:sp>
        <p:nvSpPr>
          <p:cNvPr id="4" name="Slide Number Placeholder 3">
            <a:extLst>
              <a:ext uri="{FF2B5EF4-FFF2-40B4-BE49-F238E27FC236}">
                <a16:creationId xmlns:a16="http://schemas.microsoft.com/office/drawing/2014/main" id="{C6720262-32F0-BAA4-F4F4-198A3C9EACB8}"/>
              </a:ext>
            </a:extLst>
          </p:cNvPr>
          <p:cNvSpPr>
            <a:spLocks noGrp="1"/>
          </p:cNvSpPr>
          <p:nvPr>
            <p:ph type="sldNum" sz="quarter" idx="5"/>
          </p:nvPr>
        </p:nvSpPr>
        <p:spPr/>
        <p:txBody>
          <a:bodyPr/>
          <a:lstStyle/>
          <a:p>
            <a:fld id="{5CD3C02A-94A9-4E52-835F-B6DB969C9D81}" type="slidenum">
              <a:rPr lang="en-US" smtClean="0"/>
              <a:t>30</a:t>
            </a:fld>
            <a:endParaRPr lang="en-US"/>
          </a:p>
        </p:txBody>
      </p:sp>
    </p:spTree>
    <p:extLst>
      <p:ext uri="{BB962C8B-B14F-4D97-AF65-F5344CB8AC3E}">
        <p14:creationId xmlns:p14="http://schemas.microsoft.com/office/powerpoint/2010/main" val="37677637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16DFE-2E85-79CE-76A6-FDA5FDB1F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70F5F-8D20-85FD-C5C1-3AF79B437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3C89C-B5FD-6E1E-A5D9-5328BE750AFE}"/>
              </a:ext>
            </a:extLst>
          </p:cNvPr>
          <p:cNvSpPr>
            <a:spLocks noGrp="1"/>
          </p:cNvSpPr>
          <p:nvPr>
            <p:ph type="body" idx="1"/>
          </p:nvPr>
        </p:nvSpPr>
        <p:spPr/>
        <p:txBody>
          <a:bodyPr/>
          <a:lstStyle/>
          <a:p>
            <a:r>
              <a:rPr lang="fr-CA" dirty="0" err="1"/>
              <a:t>My</a:t>
            </a:r>
            <a:r>
              <a:rPr lang="fr-CA" dirty="0"/>
              <a:t> </a:t>
            </a:r>
            <a:r>
              <a:rPr lang="fr-CA" dirty="0" err="1"/>
              <a:t>analysis</a:t>
            </a:r>
            <a:r>
              <a:rPr lang="fr-CA" dirty="0"/>
              <a:t> of </a:t>
            </a:r>
            <a:r>
              <a:rPr lang="fr-CA" dirty="0" err="1"/>
              <a:t>this</a:t>
            </a:r>
            <a:r>
              <a:rPr lang="fr-CA" dirty="0"/>
              <a:t> article:</a:t>
            </a:r>
          </a:p>
          <a:p>
            <a:pPr marL="171450" indent="-171450">
              <a:buFontTx/>
              <a:buChar char="-"/>
            </a:pPr>
            <a:r>
              <a:rPr lang="fr-CA" dirty="0"/>
              <a:t>Very </a:t>
            </a:r>
            <a:r>
              <a:rPr lang="fr-CA" dirty="0" err="1"/>
              <a:t>complete</a:t>
            </a:r>
            <a:r>
              <a:rPr lang="fr-CA" dirty="0"/>
              <a:t> for the test of variable </a:t>
            </a:r>
            <a:r>
              <a:rPr lang="fr-CA" dirty="0" err="1"/>
              <a:t>parameters</a:t>
            </a:r>
            <a:endParaRPr lang="fr-CA" dirty="0"/>
          </a:p>
          <a:p>
            <a:pPr marL="0" indent="0">
              <a:buFontTx/>
              <a:buNone/>
            </a:pPr>
            <a:endParaRPr lang="en-US" dirty="0"/>
          </a:p>
          <a:p>
            <a:pPr marL="0" indent="0">
              <a:buFontTx/>
              <a:buNone/>
            </a:pPr>
            <a:r>
              <a:rPr lang="en-US" dirty="0"/>
              <a:t>But, in my opinion, 2 parameters are missing:</a:t>
            </a:r>
          </a:p>
          <a:p>
            <a:pPr marL="0" indent="0">
              <a:buFontTx/>
              <a:buNone/>
            </a:pPr>
            <a:r>
              <a:rPr lang="en-US" dirty="0"/>
              <a:t>1- The electrode grids do not make a whole revolution around the limb. Signals can be detected on the other side. That might add precision to the extraction</a:t>
            </a:r>
          </a:p>
          <a:p>
            <a:pPr marL="0" indent="0">
              <a:buFontTx/>
              <a:buNone/>
            </a:pPr>
            <a:r>
              <a:rPr lang="en-US" dirty="0"/>
              <a:t>2- Not all limbs have the same motor units. For example, leg muscles have more motor units related to low force and fatigue resistance for posture purposes, but the arm has more motor units related to dexterity movements (for the hand)</a:t>
            </a:r>
          </a:p>
        </p:txBody>
      </p:sp>
      <p:sp>
        <p:nvSpPr>
          <p:cNvPr id="4" name="Slide Number Placeholder 3">
            <a:extLst>
              <a:ext uri="{FF2B5EF4-FFF2-40B4-BE49-F238E27FC236}">
                <a16:creationId xmlns:a16="http://schemas.microsoft.com/office/drawing/2014/main" id="{1872E389-399A-4C9D-920D-4743C767927C}"/>
              </a:ext>
            </a:extLst>
          </p:cNvPr>
          <p:cNvSpPr>
            <a:spLocks noGrp="1"/>
          </p:cNvSpPr>
          <p:nvPr>
            <p:ph type="sldNum" sz="quarter" idx="5"/>
          </p:nvPr>
        </p:nvSpPr>
        <p:spPr/>
        <p:txBody>
          <a:bodyPr/>
          <a:lstStyle/>
          <a:p>
            <a:fld id="{5CD3C02A-94A9-4E52-835F-B6DB969C9D81}" type="slidenum">
              <a:rPr lang="en-US" smtClean="0"/>
              <a:t>31</a:t>
            </a:fld>
            <a:endParaRPr lang="en-US"/>
          </a:p>
        </p:txBody>
      </p:sp>
    </p:spTree>
    <p:extLst>
      <p:ext uri="{BB962C8B-B14F-4D97-AF65-F5344CB8AC3E}">
        <p14:creationId xmlns:p14="http://schemas.microsoft.com/office/powerpoint/2010/main" val="3686537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DEAF5-C9CB-BD91-158C-C0167F051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66739-8A99-55BA-F007-51390C0C2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0C9F4-5D70-8720-6C03-08BBE4319C61}"/>
              </a:ext>
            </a:extLst>
          </p:cNvPr>
          <p:cNvSpPr>
            <a:spLocks noGrp="1"/>
          </p:cNvSpPr>
          <p:nvPr>
            <p:ph type="body" idx="1"/>
          </p:nvPr>
        </p:nvSpPr>
        <p:spPr/>
        <p:txBody>
          <a:bodyPr/>
          <a:lstStyle/>
          <a:p>
            <a:r>
              <a:rPr lang="en-US" noProof="0" dirty="0"/>
              <a:t>Conclusion: Show applications where motor unit decomposition is/can be useful.</a:t>
            </a:r>
          </a:p>
          <a:p>
            <a:pPr marL="171450" indent="-171450">
              <a:buFontTx/>
              <a:buChar char="-"/>
            </a:pPr>
            <a:r>
              <a:rPr lang="en-US" noProof="0" dirty="0"/>
              <a:t>Prothesis: Motor units could be associated to certain movements. So, the extraction of the spike discharges could help make fine movement instead of “endpoint” movements</a:t>
            </a:r>
          </a:p>
          <a:p>
            <a:pPr marL="171450" indent="-171450">
              <a:buFontTx/>
              <a:buChar char="-"/>
            </a:pPr>
            <a:r>
              <a:rPr lang="en-US" noProof="0" dirty="0"/>
              <a:t>Rehabilitation: After injuries, monitoring of the motor units could help see if there any nerve damage of neuron damage</a:t>
            </a:r>
          </a:p>
          <a:p>
            <a:pPr marL="171450" indent="-171450">
              <a:buFontTx/>
              <a:buChar char="-"/>
            </a:pPr>
            <a:r>
              <a:rPr lang="en-US" noProof="0" dirty="0"/>
              <a:t>My favorite of the bunch: motor units can be used to diagnostic neuromuscular diseases earlier, since those type of diseases are influenced by anormal spike discharges.</a:t>
            </a:r>
          </a:p>
          <a:p>
            <a:pPr marL="171450" indent="-171450">
              <a:buFontTx/>
              <a:buChar char="-"/>
            </a:pPr>
            <a:endParaRPr lang="en-US" noProof="0" dirty="0"/>
          </a:p>
          <a:p>
            <a:pPr marL="171450" indent="-171450">
              <a:buFontTx/>
              <a:buChar char="-"/>
            </a:pPr>
            <a:r>
              <a:rPr lang="en-US" noProof="0" dirty="0"/>
              <a:t>Use my case as an example with essential tremors, where I’m always shaking when contracting muscles. With my master’s thesis, I am curious to compare my data with other without tremors</a:t>
            </a:r>
          </a:p>
        </p:txBody>
      </p:sp>
      <p:sp>
        <p:nvSpPr>
          <p:cNvPr id="4" name="Slide Number Placeholder 3">
            <a:extLst>
              <a:ext uri="{FF2B5EF4-FFF2-40B4-BE49-F238E27FC236}">
                <a16:creationId xmlns:a16="http://schemas.microsoft.com/office/drawing/2014/main" id="{E52E9E2C-CE05-BACE-0827-54C9F9A2221A}"/>
              </a:ext>
            </a:extLst>
          </p:cNvPr>
          <p:cNvSpPr>
            <a:spLocks noGrp="1"/>
          </p:cNvSpPr>
          <p:nvPr>
            <p:ph type="sldNum" sz="quarter" idx="5"/>
          </p:nvPr>
        </p:nvSpPr>
        <p:spPr/>
        <p:txBody>
          <a:bodyPr/>
          <a:lstStyle/>
          <a:p>
            <a:fld id="{5CD3C02A-94A9-4E52-835F-B6DB969C9D81}" type="slidenum">
              <a:rPr lang="en-US" smtClean="0"/>
              <a:t>32</a:t>
            </a:fld>
            <a:endParaRPr lang="en-US"/>
          </a:p>
        </p:txBody>
      </p:sp>
    </p:spTree>
    <p:extLst>
      <p:ext uri="{BB962C8B-B14F-4D97-AF65-F5344CB8AC3E}">
        <p14:creationId xmlns:p14="http://schemas.microsoft.com/office/powerpoint/2010/main" val="6465875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Laisser vide</a:t>
            </a:r>
            <a:endParaRPr lang="en-US" dirty="0"/>
          </a:p>
        </p:txBody>
      </p:sp>
      <p:sp>
        <p:nvSpPr>
          <p:cNvPr id="4" name="Slide Number Placeholder 3"/>
          <p:cNvSpPr>
            <a:spLocks noGrp="1"/>
          </p:cNvSpPr>
          <p:nvPr>
            <p:ph type="sldNum" sz="quarter" idx="5"/>
          </p:nvPr>
        </p:nvSpPr>
        <p:spPr/>
        <p:txBody>
          <a:bodyPr/>
          <a:lstStyle/>
          <a:p>
            <a:fld id="{5CD3C02A-94A9-4E52-835F-B6DB969C9D81}" type="slidenum">
              <a:rPr lang="en-US" smtClean="0"/>
              <a:t>33</a:t>
            </a:fld>
            <a:endParaRPr lang="en-US"/>
          </a:p>
        </p:txBody>
      </p:sp>
    </p:spTree>
    <p:extLst>
      <p:ext uri="{BB962C8B-B14F-4D97-AF65-F5344CB8AC3E}">
        <p14:creationId xmlns:p14="http://schemas.microsoft.com/office/powerpoint/2010/main" val="37180971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E065A-5675-FC91-3F31-AAD14B5B8360}"/>
              </a:ext>
            </a:extLst>
          </p:cNvPr>
          <p:cNvSpPr>
            <a:spLocks noGrp="1"/>
          </p:cNvSpPr>
          <p:nvPr>
            <p:ph type="ctrTitle"/>
          </p:nvPr>
        </p:nvSpPr>
        <p:spPr>
          <a:xfrm>
            <a:off x="3581400" y="1122363"/>
            <a:ext cx="7086600" cy="2975184"/>
          </a:xfrm>
        </p:spPr>
        <p:txBody>
          <a:bodyPr anchor="b"/>
          <a:lstStyle>
            <a:lvl1pPr algn="ctr">
              <a:defRPr sz="6000"/>
            </a:lvl1pPr>
          </a:lstStyle>
          <a:p>
            <a:r>
              <a:rPr lang="en-US" dirty="0"/>
              <a:t>Click to edit Master title style</a:t>
            </a:r>
            <a:endParaRPr lang="en-CA" dirty="0"/>
          </a:p>
        </p:txBody>
      </p:sp>
      <p:sp>
        <p:nvSpPr>
          <p:cNvPr id="3" name="Subtitle 2">
            <a:extLst>
              <a:ext uri="{FF2B5EF4-FFF2-40B4-BE49-F238E27FC236}">
                <a16:creationId xmlns:a16="http://schemas.microsoft.com/office/drawing/2014/main" id="{8E0FD5DB-1B71-6B4E-C597-6E58C76C4A3F}"/>
              </a:ext>
            </a:extLst>
          </p:cNvPr>
          <p:cNvSpPr>
            <a:spLocks noGrp="1"/>
          </p:cNvSpPr>
          <p:nvPr>
            <p:ph type="subTitle" idx="1"/>
          </p:nvPr>
        </p:nvSpPr>
        <p:spPr>
          <a:xfrm>
            <a:off x="3581398" y="4261450"/>
            <a:ext cx="7086601" cy="63835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7" name="Right Triangle 6">
            <a:extLst>
              <a:ext uri="{FF2B5EF4-FFF2-40B4-BE49-F238E27FC236}">
                <a16:creationId xmlns:a16="http://schemas.microsoft.com/office/drawing/2014/main" id="{228D7F17-E7CA-D342-ADB0-716D14ABF95E}"/>
              </a:ext>
            </a:extLst>
          </p:cNvPr>
          <p:cNvSpPr/>
          <p:nvPr userDrawn="1"/>
        </p:nvSpPr>
        <p:spPr>
          <a:xfrm rot="13500000">
            <a:off x="-2256760" y="1067661"/>
            <a:ext cx="4495933" cy="4495933"/>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Google Shape;102;p1">
            <a:extLst>
              <a:ext uri="{FF2B5EF4-FFF2-40B4-BE49-F238E27FC236}">
                <a16:creationId xmlns:a16="http://schemas.microsoft.com/office/drawing/2014/main" id="{7736259A-2155-3A05-E879-8E5D8769598E}"/>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14" name="Google Shape;101;p1">
            <a:extLst>
              <a:ext uri="{FF2B5EF4-FFF2-40B4-BE49-F238E27FC236}">
                <a16:creationId xmlns:a16="http://schemas.microsoft.com/office/drawing/2014/main" id="{14E29151-F5AC-D6F0-5348-2DDDDEE15171}"/>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15" name="Freeform: Shape 14">
            <a:extLst>
              <a:ext uri="{FF2B5EF4-FFF2-40B4-BE49-F238E27FC236}">
                <a16:creationId xmlns:a16="http://schemas.microsoft.com/office/drawing/2014/main" id="{47723FEE-7BEA-EA6E-D5EC-F81D7D5A1E24}"/>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Freeform: Shape 15">
            <a:extLst>
              <a:ext uri="{FF2B5EF4-FFF2-40B4-BE49-F238E27FC236}">
                <a16:creationId xmlns:a16="http://schemas.microsoft.com/office/drawing/2014/main" id="{32011481-34B9-F126-1BA7-0476936B3687}"/>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83263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imple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190D-F682-511E-AB2C-E56E8201F556}"/>
              </a:ext>
            </a:extLst>
          </p:cNvPr>
          <p:cNvSpPr>
            <a:spLocks noGrp="1"/>
          </p:cNvSpPr>
          <p:nvPr>
            <p:ph type="title"/>
          </p:nvPr>
        </p:nvSpPr>
        <p:spPr>
          <a:xfrm>
            <a:off x="1397479" y="365125"/>
            <a:ext cx="9256144" cy="1325563"/>
          </a:xfrm>
        </p:spPr>
        <p:txBody>
          <a:body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FF8A8265-D6DC-BF6D-85FA-E42E030777A8}"/>
              </a:ext>
            </a:extLst>
          </p:cNvPr>
          <p:cNvSpPr>
            <a:spLocks noGrp="1"/>
          </p:cNvSpPr>
          <p:nvPr>
            <p:ph idx="1"/>
          </p:nvPr>
        </p:nvSpPr>
        <p:spPr>
          <a:xfrm>
            <a:off x="1397479" y="1825625"/>
            <a:ext cx="9256144"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ight Triangle 6">
            <a:extLst>
              <a:ext uri="{FF2B5EF4-FFF2-40B4-BE49-F238E27FC236}">
                <a16:creationId xmlns:a16="http://schemas.microsoft.com/office/drawing/2014/main" id="{5ACFC950-D753-DFB9-9779-ECAC1683F41F}"/>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Freeform: Shape 7">
            <a:extLst>
              <a:ext uri="{FF2B5EF4-FFF2-40B4-BE49-F238E27FC236}">
                <a16:creationId xmlns:a16="http://schemas.microsoft.com/office/drawing/2014/main" id="{50C92444-EC3B-3CE5-6871-D8969E2A06F7}"/>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Freeform: Shape 8">
            <a:extLst>
              <a:ext uri="{FF2B5EF4-FFF2-40B4-BE49-F238E27FC236}">
                <a16:creationId xmlns:a16="http://schemas.microsoft.com/office/drawing/2014/main" id="{F4FDB794-04A0-CC33-A618-F40C2D4A7192}"/>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 name="Google Shape;102;p1">
            <a:extLst>
              <a:ext uri="{FF2B5EF4-FFF2-40B4-BE49-F238E27FC236}">
                <a16:creationId xmlns:a16="http://schemas.microsoft.com/office/drawing/2014/main" id="{C6F84729-8C7B-256A-74AA-272229A8701F}"/>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5" name="Google Shape;101;p1">
            <a:extLst>
              <a:ext uri="{FF2B5EF4-FFF2-40B4-BE49-F238E27FC236}">
                <a16:creationId xmlns:a16="http://schemas.microsoft.com/office/drawing/2014/main" id="{C4A09761-B03F-554A-348A-463573F24C33}"/>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6" name="Slide Number Placeholder 5">
            <a:extLst>
              <a:ext uri="{FF2B5EF4-FFF2-40B4-BE49-F238E27FC236}">
                <a16:creationId xmlns:a16="http://schemas.microsoft.com/office/drawing/2014/main" id="{DE0935A5-A0D5-F2C9-C2C5-CDF31FC052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4148017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190D-F682-511E-AB2C-E56E8201F556}"/>
              </a:ext>
            </a:extLst>
          </p:cNvPr>
          <p:cNvSpPr>
            <a:spLocks noGrp="1"/>
          </p:cNvSpPr>
          <p:nvPr>
            <p:ph type="title"/>
          </p:nvPr>
        </p:nvSpPr>
        <p:spPr>
          <a:xfrm>
            <a:off x="1397479" y="365125"/>
            <a:ext cx="9256144" cy="1325563"/>
          </a:xfrm>
        </p:spPr>
        <p:txBody>
          <a:bodyPr/>
          <a:lstStyle/>
          <a:p>
            <a:r>
              <a:rPr lang="en-US" dirty="0"/>
              <a:t>Click to edit Master title style</a:t>
            </a:r>
            <a:endParaRPr lang="en-CA" dirty="0"/>
          </a:p>
        </p:txBody>
      </p:sp>
      <p:sp>
        <p:nvSpPr>
          <p:cNvPr id="10" name="Online Image Placeholder 9">
            <a:extLst>
              <a:ext uri="{FF2B5EF4-FFF2-40B4-BE49-F238E27FC236}">
                <a16:creationId xmlns:a16="http://schemas.microsoft.com/office/drawing/2014/main" id="{D2BD2FEA-4227-0367-3F81-6F16D3F2A15E}"/>
              </a:ext>
            </a:extLst>
          </p:cNvPr>
          <p:cNvSpPr>
            <a:spLocks noGrp="1"/>
          </p:cNvSpPr>
          <p:nvPr>
            <p:ph type="clipArt" sz="quarter" idx="10"/>
          </p:nvPr>
        </p:nvSpPr>
        <p:spPr>
          <a:xfrm>
            <a:off x="1397479" y="1915065"/>
            <a:ext cx="9256144" cy="3915824"/>
          </a:xfrm>
        </p:spPr>
        <p:txBody>
          <a:bodyPr/>
          <a:lstStyle/>
          <a:p>
            <a:endParaRPr lang="en-US"/>
          </a:p>
        </p:txBody>
      </p:sp>
      <p:sp>
        <p:nvSpPr>
          <p:cNvPr id="11" name="Right Triangle 10">
            <a:extLst>
              <a:ext uri="{FF2B5EF4-FFF2-40B4-BE49-F238E27FC236}">
                <a16:creationId xmlns:a16="http://schemas.microsoft.com/office/drawing/2014/main" id="{DC68526F-3176-767D-0C3F-589AA2C268B6}"/>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Freeform: Shape 11">
            <a:extLst>
              <a:ext uri="{FF2B5EF4-FFF2-40B4-BE49-F238E27FC236}">
                <a16:creationId xmlns:a16="http://schemas.microsoft.com/office/drawing/2014/main" id="{B630476C-19AD-149E-AE8D-FF5A90C650B7}"/>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Shape 12">
            <a:extLst>
              <a:ext uri="{FF2B5EF4-FFF2-40B4-BE49-F238E27FC236}">
                <a16:creationId xmlns:a16="http://schemas.microsoft.com/office/drawing/2014/main" id="{FB604135-A875-835C-5E0B-64FF791CAC0B}"/>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oogle Shape;102;p1">
            <a:extLst>
              <a:ext uri="{FF2B5EF4-FFF2-40B4-BE49-F238E27FC236}">
                <a16:creationId xmlns:a16="http://schemas.microsoft.com/office/drawing/2014/main" id="{983F88DD-28C9-3900-4B71-A8132135C9D0}"/>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15" name="Google Shape;101;p1">
            <a:extLst>
              <a:ext uri="{FF2B5EF4-FFF2-40B4-BE49-F238E27FC236}">
                <a16:creationId xmlns:a16="http://schemas.microsoft.com/office/drawing/2014/main" id="{6486F39D-62A5-D23A-B340-FCEF768AB5FC}"/>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5" name="Slide Number Placeholder 5">
            <a:extLst>
              <a:ext uri="{FF2B5EF4-FFF2-40B4-BE49-F238E27FC236}">
                <a16:creationId xmlns:a16="http://schemas.microsoft.com/office/drawing/2014/main" id="{D0EB6439-0330-F6FA-A92A-852E017E35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1502477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And_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190D-F682-511E-AB2C-E56E8201F556}"/>
              </a:ext>
            </a:extLst>
          </p:cNvPr>
          <p:cNvSpPr>
            <a:spLocks noGrp="1"/>
          </p:cNvSpPr>
          <p:nvPr>
            <p:ph type="title"/>
          </p:nvPr>
        </p:nvSpPr>
        <p:spPr>
          <a:xfrm>
            <a:off x="1397479" y="365125"/>
            <a:ext cx="9256144" cy="1325563"/>
          </a:xfrm>
        </p:spPr>
        <p:txBody>
          <a:body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FF8A8265-D6DC-BF6D-85FA-E42E030777A8}"/>
              </a:ext>
            </a:extLst>
          </p:cNvPr>
          <p:cNvSpPr>
            <a:spLocks noGrp="1"/>
          </p:cNvSpPr>
          <p:nvPr>
            <p:ph idx="1"/>
          </p:nvPr>
        </p:nvSpPr>
        <p:spPr>
          <a:xfrm>
            <a:off x="1397479" y="1825625"/>
            <a:ext cx="439947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Picture Placeholder 9">
            <a:extLst>
              <a:ext uri="{FF2B5EF4-FFF2-40B4-BE49-F238E27FC236}">
                <a16:creationId xmlns:a16="http://schemas.microsoft.com/office/drawing/2014/main" id="{8C52A4DD-2602-4C1C-4E3E-F02623B24A55}"/>
              </a:ext>
            </a:extLst>
          </p:cNvPr>
          <p:cNvSpPr>
            <a:spLocks noGrp="1"/>
          </p:cNvSpPr>
          <p:nvPr>
            <p:ph type="pic" sz="quarter" idx="10"/>
          </p:nvPr>
        </p:nvSpPr>
        <p:spPr>
          <a:xfrm>
            <a:off x="5949860" y="1825625"/>
            <a:ext cx="4703763" cy="4351338"/>
          </a:xfrm>
        </p:spPr>
        <p:txBody>
          <a:bodyPr/>
          <a:lstStyle/>
          <a:p>
            <a:endParaRPr lang="en-US"/>
          </a:p>
        </p:txBody>
      </p:sp>
      <p:sp>
        <p:nvSpPr>
          <p:cNvPr id="16" name="Right Triangle 15">
            <a:extLst>
              <a:ext uri="{FF2B5EF4-FFF2-40B4-BE49-F238E27FC236}">
                <a16:creationId xmlns:a16="http://schemas.microsoft.com/office/drawing/2014/main" id="{247D5D0E-4D44-71C0-9400-8932F2943CBC}"/>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Freeform: Shape 16">
            <a:extLst>
              <a:ext uri="{FF2B5EF4-FFF2-40B4-BE49-F238E27FC236}">
                <a16:creationId xmlns:a16="http://schemas.microsoft.com/office/drawing/2014/main" id="{A2FC7620-FB18-019D-B041-286087248A4F}"/>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Freeform: Shape 17">
            <a:extLst>
              <a:ext uri="{FF2B5EF4-FFF2-40B4-BE49-F238E27FC236}">
                <a16:creationId xmlns:a16="http://schemas.microsoft.com/office/drawing/2014/main" id="{0C5A3ED5-2D1D-E90E-819C-BE5119DA2180}"/>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9" name="Google Shape;102;p1">
            <a:extLst>
              <a:ext uri="{FF2B5EF4-FFF2-40B4-BE49-F238E27FC236}">
                <a16:creationId xmlns:a16="http://schemas.microsoft.com/office/drawing/2014/main" id="{AD986B78-4053-997D-B7A3-7EB96B0ACD80}"/>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20" name="Google Shape;101;p1">
            <a:extLst>
              <a:ext uri="{FF2B5EF4-FFF2-40B4-BE49-F238E27FC236}">
                <a16:creationId xmlns:a16="http://schemas.microsoft.com/office/drawing/2014/main" id="{F5AF544C-F08B-CEC0-A5E3-62DBFDC6226C}"/>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11" name="Slide Number Placeholder 5">
            <a:extLst>
              <a:ext uri="{FF2B5EF4-FFF2-40B4-BE49-F238E27FC236}">
                <a16:creationId xmlns:a16="http://schemas.microsoft.com/office/drawing/2014/main" id="{7C62A165-EF7E-BC34-05B2-D9C5F885A5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3266761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2_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190D-F682-511E-AB2C-E56E8201F556}"/>
              </a:ext>
            </a:extLst>
          </p:cNvPr>
          <p:cNvSpPr>
            <a:spLocks noGrp="1"/>
          </p:cNvSpPr>
          <p:nvPr>
            <p:ph type="title"/>
          </p:nvPr>
        </p:nvSpPr>
        <p:spPr>
          <a:xfrm>
            <a:off x="1397479" y="365125"/>
            <a:ext cx="9256144" cy="1325563"/>
          </a:xfrm>
        </p:spPr>
        <p:txBody>
          <a:body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FF8A8265-D6DC-BF6D-85FA-E42E030777A8}"/>
              </a:ext>
            </a:extLst>
          </p:cNvPr>
          <p:cNvSpPr>
            <a:spLocks noGrp="1"/>
          </p:cNvSpPr>
          <p:nvPr>
            <p:ph idx="1"/>
          </p:nvPr>
        </p:nvSpPr>
        <p:spPr>
          <a:xfrm>
            <a:off x="1397479" y="1825625"/>
            <a:ext cx="4399472"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16" name="Right Triangle 15">
            <a:extLst>
              <a:ext uri="{FF2B5EF4-FFF2-40B4-BE49-F238E27FC236}">
                <a16:creationId xmlns:a16="http://schemas.microsoft.com/office/drawing/2014/main" id="{247D5D0E-4D44-71C0-9400-8932F2943CBC}"/>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Freeform: Shape 16">
            <a:extLst>
              <a:ext uri="{FF2B5EF4-FFF2-40B4-BE49-F238E27FC236}">
                <a16:creationId xmlns:a16="http://schemas.microsoft.com/office/drawing/2014/main" id="{A2FC7620-FB18-019D-B041-286087248A4F}"/>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Freeform: Shape 17">
            <a:extLst>
              <a:ext uri="{FF2B5EF4-FFF2-40B4-BE49-F238E27FC236}">
                <a16:creationId xmlns:a16="http://schemas.microsoft.com/office/drawing/2014/main" id="{0C5A3ED5-2D1D-E90E-819C-BE5119DA2180}"/>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9" name="Google Shape;102;p1">
            <a:extLst>
              <a:ext uri="{FF2B5EF4-FFF2-40B4-BE49-F238E27FC236}">
                <a16:creationId xmlns:a16="http://schemas.microsoft.com/office/drawing/2014/main" id="{AD986B78-4053-997D-B7A3-7EB96B0ACD80}"/>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20" name="Google Shape;101;p1">
            <a:extLst>
              <a:ext uri="{FF2B5EF4-FFF2-40B4-BE49-F238E27FC236}">
                <a16:creationId xmlns:a16="http://schemas.microsoft.com/office/drawing/2014/main" id="{F5AF544C-F08B-CEC0-A5E3-62DBFDC6226C}"/>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6" name="Content Placeholder 2">
            <a:extLst>
              <a:ext uri="{FF2B5EF4-FFF2-40B4-BE49-F238E27FC236}">
                <a16:creationId xmlns:a16="http://schemas.microsoft.com/office/drawing/2014/main" id="{7DF740FA-5F11-150D-EDEE-3508AC2C5830}"/>
              </a:ext>
            </a:extLst>
          </p:cNvPr>
          <p:cNvSpPr>
            <a:spLocks noGrp="1"/>
          </p:cNvSpPr>
          <p:nvPr>
            <p:ph idx="11"/>
          </p:nvPr>
        </p:nvSpPr>
        <p:spPr>
          <a:xfrm>
            <a:off x="6254151" y="1825625"/>
            <a:ext cx="4399472"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8" name="Slide Number Placeholder 5">
            <a:extLst>
              <a:ext uri="{FF2B5EF4-FFF2-40B4-BE49-F238E27FC236}">
                <a16:creationId xmlns:a16="http://schemas.microsoft.com/office/drawing/2014/main" id="{B18AF2DC-85AC-CDC8-148D-0790E83223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340446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Empty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190D-F682-511E-AB2C-E56E8201F556}"/>
              </a:ext>
            </a:extLst>
          </p:cNvPr>
          <p:cNvSpPr>
            <a:spLocks noGrp="1"/>
          </p:cNvSpPr>
          <p:nvPr>
            <p:ph type="title"/>
          </p:nvPr>
        </p:nvSpPr>
        <p:spPr>
          <a:xfrm>
            <a:off x="1397479" y="365125"/>
            <a:ext cx="9256144" cy="1325563"/>
          </a:xfrm>
        </p:spPr>
        <p:txBody>
          <a:bodyPr/>
          <a:lstStyle/>
          <a:p>
            <a:r>
              <a:rPr lang="en-US" dirty="0"/>
              <a:t>Click to edit Master title style</a:t>
            </a:r>
            <a:endParaRPr lang="en-CA" dirty="0"/>
          </a:p>
        </p:txBody>
      </p:sp>
      <p:sp>
        <p:nvSpPr>
          <p:cNvPr id="6" name="Right Triangle 5">
            <a:extLst>
              <a:ext uri="{FF2B5EF4-FFF2-40B4-BE49-F238E27FC236}">
                <a16:creationId xmlns:a16="http://schemas.microsoft.com/office/drawing/2014/main" id="{056CCD09-8C97-80F4-3A87-B748C2C53E43}"/>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Freeform: Shape 9">
            <a:extLst>
              <a:ext uri="{FF2B5EF4-FFF2-40B4-BE49-F238E27FC236}">
                <a16:creationId xmlns:a16="http://schemas.microsoft.com/office/drawing/2014/main" id="{4CD575C9-2B3D-0A7C-1E6A-F930BC8B3D68}"/>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Freeform: Shape 10">
            <a:extLst>
              <a:ext uri="{FF2B5EF4-FFF2-40B4-BE49-F238E27FC236}">
                <a16:creationId xmlns:a16="http://schemas.microsoft.com/office/drawing/2014/main" id="{040511BE-0747-29E6-ACE5-CB4A28D146D6}"/>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Google Shape;102;p1">
            <a:extLst>
              <a:ext uri="{FF2B5EF4-FFF2-40B4-BE49-F238E27FC236}">
                <a16:creationId xmlns:a16="http://schemas.microsoft.com/office/drawing/2014/main" id="{0BB4A561-3E81-67FA-0556-A0C00AFF606C}"/>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13" name="Google Shape;101;p1">
            <a:extLst>
              <a:ext uri="{FF2B5EF4-FFF2-40B4-BE49-F238E27FC236}">
                <a16:creationId xmlns:a16="http://schemas.microsoft.com/office/drawing/2014/main" id="{67AF2E16-3B87-74F4-56AD-A3900BC733FB}"/>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4" name="Slide Number Placeholder 5">
            <a:extLst>
              <a:ext uri="{FF2B5EF4-FFF2-40B4-BE49-F238E27FC236}">
                <a16:creationId xmlns:a16="http://schemas.microsoft.com/office/drawing/2014/main" id="{EBAF17C0-5FA7-2F33-8298-CA149EFA97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41924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ly_Slide">
    <p:spTree>
      <p:nvGrpSpPr>
        <p:cNvPr id="1" name=""/>
        <p:cNvGrpSpPr/>
        <p:nvPr/>
      </p:nvGrpSpPr>
      <p:grpSpPr>
        <a:xfrm>
          <a:off x="0" y="0"/>
          <a:ext cx="0" cy="0"/>
          <a:chOff x="0" y="0"/>
          <a:chExt cx="0" cy="0"/>
        </a:xfrm>
      </p:grpSpPr>
      <p:sp>
        <p:nvSpPr>
          <p:cNvPr id="6" name="Right Triangle 5">
            <a:extLst>
              <a:ext uri="{FF2B5EF4-FFF2-40B4-BE49-F238E27FC236}">
                <a16:creationId xmlns:a16="http://schemas.microsoft.com/office/drawing/2014/main" id="{87B7ED9D-ADC4-9DE6-902B-C33C0CD5244A}"/>
              </a:ext>
            </a:extLst>
          </p:cNvPr>
          <p:cNvSpPr/>
          <p:nvPr userDrawn="1"/>
        </p:nvSpPr>
        <p:spPr>
          <a:xfrm rot="5400000">
            <a:off x="-12791" y="-6742"/>
            <a:ext cx="1684730" cy="1684730"/>
          </a:xfrm>
          <a:prstGeom prst="rtTriangle">
            <a:avLst/>
          </a:pr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Freeform: Shape 9">
            <a:extLst>
              <a:ext uri="{FF2B5EF4-FFF2-40B4-BE49-F238E27FC236}">
                <a16:creationId xmlns:a16="http://schemas.microsoft.com/office/drawing/2014/main" id="{F90D1A08-3C4E-621B-9834-396DEFDEFA71}"/>
              </a:ext>
            </a:extLst>
          </p:cNvPr>
          <p:cNvSpPr/>
          <p:nvPr userDrawn="1"/>
        </p:nvSpPr>
        <p:spPr>
          <a:xfrm>
            <a:off x="10440882" y="-270"/>
            <a:ext cx="1759744" cy="1114425"/>
          </a:xfrm>
          <a:custGeom>
            <a:avLst/>
            <a:gdLst>
              <a:gd name="csX0" fmla="*/ 0 w 1759744"/>
              <a:gd name="csY0" fmla="*/ 0 h 1114425"/>
              <a:gd name="csX1" fmla="*/ 1114425 w 1759744"/>
              <a:gd name="csY1" fmla="*/ 1114425 h 1114425"/>
              <a:gd name="csX2" fmla="*/ 1759744 w 1759744"/>
              <a:gd name="csY2" fmla="*/ 469106 h 1114425"/>
              <a:gd name="csX3" fmla="*/ 1759744 w 1759744"/>
              <a:gd name="csY3" fmla="*/ 2381 h 1114425"/>
              <a:gd name="csX4" fmla="*/ 0 w 1759744"/>
              <a:gd name="csY4" fmla="*/ 0 h 1114425"/>
            </a:gdLst>
            <a:ahLst/>
            <a:cxnLst>
              <a:cxn ang="0">
                <a:pos x="csX0" y="csY0"/>
              </a:cxn>
              <a:cxn ang="0">
                <a:pos x="csX1" y="csY1"/>
              </a:cxn>
              <a:cxn ang="0">
                <a:pos x="csX2" y="csY2"/>
              </a:cxn>
              <a:cxn ang="0">
                <a:pos x="csX3" y="csY3"/>
              </a:cxn>
              <a:cxn ang="0">
                <a:pos x="csX4" y="csY4"/>
              </a:cxn>
            </a:cxnLst>
            <a:rect l="l" t="t" r="r" b="b"/>
            <a:pathLst>
              <a:path w="1759744" h="1114425">
                <a:moveTo>
                  <a:pt x="0" y="0"/>
                </a:moveTo>
                <a:lnTo>
                  <a:pt x="1114425" y="1114425"/>
                </a:lnTo>
                <a:lnTo>
                  <a:pt x="1759744" y="469106"/>
                </a:lnTo>
                <a:lnTo>
                  <a:pt x="1759744" y="2381"/>
                </a:lnTo>
                <a:lnTo>
                  <a:pt x="0" y="0"/>
                </a:lnTo>
                <a:close/>
              </a:path>
            </a:pathLst>
          </a:custGeom>
          <a:solidFill>
            <a:srgbClr val="F1BB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Freeform: Shape 10">
            <a:extLst>
              <a:ext uri="{FF2B5EF4-FFF2-40B4-BE49-F238E27FC236}">
                <a16:creationId xmlns:a16="http://schemas.microsoft.com/office/drawing/2014/main" id="{1E1D6C17-0689-F85E-5E97-AC72F7789216}"/>
              </a:ext>
            </a:extLst>
          </p:cNvPr>
          <p:cNvSpPr/>
          <p:nvPr userDrawn="1"/>
        </p:nvSpPr>
        <p:spPr>
          <a:xfrm>
            <a:off x="10100364" y="5063707"/>
            <a:ext cx="2100262" cy="1809750"/>
          </a:xfrm>
          <a:custGeom>
            <a:avLst/>
            <a:gdLst>
              <a:gd name="csX0" fmla="*/ 0 w 2100262"/>
              <a:gd name="csY0" fmla="*/ 1809750 h 1809750"/>
              <a:gd name="csX1" fmla="*/ 1809750 w 2100262"/>
              <a:gd name="csY1" fmla="*/ 0 h 1809750"/>
              <a:gd name="csX2" fmla="*/ 2100262 w 2100262"/>
              <a:gd name="csY2" fmla="*/ 290512 h 1809750"/>
              <a:gd name="csX3" fmla="*/ 2100262 w 2100262"/>
              <a:gd name="csY3" fmla="*/ 1804987 h 1809750"/>
              <a:gd name="csX4" fmla="*/ 14287 w 2100262"/>
              <a:gd name="csY4" fmla="*/ 1804987 h 1809750"/>
              <a:gd name="csX5" fmla="*/ 1809750 w 2100262"/>
              <a:gd name="csY5" fmla="*/ 9524 h 1809750"/>
              <a:gd name="csX6" fmla="*/ 1809750 w 2100262"/>
              <a:gd name="csY6" fmla="*/ 9524 h 1809750"/>
              <a:gd name="csX7" fmla="*/ 0 w 2100262"/>
              <a:gd name="csY7" fmla="*/ 180975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00262" h="1809750">
                <a:moveTo>
                  <a:pt x="0" y="1809750"/>
                </a:moveTo>
                <a:lnTo>
                  <a:pt x="1809750" y="0"/>
                </a:lnTo>
                <a:lnTo>
                  <a:pt x="2100262" y="290512"/>
                </a:lnTo>
                <a:lnTo>
                  <a:pt x="2100262" y="1804987"/>
                </a:lnTo>
                <a:lnTo>
                  <a:pt x="14287" y="1804987"/>
                </a:lnTo>
                <a:lnTo>
                  <a:pt x="1809750" y="9524"/>
                </a:lnTo>
                <a:lnTo>
                  <a:pt x="1809750" y="9524"/>
                </a:lnTo>
                <a:lnTo>
                  <a:pt x="0" y="1809750"/>
                </a:lnTo>
                <a:close/>
              </a:path>
            </a:pathLst>
          </a:custGeom>
          <a:solidFill>
            <a:srgbClr val="102E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Google Shape;102;p1">
            <a:extLst>
              <a:ext uri="{FF2B5EF4-FFF2-40B4-BE49-F238E27FC236}">
                <a16:creationId xmlns:a16="http://schemas.microsoft.com/office/drawing/2014/main" id="{E9841F40-2EEF-5061-BEFF-DD39CD261494}"/>
              </a:ext>
            </a:extLst>
          </p:cNvPr>
          <p:cNvPicPr preferRelativeResize="0"/>
          <p:nvPr userDrawn="1"/>
        </p:nvPicPr>
        <p:blipFill rotWithShape="1">
          <a:blip r:embed="rId2">
            <a:alphaModFix/>
          </a:blip>
          <a:srcRect/>
          <a:stretch/>
        </p:blipFill>
        <p:spPr>
          <a:xfrm>
            <a:off x="2144545" y="6131419"/>
            <a:ext cx="1300096" cy="590059"/>
          </a:xfrm>
          <a:prstGeom prst="rect">
            <a:avLst/>
          </a:prstGeom>
          <a:noFill/>
          <a:ln>
            <a:noFill/>
          </a:ln>
        </p:spPr>
      </p:pic>
      <p:pic>
        <p:nvPicPr>
          <p:cNvPr id="13" name="Google Shape;101;p1">
            <a:extLst>
              <a:ext uri="{FF2B5EF4-FFF2-40B4-BE49-F238E27FC236}">
                <a16:creationId xmlns:a16="http://schemas.microsoft.com/office/drawing/2014/main" id="{FAD21B16-1D07-A325-1339-9E91223DDD1D}"/>
              </a:ext>
            </a:extLst>
          </p:cNvPr>
          <p:cNvPicPr preferRelativeResize="0"/>
          <p:nvPr userDrawn="1"/>
        </p:nvPicPr>
        <p:blipFill rotWithShape="1">
          <a:blip r:embed="rId3">
            <a:alphaModFix/>
          </a:blip>
          <a:srcRect/>
          <a:stretch/>
        </p:blipFill>
        <p:spPr>
          <a:xfrm>
            <a:off x="552082" y="6199703"/>
            <a:ext cx="1429300" cy="590059"/>
          </a:xfrm>
          <a:prstGeom prst="rect">
            <a:avLst/>
          </a:prstGeom>
          <a:noFill/>
          <a:ln>
            <a:noFill/>
          </a:ln>
        </p:spPr>
      </p:pic>
      <p:sp>
        <p:nvSpPr>
          <p:cNvPr id="3" name="Slide Number Placeholder 5">
            <a:extLst>
              <a:ext uri="{FF2B5EF4-FFF2-40B4-BE49-F238E27FC236}">
                <a16:creationId xmlns:a16="http://schemas.microsoft.com/office/drawing/2014/main" id="{1A1B4779-5B8A-6D8E-3A62-249106589D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0DE7A7E6-4794-48E8-A5E1-2E8F8499B315}" type="slidenum">
              <a:rPr lang="en-CA" smtClean="0"/>
              <a:pPr/>
              <a:t>‹#›</a:t>
            </a:fld>
            <a:endParaRPr lang="en-CA" dirty="0">
              <a:solidFill>
                <a:schemeClr val="bg1"/>
              </a:solidFill>
            </a:endParaRPr>
          </a:p>
        </p:txBody>
      </p:sp>
    </p:spTree>
    <p:extLst>
      <p:ext uri="{BB962C8B-B14F-4D97-AF65-F5344CB8AC3E}">
        <p14:creationId xmlns:p14="http://schemas.microsoft.com/office/powerpoint/2010/main" val="3834885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17B0A9-3C94-3B32-9486-075DA69C0A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A92A749-D7E4-884C-A159-BC8ECE4770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AF49EC9-0BEC-D76D-DB70-0F08AE69A3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CA"/>
          </a:p>
        </p:txBody>
      </p:sp>
      <p:sp>
        <p:nvSpPr>
          <p:cNvPr id="5" name="Footer Placeholder 4">
            <a:extLst>
              <a:ext uri="{FF2B5EF4-FFF2-40B4-BE49-F238E27FC236}">
                <a16:creationId xmlns:a16="http://schemas.microsoft.com/office/drawing/2014/main" id="{CBB58180-9FEA-000D-6CCA-C5E2ADD9B5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4AC66671-0617-A66C-4498-98ED656BE4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E7A7E6-4794-48E8-A5E1-2E8F8499B315}" type="slidenum">
              <a:rPr lang="en-CA" smtClean="0"/>
              <a:t>‹#›</a:t>
            </a:fld>
            <a:endParaRPr lang="en-CA"/>
          </a:p>
        </p:txBody>
      </p:sp>
    </p:spTree>
    <p:extLst>
      <p:ext uri="{BB962C8B-B14F-4D97-AF65-F5344CB8AC3E}">
        <p14:creationId xmlns:p14="http://schemas.microsoft.com/office/powerpoint/2010/main" val="76185192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701" r:id="rId3"/>
    <p:sldLayoutId id="2147483698" r:id="rId4"/>
    <p:sldLayoutId id="2147483702" r:id="rId5"/>
    <p:sldLayoutId id="2147483700" r:id="rId6"/>
    <p:sldLayoutId id="2147483699"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78DA0-819E-AB54-1E7C-6E0A421AA59C}"/>
              </a:ext>
            </a:extLst>
          </p:cNvPr>
          <p:cNvSpPr>
            <a:spLocks noGrp="1"/>
          </p:cNvSpPr>
          <p:nvPr>
            <p:ph type="ctrTitle"/>
          </p:nvPr>
        </p:nvSpPr>
        <p:spPr>
          <a:xfrm>
            <a:off x="3581400" y="1122363"/>
            <a:ext cx="7452360" cy="2975184"/>
          </a:xfrm>
        </p:spPr>
        <p:txBody>
          <a:bodyPr>
            <a:normAutofit fontScale="90000"/>
          </a:bodyPr>
          <a:lstStyle/>
          <a:p>
            <a:r>
              <a:rPr lang="en-US" noProof="0" dirty="0"/>
              <a:t>Understanding motor units and their role in electromyographic signals</a:t>
            </a:r>
          </a:p>
        </p:txBody>
      </p:sp>
      <p:sp>
        <p:nvSpPr>
          <p:cNvPr id="3" name="Subtitle 2">
            <a:extLst>
              <a:ext uri="{FF2B5EF4-FFF2-40B4-BE49-F238E27FC236}">
                <a16:creationId xmlns:a16="http://schemas.microsoft.com/office/drawing/2014/main" id="{3EEFD950-FE96-2C25-4CDC-D891EFCFA396}"/>
              </a:ext>
            </a:extLst>
          </p:cNvPr>
          <p:cNvSpPr>
            <a:spLocks noGrp="1"/>
          </p:cNvSpPr>
          <p:nvPr>
            <p:ph type="subTitle" idx="1"/>
          </p:nvPr>
        </p:nvSpPr>
        <p:spPr>
          <a:xfrm>
            <a:off x="3581398" y="4261450"/>
            <a:ext cx="7452360" cy="638354"/>
          </a:xfrm>
        </p:spPr>
        <p:txBody>
          <a:bodyPr/>
          <a:lstStyle/>
          <a:p>
            <a:r>
              <a:rPr lang="en-US" noProof="0" dirty="0"/>
              <a:t>Olivier Bergeron</a:t>
            </a:r>
          </a:p>
        </p:txBody>
      </p:sp>
    </p:spTree>
    <p:extLst>
      <p:ext uri="{BB962C8B-B14F-4D97-AF65-F5344CB8AC3E}">
        <p14:creationId xmlns:p14="http://schemas.microsoft.com/office/powerpoint/2010/main" val="447853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B7033-86AC-2D64-8B9E-528CF585E23F}"/>
              </a:ext>
            </a:extLst>
          </p:cNvPr>
          <p:cNvSpPr>
            <a:spLocks noGrp="1"/>
          </p:cNvSpPr>
          <p:nvPr>
            <p:ph type="title"/>
          </p:nvPr>
        </p:nvSpPr>
        <p:spPr/>
        <p:txBody>
          <a:bodyPr/>
          <a:lstStyle/>
          <a:p>
            <a:r>
              <a:rPr lang="en-US" noProof="0" dirty="0"/>
              <a:t>Introduction</a:t>
            </a:r>
          </a:p>
        </p:txBody>
      </p:sp>
      <p:sp>
        <p:nvSpPr>
          <p:cNvPr id="3" name="Content Placeholder 2">
            <a:extLst>
              <a:ext uri="{FF2B5EF4-FFF2-40B4-BE49-F238E27FC236}">
                <a16:creationId xmlns:a16="http://schemas.microsoft.com/office/drawing/2014/main" id="{1578E10F-1CDE-64F5-90D7-840B13DC2800}"/>
              </a:ext>
            </a:extLst>
          </p:cNvPr>
          <p:cNvSpPr>
            <a:spLocks noGrp="1"/>
          </p:cNvSpPr>
          <p:nvPr>
            <p:ph idx="1"/>
          </p:nvPr>
        </p:nvSpPr>
        <p:spPr/>
        <p:txBody>
          <a:bodyPr/>
          <a:lstStyle/>
          <a:p>
            <a:pPr marL="0" indent="0">
              <a:buNone/>
            </a:pPr>
            <a:r>
              <a:rPr lang="en-US" noProof="0" dirty="0"/>
              <a:t>Electromyography (EMG)</a:t>
            </a:r>
          </a:p>
          <a:p>
            <a:pPr lvl="1"/>
            <a:r>
              <a:rPr lang="en-US" noProof="0" dirty="0"/>
              <a:t>Recording of the electrical activity of muscle tissue</a:t>
            </a:r>
          </a:p>
          <a:p>
            <a:pPr lvl="1"/>
            <a:endParaRPr lang="en-US" noProof="0" dirty="0"/>
          </a:p>
          <a:p>
            <a:pPr marL="0" indent="0">
              <a:buNone/>
            </a:pPr>
            <a:r>
              <a:rPr lang="en-US" noProof="0" dirty="0"/>
              <a:t>Applications</a:t>
            </a:r>
          </a:p>
          <a:p>
            <a:pPr lvl="1"/>
            <a:r>
              <a:rPr lang="en-US" noProof="0" dirty="0"/>
              <a:t>Nerve damage</a:t>
            </a:r>
          </a:p>
          <a:p>
            <a:pPr lvl="1"/>
            <a:r>
              <a:rPr lang="en-US" noProof="0" dirty="0"/>
              <a:t>Dystrophy</a:t>
            </a:r>
          </a:p>
          <a:p>
            <a:pPr lvl="1"/>
            <a:r>
              <a:rPr lang="en-US" noProof="0" dirty="0"/>
              <a:t>Optimizing performance</a:t>
            </a:r>
          </a:p>
          <a:p>
            <a:pPr lvl="1"/>
            <a:r>
              <a:rPr lang="en-US" noProof="0" dirty="0"/>
              <a:t>Prosthetic</a:t>
            </a:r>
          </a:p>
        </p:txBody>
      </p:sp>
      <p:pic>
        <p:nvPicPr>
          <p:cNvPr id="7" name="Picture Placeholder 6">
            <a:extLst>
              <a:ext uri="{FF2B5EF4-FFF2-40B4-BE49-F238E27FC236}">
                <a16:creationId xmlns:a16="http://schemas.microsoft.com/office/drawing/2014/main" id="{578D7A61-A4A3-E58D-31B8-5F5D237CAD7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6016" r="16016"/>
          <a:stretch/>
        </p:blipFill>
        <p:spPr/>
      </p:pic>
      <p:sp>
        <p:nvSpPr>
          <p:cNvPr id="11" name="Slide Number Placeholder 10">
            <a:extLst>
              <a:ext uri="{FF2B5EF4-FFF2-40B4-BE49-F238E27FC236}">
                <a16:creationId xmlns:a16="http://schemas.microsoft.com/office/drawing/2014/main" id="{E08D18CD-00F7-236C-56E9-57679ADF61D1}"/>
              </a:ext>
            </a:extLst>
          </p:cNvPr>
          <p:cNvSpPr>
            <a:spLocks noGrp="1"/>
          </p:cNvSpPr>
          <p:nvPr>
            <p:ph type="sldNum" sz="quarter" idx="4"/>
          </p:nvPr>
        </p:nvSpPr>
        <p:spPr/>
        <p:txBody>
          <a:bodyPr/>
          <a:lstStyle/>
          <a:p>
            <a:fld id="{0DE7A7E6-4794-48E8-A5E1-2E8F8499B315}" type="slidenum">
              <a:rPr lang="en-US" noProof="0" smtClean="0"/>
              <a:pPr/>
              <a:t>2</a:t>
            </a:fld>
            <a:endParaRPr lang="en-US" noProof="0" dirty="0">
              <a:solidFill>
                <a:schemeClr val="bg1"/>
              </a:solidFill>
            </a:endParaRPr>
          </a:p>
        </p:txBody>
      </p:sp>
    </p:spTree>
    <p:extLst>
      <p:ext uri="{BB962C8B-B14F-4D97-AF65-F5344CB8AC3E}">
        <p14:creationId xmlns:p14="http://schemas.microsoft.com/office/powerpoint/2010/main" val="3612108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2680-70D8-4595-421C-C26E4F65AD72}"/>
              </a:ext>
            </a:extLst>
          </p:cNvPr>
          <p:cNvSpPr>
            <a:spLocks noGrp="1"/>
          </p:cNvSpPr>
          <p:nvPr>
            <p:ph type="title"/>
          </p:nvPr>
        </p:nvSpPr>
        <p:spPr/>
        <p:txBody>
          <a:bodyPr/>
          <a:lstStyle/>
          <a:p>
            <a:r>
              <a:rPr lang="en-US" noProof="0" dirty="0"/>
              <a:t>Introduction</a:t>
            </a:r>
          </a:p>
        </p:txBody>
      </p:sp>
      <p:sp>
        <p:nvSpPr>
          <p:cNvPr id="18" name="Slide Number Placeholder 17">
            <a:extLst>
              <a:ext uri="{FF2B5EF4-FFF2-40B4-BE49-F238E27FC236}">
                <a16:creationId xmlns:a16="http://schemas.microsoft.com/office/drawing/2014/main" id="{D8A6880B-FDA7-B63D-DA9E-2F284AE05DA5}"/>
              </a:ext>
            </a:extLst>
          </p:cNvPr>
          <p:cNvSpPr>
            <a:spLocks noGrp="1"/>
          </p:cNvSpPr>
          <p:nvPr>
            <p:ph type="sldNum" sz="quarter" idx="4"/>
          </p:nvPr>
        </p:nvSpPr>
        <p:spPr/>
        <p:txBody>
          <a:bodyPr/>
          <a:lstStyle/>
          <a:p>
            <a:fld id="{0DE7A7E6-4794-48E8-A5E1-2E8F8499B315}" type="slidenum">
              <a:rPr lang="en-US" noProof="0" smtClean="0"/>
              <a:pPr/>
              <a:t>3</a:t>
            </a:fld>
            <a:endParaRPr lang="en-US" noProof="0" dirty="0">
              <a:solidFill>
                <a:schemeClr val="bg1"/>
              </a:solidFill>
            </a:endParaRPr>
          </a:p>
        </p:txBody>
      </p:sp>
      <p:grpSp>
        <p:nvGrpSpPr>
          <p:cNvPr id="17" name="Group 16">
            <a:extLst>
              <a:ext uri="{FF2B5EF4-FFF2-40B4-BE49-F238E27FC236}">
                <a16:creationId xmlns:a16="http://schemas.microsoft.com/office/drawing/2014/main" id="{05064060-904E-E94F-2254-5FF9AC6BAC5F}"/>
              </a:ext>
            </a:extLst>
          </p:cNvPr>
          <p:cNvGrpSpPr/>
          <p:nvPr/>
        </p:nvGrpSpPr>
        <p:grpSpPr>
          <a:xfrm>
            <a:off x="913592" y="2519311"/>
            <a:ext cx="10364815" cy="2439972"/>
            <a:chOff x="913592" y="2519311"/>
            <a:chExt cx="10364815" cy="2439972"/>
          </a:xfrm>
        </p:grpSpPr>
        <p:grpSp>
          <p:nvGrpSpPr>
            <p:cNvPr id="16" name="Group 15">
              <a:extLst>
                <a:ext uri="{FF2B5EF4-FFF2-40B4-BE49-F238E27FC236}">
                  <a16:creationId xmlns:a16="http://schemas.microsoft.com/office/drawing/2014/main" id="{43E9761F-D6B2-FE9B-264C-4D99C10975C1}"/>
                </a:ext>
              </a:extLst>
            </p:cNvPr>
            <p:cNvGrpSpPr/>
            <p:nvPr/>
          </p:nvGrpSpPr>
          <p:grpSpPr>
            <a:xfrm>
              <a:off x="913592" y="2519311"/>
              <a:ext cx="10364815" cy="2439972"/>
              <a:chOff x="913592" y="2519311"/>
              <a:chExt cx="10364815" cy="2439972"/>
            </a:xfrm>
          </p:grpSpPr>
          <p:pic>
            <p:nvPicPr>
              <p:cNvPr id="4" name="Graphic 3" descr="Brain in head with solid fill">
                <a:extLst>
                  <a:ext uri="{FF2B5EF4-FFF2-40B4-BE49-F238E27FC236}">
                    <a16:creationId xmlns:a16="http://schemas.microsoft.com/office/drawing/2014/main" id="{A3586569-A027-111C-EA31-29A71219D8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3592" y="2519311"/>
                <a:ext cx="2439971" cy="2439971"/>
              </a:xfrm>
              <a:prstGeom prst="rect">
                <a:avLst/>
              </a:prstGeom>
            </p:spPr>
          </p:pic>
          <p:pic>
            <p:nvPicPr>
              <p:cNvPr id="6" name="Graphic 5" descr="Muscular arm with solid fill">
                <a:extLst>
                  <a:ext uri="{FF2B5EF4-FFF2-40B4-BE49-F238E27FC236}">
                    <a16:creationId xmlns:a16="http://schemas.microsoft.com/office/drawing/2014/main" id="{0473D309-FFCB-F532-3850-22A4E63E4C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38436" y="2519311"/>
                <a:ext cx="2439971" cy="2439971"/>
              </a:xfrm>
              <a:prstGeom prst="rect">
                <a:avLst/>
              </a:prstGeom>
            </p:spPr>
          </p:pic>
          <p:sp>
            <p:nvSpPr>
              <p:cNvPr id="8" name="Rectangle: Rounded Corners 7">
                <a:extLst>
                  <a:ext uri="{FF2B5EF4-FFF2-40B4-BE49-F238E27FC236}">
                    <a16:creationId xmlns:a16="http://schemas.microsoft.com/office/drawing/2014/main" id="{573DF8C5-54AC-A3EF-22F2-774684D4E6A7}"/>
                  </a:ext>
                </a:extLst>
              </p:cNvPr>
              <p:cNvSpPr/>
              <p:nvPr/>
            </p:nvSpPr>
            <p:spPr>
              <a:xfrm>
                <a:off x="4876014" y="2519312"/>
                <a:ext cx="2439971" cy="243997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cxnSp>
            <p:nvCxnSpPr>
              <p:cNvPr id="12" name="Straight Arrow Connector 11">
                <a:extLst>
                  <a:ext uri="{FF2B5EF4-FFF2-40B4-BE49-F238E27FC236}">
                    <a16:creationId xmlns:a16="http://schemas.microsoft.com/office/drawing/2014/main" id="{A3CFF62B-87F6-F00E-F93F-33E7EE6F4897}"/>
                  </a:ext>
                </a:extLst>
              </p:cNvPr>
              <p:cNvCxnSpPr/>
              <p:nvPr/>
            </p:nvCxnSpPr>
            <p:spPr>
              <a:xfrm>
                <a:off x="3353563" y="3739296"/>
                <a:ext cx="1274998"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EBA959D-35DD-6B2C-4E08-5F8EE25321E5}"/>
                  </a:ext>
                </a:extLst>
              </p:cNvPr>
              <p:cNvCxnSpPr/>
              <p:nvPr/>
            </p:nvCxnSpPr>
            <p:spPr>
              <a:xfrm>
                <a:off x="7634904" y="3739296"/>
                <a:ext cx="1274998"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pic>
          <p:nvPicPr>
            <p:cNvPr id="10" name="Graphic 9" descr="Question Mark with solid fill">
              <a:extLst>
                <a:ext uri="{FF2B5EF4-FFF2-40B4-BE49-F238E27FC236}">
                  <a16:creationId xmlns:a16="http://schemas.microsoft.com/office/drawing/2014/main" id="{445F1319-7511-C3E1-6C12-AA49D62949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71940" y="2915237"/>
              <a:ext cx="1648120" cy="1648120"/>
            </a:xfrm>
            <a:prstGeom prst="rect">
              <a:avLst/>
            </a:prstGeom>
          </p:spPr>
        </p:pic>
      </p:grpSp>
    </p:spTree>
    <p:extLst>
      <p:ext uri="{BB962C8B-B14F-4D97-AF65-F5344CB8AC3E}">
        <p14:creationId xmlns:p14="http://schemas.microsoft.com/office/powerpoint/2010/main" val="3213489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1AC28-CB99-19EC-EBCE-EB24C707B1A7}"/>
              </a:ext>
            </a:extLst>
          </p:cNvPr>
          <p:cNvSpPr>
            <a:spLocks noGrp="1"/>
          </p:cNvSpPr>
          <p:nvPr>
            <p:ph type="title"/>
          </p:nvPr>
        </p:nvSpPr>
        <p:spPr/>
        <p:txBody>
          <a:bodyPr/>
          <a:lstStyle/>
          <a:p>
            <a:r>
              <a:rPr lang="en-US" noProof="0" dirty="0"/>
              <a:t>Introduction</a:t>
            </a:r>
          </a:p>
        </p:txBody>
      </p:sp>
      <p:sp>
        <p:nvSpPr>
          <p:cNvPr id="4" name="Content Placeholder 3">
            <a:extLst>
              <a:ext uri="{FF2B5EF4-FFF2-40B4-BE49-F238E27FC236}">
                <a16:creationId xmlns:a16="http://schemas.microsoft.com/office/drawing/2014/main" id="{ED00177C-7DD8-6A08-7F3A-9D3A70E9ED15}"/>
              </a:ext>
            </a:extLst>
          </p:cNvPr>
          <p:cNvSpPr>
            <a:spLocks noGrp="1"/>
          </p:cNvSpPr>
          <p:nvPr>
            <p:ph idx="1"/>
          </p:nvPr>
        </p:nvSpPr>
        <p:spPr/>
        <p:txBody>
          <a:bodyPr>
            <a:normAutofit/>
          </a:bodyPr>
          <a:lstStyle/>
          <a:p>
            <a:pPr marL="0" indent="0">
              <a:buNone/>
            </a:pPr>
            <a:r>
              <a:rPr lang="en-US" noProof="0" dirty="0"/>
              <a:t>D. Farina et R. Merletti, </a:t>
            </a:r>
            <a:r>
              <a:rPr lang="en-US" noProof="0" dirty="0" err="1"/>
              <a:t>Éd</a:t>
            </a:r>
            <a:r>
              <a:rPr lang="en-US" noProof="0" dirty="0"/>
              <a:t>., </a:t>
            </a:r>
            <a:r>
              <a:rPr lang="en-US" i="1" noProof="0" dirty="0"/>
              <a:t>Surface electromyography: physiology, engineering, and applications</a:t>
            </a:r>
            <a:r>
              <a:rPr lang="en-US" noProof="0" dirty="0"/>
              <a:t>. dans IEEE Press Series on Biomedical Engineering. Piscataway, NJ: IEEE Press, 2016.</a:t>
            </a:r>
            <a:endParaRPr lang="en-US" noProof="0" dirty="0">
              <a:effectLst/>
            </a:endParaRPr>
          </a:p>
        </p:txBody>
      </p:sp>
      <p:sp>
        <p:nvSpPr>
          <p:cNvPr id="3" name="Slide Number Placeholder 2">
            <a:extLst>
              <a:ext uri="{FF2B5EF4-FFF2-40B4-BE49-F238E27FC236}">
                <a16:creationId xmlns:a16="http://schemas.microsoft.com/office/drawing/2014/main" id="{2C6751CC-CDB1-B7E2-D48C-DBDF6F10BFC3}"/>
              </a:ext>
            </a:extLst>
          </p:cNvPr>
          <p:cNvSpPr>
            <a:spLocks noGrp="1"/>
          </p:cNvSpPr>
          <p:nvPr>
            <p:ph type="sldNum" sz="quarter" idx="4"/>
          </p:nvPr>
        </p:nvSpPr>
        <p:spPr/>
        <p:txBody>
          <a:bodyPr/>
          <a:lstStyle/>
          <a:p>
            <a:fld id="{0DE7A7E6-4794-48E8-A5E1-2E8F8499B315}" type="slidenum">
              <a:rPr lang="en-US" noProof="0" smtClean="0"/>
              <a:pPr/>
              <a:t>4</a:t>
            </a:fld>
            <a:endParaRPr lang="en-US" noProof="0" dirty="0">
              <a:solidFill>
                <a:schemeClr val="bg1"/>
              </a:solidFill>
            </a:endParaRPr>
          </a:p>
        </p:txBody>
      </p:sp>
      <p:pic>
        <p:nvPicPr>
          <p:cNvPr id="1026" name="Picture 2" descr="Surface Electromyography: Physiology, Engineering, and Applications:  Merletti, Roberto, Farina, Dario: 9781118987025: Clinical: Amazon Canada">
            <a:extLst>
              <a:ext uri="{FF2B5EF4-FFF2-40B4-BE49-F238E27FC236}">
                <a16:creationId xmlns:a16="http://schemas.microsoft.com/office/drawing/2014/main" id="{F2BD0230-6F1E-46E2-13DE-C0F144464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3472" y="887126"/>
            <a:ext cx="3390341" cy="508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753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9E90-EA99-D0FB-10BD-D2D500D1C77E}"/>
              </a:ext>
            </a:extLst>
          </p:cNvPr>
          <p:cNvSpPr>
            <a:spLocks noGrp="1"/>
          </p:cNvSpPr>
          <p:nvPr>
            <p:ph type="title"/>
          </p:nvPr>
        </p:nvSpPr>
        <p:spPr/>
        <p:txBody>
          <a:bodyPr/>
          <a:lstStyle/>
          <a:p>
            <a:r>
              <a:rPr lang="en-US" noProof="0" dirty="0"/>
              <a:t>Motor Unit - Theory</a:t>
            </a:r>
          </a:p>
        </p:txBody>
      </p:sp>
      <p:pic>
        <p:nvPicPr>
          <p:cNvPr id="5" name="Online Image Placeholder 4">
            <a:extLst>
              <a:ext uri="{FF2B5EF4-FFF2-40B4-BE49-F238E27FC236}">
                <a16:creationId xmlns:a16="http://schemas.microsoft.com/office/drawing/2014/main" id="{879481F5-9FF5-98CA-1EA7-95A375D39BDE}"/>
              </a:ext>
            </a:extLst>
          </p:cNvPr>
          <p:cNvPicPr>
            <a:picLocks noGrp="1" noChangeAspect="1"/>
          </p:cNvPicPr>
          <p:nvPr>
            <p:ph type="clipArt" sz="quarter" idx="10"/>
          </p:nvPr>
        </p:nvPicPr>
        <p:blipFill>
          <a:blip r:embed="rId3"/>
          <a:stretch>
            <a:fillRect/>
          </a:stretch>
        </p:blipFill>
        <p:spPr>
          <a:xfrm>
            <a:off x="3573518" y="1473380"/>
            <a:ext cx="4551308" cy="4338519"/>
          </a:xfrm>
          <a:prstGeom prst="rect">
            <a:avLst/>
          </a:prstGeom>
        </p:spPr>
      </p:pic>
      <p:sp>
        <p:nvSpPr>
          <p:cNvPr id="6" name="TextBox 5">
            <a:extLst>
              <a:ext uri="{FF2B5EF4-FFF2-40B4-BE49-F238E27FC236}">
                <a16:creationId xmlns:a16="http://schemas.microsoft.com/office/drawing/2014/main" id="{A453D02F-16D8-FC8B-B1C7-E116F4A6BB42}"/>
              </a:ext>
            </a:extLst>
          </p:cNvPr>
          <p:cNvSpPr txBox="1"/>
          <p:nvPr/>
        </p:nvSpPr>
        <p:spPr>
          <a:xfrm>
            <a:off x="3429000" y="6262042"/>
            <a:ext cx="6791325" cy="461665"/>
          </a:xfrm>
          <a:prstGeom prst="rect">
            <a:avLst/>
          </a:prstGeom>
          <a:noFill/>
        </p:spPr>
        <p:txBody>
          <a:bodyPr wrap="square" rtlCol="0">
            <a:spAutoFit/>
          </a:bodyPr>
          <a:lstStyle/>
          <a:p>
            <a:r>
              <a:rPr lang="en-US" sz="1200" noProof="0" dirty="0"/>
              <a:t>D. Farina et A. </a:t>
            </a:r>
            <a:r>
              <a:rPr lang="en-US" sz="1200" noProof="0" dirty="0" err="1"/>
              <a:t>Holobar</a:t>
            </a:r>
            <a:r>
              <a:rPr lang="en-US" sz="1200" noProof="0" dirty="0"/>
              <a:t>, « Characterization of Human Motor Units From Surface EMG Decomposition », </a:t>
            </a:r>
            <a:r>
              <a:rPr lang="en-US" sz="1200" i="1" noProof="0" dirty="0"/>
              <a:t>Proc. IEEE</a:t>
            </a:r>
            <a:r>
              <a:rPr lang="en-US" sz="1200" noProof="0" dirty="0"/>
              <a:t>, vol. 104, n</a:t>
            </a:r>
            <a:r>
              <a:rPr lang="en-US" sz="1200" baseline="30000" noProof="0" dirty="0"/>
              <a:t>o</a:t>
            </a:r>
            <a:r>
              <a:rPr lang="en-US" sz="1200" noProof="0" dirty="0"/>
              <a:t> 2, p. 353‑373, </a:t>
            </a:r>
            <a:r>
              <a:rPr lang="en-US" sz="1200" noProof="0" dirty="0" err="1"/>
              <a:t>févr</a:t>
            </a:r>
            <a:r>
              <a:rPr lang="en-US" sz="1200" noProof="0" dirty="0"/>
              <a:t>. 2016</a:t>
            </a:r>
          </a:p>
        </p:txBody>
      </p:sp>
      <p:sp>
        <p:nvSpPr>
          <p:cNvPr id="3" name="Slide Number Placeholder 2">
            <a:extLst>
              <a:ext uri="{FF2B5EF4-FFF2-40B4-BE49-F238E27FC236}">
                <a16:creationId xmlns:a16="http://schemas.microsoft.com/office/drawing/2014/main" id="{E174C6DC-9C4C-85A7-B731-1677DA18BEA9}"/>
              </a:ext>
            </a:extLst>
          </p:cNvPr>
          <p:cNvSpPr>
            <a:spLocks noGrp="1"/>
          </p:cNvSpPr>
          <p:nvPr>
            <p:ph type="sldNum" sz="quarter" idx="4"/>
          </p:nvPr>
        </p:nvSpPr>
        <p:spPr/>
        <p:txBody>
          <a:bodyPr/>
          <a:lstStyle/>
          <a:p>
            <a:fld id="{0DE7A7E6-4794-48E8-A5E1-2E8F8499B315}" type="slidenum">
              <a:rPr lang="en-US" noProof="0" smtClean="0"/>
              <a:pPr/>
              <a:t>5</a:t>
            </a:fld>
            <a:endParaRPr lang="en-US" noProof="0" dirty="0">
              <a:solidFill>
                <a:schemeClr val="bg1"/>
              </a:solidFill>
            </a:endParaRPr>
          </a:p>
        </p:txBody>
      </p:sp>
    </p:spTree>
    <p:extLst>
      <p:ext uri="{BB962C8B-B14F-4D97-AF65-F5344CB8AC3E}">
        <p14:creationId xmlns:p14="http://schemas.microsoft.com/office/powerpoint/2010/main" val="3912533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2692E-8280-E2B5-E04D-FEC22281D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BE632-D04D-DF4B-86F8-64B20AE8925F}"/>
              </a:ext>
            </a:extLst>
          </p:cNvPr>
          <p:cNvSpPr>
            <a:spLocks noGrp="1"/>
          </p:cNvSpPr>
          <p:nvPr>
            <p:ph type="title"/>
          </p:nvPr>
        </p:nvSpPr>
        <p:spPr>
          <a:xfrm>
            <a:off x="1397479" y="365125"/>
            <a:ext cx="9256144" cy="1325563"/>
          </a:xfrm>
        </p:spPr>
        <p:txBody>
          <a:bodyPr anchor="ctr">
            <a:normAutofit/>
          </a:bodyPr>
          <a:lstStyle/>
          <a:p>
            <a:r>
              <a:rPr lang="en-US" noProof="0" dirty="0"/>
              <a:t>Motor Unit - Theory</a:t>
            </a:r>
          </a:p>
        </p:txBody>
      </p:sp>
      <p:pic>
        <p:nvPicPr>
          <p:cNvPr id="4" name="Picture 3">
            <a:extLst>
              <a:ext uri="{FF2B5EF4-FFF2-40B4-BE49-F238E27FC236}">
                <a16:creationId xmlns:a16="http://schemas.microsoft.com/office/drawing/2014/main" id="{8AED6D0B-5BE3-59FA-F6A6-5429927CDA42}"/>
              </a:ext>
            </a:extLst>
          </p:cNvPr>
          <p:cNvPicPr>
            <a:picLocks noChangeAspect="1"/>
          </p:cNvPicPr>
          <p:nvPr/>
        </p:nvPicPr>
        <p:blipFill>
          <a:blip r:embed="rId3"/>
          <a:stretch>
            <a:fillRect/>
          </a:stretch>
        </p:blipFill>
        <p:spPr>
          <a:xfrm>
            <a:off x="649359" y="1825625"/>
            <a:ext cx="5893805" cy="3978317"/>
          </a:xfrm>
          <a:prstGeom prst="rect">
            <a:avLst/>
          </a:prstGeom>
          <a:noFill/>
        </p:spPr>
      </p:pic>
      <p:pic>
        <p:nvPicPr>
          <p:cNvPr id="1026" name="Picture 2" descr="Anatomy of the spine; drawing shows a side view of the spine, including the cervical spine (C1-C7), thoracic spine (T1-T12), lumbar spine (L1-L5), sacral spine (S1-S5), and the coccyx (tailbone). Also shown are the spinal cord, vertebra (back bone), conus medullaris (the end of the spinal cord), cauda equina (the bundle of spinal nerves that extend beyond the conus medullaris), and a lumbar disc. The clivus (a bone at the base of the skull near the spinal cord) is also shown.">
            <a:extLst>
              <a:ext uri="{FF2B5EF4-FFF2-40B4-BE49-F238E27FC236}">
                <a16:creationId xmlns:a16="http://schemas.microsoft.com/office/drawing/2014/main" id="{08FBF3B3-F9FD-E7E2-EDB9-90CB6515FDC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886000" y="716639"/>
            <a:ext cx="3767623" cy="5460324"/>
          </a:xfrm>
          <a:prstGeom prst="rect">
            <a:avLst/>
          </a:prstGeom>
          <a:solidFill>
            <a:srgbClr val="FFFFFF"/>
          </a:solidFill>
        </p:spPr>
      </p:pic>
      <p:sp>
        <p:nvSpPr>
          <p:cNvPr id="5" name="TextBox 4">
            <a:extLst>
              <a:ext uri="{FF2B5EF4-FFF2-40B4-BE49-F238E27FC236}">
                <a16:creationId xmlns:a16="http://schemas.microsoft.com/office/drawing/2014/main" id="{88F79356-E4BF-CE8C-25EE-4B6E08024218}"/>
              </a:ext>
            </a:extLst>
          </p:cNvPr>
          <p:cNvSpPr txBox="1"/>
          <p:nvPr/>
        </p:nvSpPr>
        <p:spPr>
          <a:xfrm>
            <a:off x="3596262" y="6396335"/>
            <a:ext cx="6579476" cy="461665"/>
          </a:xfrm>
          <a:prstGeom prst="rect">
            <a:avLst/>
          </a:prstGeom>
          <a:noFill/>
        </p:spPr>
        <p:txBody>
          <a:bodyPr wrap="square" rtlCol="0">
            <a:spAutoFit/>
          </a:bodyPr>
          <a:lstStyle/>
          <a:p>
            <a:r>
              <a:rPr lang="en-US" sz="1200" noProof="0" dirty="0"/>
              <a:t>“https://www.cancer.gov/publications/dictionaries/cancer-terms/def/spine,” </a:t>
            </a:r>
            <a:r>
              <a:rPr lang="en-US" sz="1200" i="1" noProof="0" dirty="0"/>
              <a:t>www.cancer.gov</a:t>
            </a:r>
            <a:r>
              <a:rPr lang="en-US" sz="1200" noProof="0" dirty="0"/>
              <a:t>, Feb. 02, 2011. https://www.cancer.gov/publications/dictionaries/cancer-terms/def/spine</a:t>
            </a:r>
          </a:p>
        </p:txBody>
      </p:sp>
      <p:sp>
        <p:nvSpPr>
          <p:cNvPr id="12" name="Rectangle 11">
            <a:extLst>
              <a:ext uri="{FF2B5EF4-FFF2-40B4-BE49-F238E27FC236}">
                <a16:creationId xmlns:a16="http://schemas.microsoft.com/office/drawing/2014/main" id="{2E8D95E7-85A1-F8C1-0B33-5E8901CD485D}"/>
              </a:ext>
            </a:extLst>
          </p:cNvPr>
          <p:cNvSpPr/>
          <p:nvPr/>
        </p:nvSpPr>
        <p:spPr>
          <a:xfrm>
            <a:off x="571500" y="4159250"/>
            <a:ext cx="5971664" cy="2159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64FC6AC-DEFC-2D15-7A38-DE37E71193F3}"/>
              </a:ext>
            </a:extLst>
          </p:cNvPr>
          <p:cNvSpPr>
            <a:spLocks noGrp="1"/>
          </p:cNvSpPr>
          <p:nvPr>
            <p:ph type="sldNum" sz="quarter" idx="4"/>
          </p:nvPr>
        </p:nvSpPr>
        <p:spPr/>
        <p:txBody>
          <a:bodyPr/>
          <a:lstStyle/>
          <a:p>
            <a:fld id="{0DE7A7E6-4794-48E8-A5E1-2E8F8499B315}" type="slidenum">
              <a:rPr lang="en-US" noProof="0" smtClean="0"/>
              <a:pPr/>
              <a:t>6</a:t>
            </a:fld>
            <a:endParaRPr lang="en-US" noProof="0" dirty="0">
              <a:solidFill>
                <a:schemeClr val="bg1"/>
              </a:solidFill>
            </a:endParaRPr>
          </a:p>
        </p:txBody>
      </p:sp>
      <p:sp>
        <p:nvSpPr>
          <p:cNvPr id="7" name="Oval 6">
            <a:extLst>
              <a:ext uri="{FF2B5EF4-FFF2-40B4-BE49-F238E27FC236}">
                <a16:creationId xmlns:a16="http://schemas.microsoft.com/office/drawing/2014/main" id="{1C9CCD04-ED1F-DDEB-F932-EF2A04726941}"/>
              </a:ext>
            </a:extLst>
          </p:cNvPr>
          <p:cNvSpPr/>
          <p:nvPr/>
        </p:nvSpPr>
        <p:spPr>
          <a:xfrm>
            <a:off x="8249920" y="2219960"/>
            <a:ext cx="1051560" cy="30988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110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0F55-4A03-0BC4-2B8C-363A509ECFD9}"/>
              </a:ext>
            </a:extLst>
          </p:cNvPr>
          <p:cNvSpPr>
            <a:spLocks noGrp="1"/>
          </p:cNvSpPr>
          <p:nvPr>
            <p:ph type="title"/>
          </p:nvPr>
        </p:nvSpPr>
        <p:spPr/>
        <p:txBody>
          <a:bodyPr/>
          <a:lstStyle/>
          <a:p>
            <a:r>
              <a:rPr lang="en-US" noProof="0" dirty="0"/>
              <a:t>Motor Unit - Theory</a:t>
            </a:r>
          </a:p>
        </p:txBody>
      </p:sp>
      <p:sp>
        <p:nvSpPr>
          <p:cNvPr id="3" name="Content Placeholder 2">
            <a:extLst>
              <a:ext uri="{FF2B5EF4-FFF2-40B4-BE49-F238E27FC236}">
                <a16:creationId xmlns:a16="http://schemas.microsoft.com/office/drawing/2014/main" id="{08C18437-7ECE-579E-4A42-EBE0C6A90CCB}"/>
              </a:ext>
            </a:extLst>
          </p:cNvPr>
          <p:cNvSpPr>
            <a:spLocks noGrp="1"/>
          </p:cNvSpPr>
          <p:nvPr>
            <p:ph idx="1"/>
          </p:nvPr>
        </p:nvSpPr>
        <p:spPr>
          <a:xfrm>
            <a:off x="1397478" y="1825625"/>
            <a:ext cx="5138561" cy="4351338"/>
          </a:xfrm>
        </p:spPr>
        <p:txBody>
          <a:bodyPr/>
          <a:lstStyle/>
          <a:p>
            <a:pPr marL="0" indent="0">
              <a:buNone/>
            </a:pPr>
            <a:r>
              <a:rPr lang="en-US" noProof="0" dirty="0"/>
              <a:t>Every motor unit is different</a:t>
            </a:r>
          </a:p>
          <a:p>
            <a:pPr lvl="1"/>
            <a:r>
              <a:rPr lang="en-US" dirty="0"/>
              <a:t>Recruitment threshold</a:t>
            </a:r>
            <a:endParaRPr lang="en-US" noProof="0" dirty="0"/>
          </a:p>
          <a:p>
            <a:pPr lvl="1"/>
            <a:r>
              <a:rPr lang="en-US" noProof="0" dirty="0"/>
              <a:t>Force production</a:t>
            </a:r>
          </a:p>
          <a:p>
            <a:pPr lvl="1"/>
            <a:r>
              <a:rPr lang="en-US" noProof="0" dirty="0"/>
              <a:t>Contraction speed</a:t>
            </a:r>
          </a:p>
          <a:p>
            <a:pPr lvl="1"/>
            <a:r>
              <a:rPr lang="en-US" noProof="0" dirty="0"/>
              <a:t>Fatigue resistance</a:t>
            </a:r>
          </a:p>
          <a:p>
            <a:pPr lvl="1"/>
            <a:r>
              <a:rPr lang="en-US" noProof="0" dirty="0"/>
              <a:t>EMG shape</a:t>
            </a:r>
          </a:p>
          <a:p>
            <a:pPr lvl="1"/>
            <a:endParaRPr lang="en-US" noProof="0" dirty="0"/>
          </a:p>
        </p:txBody>
      </p:sp>
      <p:grpSp>
        <p:nvGrpSpPr>
          <p:cNvPr id="12" name="Group 11">
            <a:extLst>
              <a:ext uri="{FF2B5EF4-FFF2-40B4-BE49-F238E27FC236}">
                <a16:creationId xmlns:a16="http://schemas.microsoft.com/office/drawing/2014/main" id="{0E9049F1-2E2F-4BED-77D1-373194942E36}"/>
              </a:ext>
            </a:extLst>
          </p:cNvPr>
          <p:cNvGrpSpPr/>
          <p:nvPr/>
        </p:nvGrpSpPr>
        <p:grpSpPr>
          <a:xfrm>
            <a:off x="6183614" y="1465262"/>
            <a:ext cx="5071074" cy="3927476"/>
            <a:chOff x="6025551" y="1960562"/>
            <a:chExt cx="5071074" cy="3927476"/>
          </a:xfrm>
        </p:grpSpPr>
        <p:pic>
          <p:nvPicPr>
            <p:cNvPr id="2052" name="Picture 4">
              <a:extLst>
                <a:ext uri="{FF2B5EF4-FFF2-40B4-BE49-F238E27FC236}">
                  <a16:creationId xmlns:a16="http://schemas.microsoft.com/office/drawing/2014/main" id="{85C817AD-A82A-84D7-233E-CB64567ACA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133600"/>
              <a:ext cx="4742320" cy="3581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BD73C4B-CA66-A5F9-83B6-473EB8AB1F70}"/>
                </a:ext>
              </a:extLst>
            </p:cNvPr>
            <p:cNvSpPr>
              <a:spLocks/>
            </p:cNvSpPr>
            <p:nvPr/>
          </p:nvSpPr>
          <p:spPr>
            <a:xfrm>
              <a:off x="6025551" y="1960562"/>
              <a:ext cx="5071074" cy="666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30CFF9C-2B86-50CF-B9CD-78B622EC89F5}"/>
                </a:ext>
              </a:extLst>
            </p:cNvPr>
            <p:cNvSpPr>
              <a:spLocks/>
            </p:cNvSpPr>
            <p:nvPr/>
          </p:nvSpPr>
          <p:spPr>
            <a:xfrm>
              <a:off x="10653623" y="2459034"/>
              <a:ext cx="255146" cy="32559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FFDD7BB1-67D8-07AF-DAC6-00ACAB33A47A}"/>
                </a:ext>
              </a:extLst>
            </p:cNvPr>
            <p:cNvSpPr>
              <a:spLocks/>
            </p:cNvSpPr>
            <p:nvPr/>
          </p:nvSpPr>
          <p:spPr>
            <a:xfrm>
              <a:off x="6260375" y="5510213"/>
              <a:ext cx="4742321" cy="3778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316B58F0-929A-D7C7-213B-0F991EB72749}"/>
                </a:ext>
              </a:extLst>
            </p:cNvPr>
            <p:cNvSpPr>
              <a:spLocks/>
            </p:cNvSpPr>
            <p:nvPr/>
          </p:nvSpPr>
          <p:spPr>
            <a:xfrm>
              <a:off x="6044650" y="2254248"/>
              <a:ext cx="255146" cy="32559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C8980528-FF76-1291-5877-0BCCC8572589}"/>
                </a:ext>
              </a:extLst>
            </p:cNvPr>
            <p:cNvSpPr>
              <a:spLocks/>
            </p:cNvSpPr>
            <p:nvPr/>
          </p:nvSpPr>
          <p:spPr>
            <a:xfrm rot="2470497">
              <a:off x="6584941" y="2912783"/>
              <a:ext cx="556221"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1" name="TextBox 10">
            <a:extLst>
              <a:ext uri="{FF2B5EF4-FFF2-40B4-BE49-F238E27FC236}">
                <a16:creationId xmlns:a16="http://schemas.microsoft.com/office/drawing/2014/main" id="{CBC690B0-C460-1A61-6ACD-17F51D0F2654}"/>
              </a:ext>
            </a:extLst>
          </p:cNvPr>
          <p:cNvSpPr txBox="1"/>
          <p:nvPr/>
        </p:nvSpPr>
        <p:spPr>
          <a:xfrm>
            <a:off x="3601487" y="6297613"/>
            <a:ext cx="4886325" cy="430887"/>
          </a:xfrm>
          <a:prstGeom prst="rect">
            <a:avLst/>
          </a:prstGeom>
          <a:noFill/>
        </p:spPr>
        <p:txBody>
          <a:bodyPr wrap="square" rtlCol="0">
            <a:spAutoFit/>
          </a:bodyPr>
          <a:lstStyle/>
          <a:p>
            <a:r>
              <a:rPr lang="en-US" sz="1100" i="1" noProof="0" dirty="0"/>
              <a:t>Basicphysiology.org</a:t>
            </a:r>
            <a:r>
              <a:rPr lang="en-US" sz="1100" noProof="0" dirty="0"/>
              <a:t>, 2026. https://www.basicphysiology.org/wp-content/uploads/2023/04/Motor-Unit-sketch.png (accessed Apr. 13, 2026).</a:t>
            </a:r>
            <a:endParaRPr lang="en-US" sz="900" noProof="0" dirty="0"/>
          </a:p>
        </p:txBody>
      </p:sp>
      <p:sp>
        <p:nvSpPr>
          <p:cNvPr id="5" name="Slide Number Placeholder 4">
            <a:extLst>
              <a:ext uri="{FF2B5EF4-FFF2-40B4-BE49-F238E27FC236}">
                <a16:creationId xmlns:a16="http://schemas.microsoft.com/office/drawing/2014/main" id="{C3A8B8D0-9493-01DD-4419-84DCD148F983}"/>
              </a:ext>
            </a:extLst>
          </p:cNvPr>
          <p:cNvSpPr>
            <a:spLocks noGrp="1"/>
          </p:cNvSpPr>
          <p:nvPr>
            <p:ph type="sldNum" sz="quarter" idx="4"/>
          </p:nvPr>
        </p:nvSpPr>
        <p:spPr/>
        <p:txBody>
          <a:bodyPr/>
          <a:lstStyle/>
          <a:p>
            <a:fld id="{0DE7A7E6-4794-48E8-A5E1-2E8F8499B315}" type="slidenum">
              <a:rPr lang="en-US" noProof="0" smtClean="0"/>
              <a:pPr/>
              <a:t>7</a:t>
            </a:fld>
            <a:endParaRPr lang="en-US" noProof="0" dirty="0">
              <a:solidFill>
                <a:schemeClr val="bg1"/>
              </a:solidFill>
            </a:endParaRPr>
          </a:p>
        </p:txBody>
      </p:sp>
    </p:spTree>
    <p:extLst>
      <p:ext uri="{BB962C8B-B14F-4D97-AF65-F5344CB8AC3E}">
        <p14:creationId xmlns:p14="http://schemas.microsoft.com/office/powerpoint/2010/main" val="315551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5F6E6F23-3D41-9921-0684-7B4572916C6E}"/>
              </a:ext>
            </a:extLst>
          </p:cNvPr>
          <p:cNvSpPr txBox="1"/>
          <p:nvPr/>
        </p:nvSpPr>
        <p:spPr>
          <a:xfrm>
            <a:off x="14377" y="3299336"/>
            <a:ext cx="1524000" cy="369332"/>
          </a:xfrm>
          <a:prstGeom prst="rect">
            <a:avLst/>
          </a:prstGeom>
          <a:noFill/>
        </p:spPr>
        <p:txBody>
          <a:bodyPr wrap="square" rtlCol="0">
            <a:spAutoFit/>
          </a:bodyPr>
          <a:lstStyle/>
          <a:p>
            <a:r>
              <a:rPr lang="en-US" noProof="0" dirty="0"/>
              <a:t>Rate Coding</a:t>
            </a:r>
          </a:p>
        </p:txBody>
      </p:sp>
      <p:sp>
        <p:nvSpPr>
          <p:cNvPr id="2" name="Title 1">
            <a:extLst>
              <a:ext uri="{FF2B5EF4-FFF2-40B4-BE49-F238E27FC236}">
                <a16:creationId xmlns:a16="http://schemas.microsoft.com/office/drawing/2014/main" id="{9640C531-BF24-6432-215A-2B1A0AA3A027}"/>
              </a:ext>
            </a:extLst>
          </p:cNvPr>
          <p:cNvSpPr>
            <a:spLocks noGrp="1"/>
          </p:cNvSpPr>
          <p:nvPr>
            <p:ph type="title"/>
          </p:nvPr>
        </p:nvSpPr>
        <p:spPr/>
        <p:txBody>
          <a:bodyPr/>
          <a:lstStyle/>
          <a:p>
            <a:r>
              <a:rPr lang="en-US" noProof="0" dirty="0"/>
              <a:t>Motor Unit - Theory</a:t>
            </a:r>
          </a:p>
        </p:txBody>
      </p:sp>
      <p:pic>
        <p:nvPicPr>
          <p:cNvPr id="4" name="Online Image Placeholder 4">
            <a:extLst>
              <a:ext uri="{FF2B5EF4-FFF2-40B4-BE49-F238E27FC236}">
                <a16:creationId xmlns:a16="http://schemas.microsoft.com/office/drawing/2014/main" id="{6DAA6501-E039-E113-28F6-53CEE595766F}"/>
              </a:ext>
            </a:extLst>
          </p:cNvPr>
          <p:cNvPicPr>
            <a:picLocks noChangeAspect="1"/>
          </p:cNvPicPr>
          <p:nvPr/>
        </p:nvPicPr>
        <p:blipFill>
          <a:blip r:embed="rId3"/>
          <a:stretch>
            <a:fillRect/>
          </a:stretch>
        </p:blipFill>
        <p:spPr>
          <a:xfrm>
            <a:off x="1397479" y="1799396"/>
            <a:ext cx="2759568" cy="2630549"/>
          </a:xfrm>
          <a:prstGeom prst="rect">
            <a:avLst/>
          </a:prstGeom>
        </p:spPr>
      </p:pic>
      <p:pic>
        <p:nvPicPr>
          <p:cNvPr id="5" name="Online Image Placeholder 4">
            <a:extLst>
              <a:ext uri="{FF2B5EF4-FFF2-40B4-BE49-F238E27FC236}">
                <a16:creationId xmlns:a16="http://schemas.microsoft.com/office/drawing/2014/main" id="{1559511E-EB34-7009-87C4-294D9419F78D}"/>
              </a:ext>
            </a:extLst>
          </p:cNvPr>
          <p:cNvPicPr>
            <a:picLocks noChangeAspect="1"/>
          </p:cNvPicPr>
          <p:nvPr/>
        </p:nvPicPr>
        <p:blipFill>
          <a:blip r:embed="rId3"/>
          <a:stretch>
            <a:fillRect/>
          </a:stretch>
        </p:blipFill>
        <p:spPr>
          <a:xfrm>
            <a:off x="4645767" y="1799397"/>
            <a:ext cx="2759568" cy="2630549"/>
          </a:xfrm>
          <a:prstGeom prst="rect">
            <a:avLst/>
          </a:prstGeom>
        </p:spPr>
      </p:pic>
      <p:pic>
        <p:nvPicPr>
          <p:cNvPr id="6" name="Online Image Placeholder 4">
            <a:extLst>
              <a:ext uri="{FF2B5EF4-FFF2-40B4-BE49-F238E27FC236}">
                <a16:creationId xmlns:a16="http://schemas.microsoft.com/office/drawing/2014/main" id="{16E2C60D-BF6E-083E-0287-4B3CC7A88F37}"/>
              </a:ext>
            </a:extLst>
          </p:cNvPr>
          <p:cNvPicPr>
            <a:picLocks noChangeAspect="1"/>
          </p:cNvPicPr>
          <p:nvPr/>
        </p:nvPicPr>
        <p:blipFill>
          <a:blip r:embed="rId3"/>
          <a:stretch>
            <a:fillRect/>
          </a:stretch>
        </p:blipFill>
        <p:spPr>
          <a:xfrm>
            <a:off x="7894055" y="1799398"/>
            <a:ext cx="2759568" cy="2630549"/>
          </a:xfrm>
          <a:prstGeom prst="rect">
            <a:avLst/>
          </a:prstGeom>
        </p:spPr>
      </p:pic>
      <p:sp>
        <p:nvSpPr>
          <p:cNvPr id="7" name="Arrow: Up 6">
            <a:extLst>
              <a:ext uri="{FF2B5EF4-FFF2-40B4-BE49-F238E27FC236}">
                <a16:creationId xmlns:a16="http://schemas.microsoft.com/office/drawing/2014/main" id="{DDAFB565-5FB9-E391-7380-26AC71B98530}"/>
              </a:ext>
            </a:extLst>
          </p:cNvPr>
          <p:cNvSpPr/>
          <p:nvPr/>
        </p:nvSpPr>
        <p:spPr>
          <a:xfrm>
            <a:off x="2777263" y="5324475"/>
            <a:ext cx="514350" cy="495480"/>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Arrow: Up 8">
            <a:extLst>
              <a:ext uri="{FF2B5EF4-FFF2-40B4-BE49-F238E27FC236}">
                <a16:creationId xmlns:a16="http://schemas.microsoft.com/office/drawing/2014/main" id="{45DF251C-9335-E0F5-5002-AF86E362662D}"/>
              </a:ext>
            </a:extLst>
          </p:cNvPr>
          <p:cNvSpPr/>
          <p:nvPr/>
        </p:nvSpPr>
        <p:spPr>
          <a:xfrm>
            <a:off x="2777263" y="4538653"/>
            <a:ext cx="514350" cy="1281302"/>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Arrow: Up 9">
            <a:extLst>
              <a:ext uri="{FF2B5EF4-FFF2-40B4-BE49-F238E27FC236}">
                <a16:creationId xmlns:a16="http://schemas.microsoft.com/office/drawing/2014/main" id="{0A7176D9-1859-D8AD-CDC3-7EFA48033AEC}"/>
              </a:ext>
            </a:extLst>
          </p:cNvPr>
          <p:cNvSpPr/>
          <p:nvPr/>
        </p:nvSpPr>
        <p:spPr>
          <a:xfrm>
            <a:off x="6096000" y="5324475"/>
            <a:ext cx="514350" cy="495480"/>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Arrow: Up 10">
            <a:extLst>
              <a:ext uri="{FF2B5EF4-FFF2-40B4-BE49-F238E27FC236}">
                <a16:creationId xmlns:a16="http://schemas.microsoft.com/office/drawing/2014/main" id="{FBCA06E9-74A6-EC61-0025-EAC4AD1E89D7}"/>
              </a:ext>
            </a:extLst>
          </p:cNvPr>
          <p:cNvSpPr/>
          <p:nvPr/>
        </p:nvSpPr>
        <p:spPr>
          <a:xfrm>
            <a:off x="6096000" y="4538653"/>
            <a:ext cx="514350" cy="1281302"/>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Arrow: Up 11">
            <a:extLst>
              <a:ext uri="{FF2B5EF4-FFF2-40B4-BE49-F238E27FC236}">
                <a16:creationId xmlns:a16="http://schemas.microsoft.com/office/drawing/2014/main" id="{1D5A63D4-31B1-5B08-82DC-75449AC5BDC3}"/>
              </a:ext>
            </a:extLst>
          </p:cNvPr>
          <p:cNvSpPr/>
          <p:nvPr/>
        </p:nvSpPr>
        <p:spPr>
          <a:xfrm>
            <a:off x="9414737" y="5324475"/>
            <a:ext cx="514350" cy="495480"/>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0C90C9CD-4945-AD44-D68A-5D63F17CFD8B}"/>
              </a:ext>
            </a:extLst>
          </p:cNvPr>
          <p:cNvSpPr txBox="1"/>
          <p:nvPr/>
        </p:nvSpPr>
        <p:spPr>
          <a:xfrm>
            <a:off x="14377" y="2930004"/>
            <a:ext cx="1524000" cy="369332"/>
          </a:xfrm>
          <a:prstGeom prst="rect">
            <a:avLst/>
          </a:prstGeom>
          <a:noFill/>
        </p:spPr>
        <p:txBody>
          <a:bodyPr wrap="square" rtlCol="0">
            <a:spAutoFit/>
          </a:bodyPr>
          <a:lstStyle/>
          <a:p>
            <a:r>
              <a:rPr lang="en-US" noProof="0" dirty="0"/>
              <a:t>Recruitment</a:t>
            </a:r>
          </a:p>
        </p:txBody>
      </p:sp>
      <p:sp>
        <p:nvSpPr>
          <p:cNvPr id="8" name="Slide Number Placeholder 7">
            <a:extLst>
              <a:ext uri="{FF2B5EF4-FFF2-40B4-BE49-F238E27FC236}">
                <a16:creationId xmlns:a16="http://schemas.microsoft.com/office/drawing/2014/main" id="{7B29A2FD-D340-909E-B233-84801D5E09B0}"/>
              </a:ext>
            </a:extLst>
          </p:cNvPr>
          <p:cNvSpPr>
            <a:spLocks noGrp="1"/>
          </p:cNvSpPr>
          <p:nvPr>
            <p:ph type="sldNum" sz="quarter" idx="4"/>
          </p:nvPr>
        </p:nvSpPr>
        <p:spPr/>
        <p:txBody>
          <a:bodyPr/>
          <a:lstStyle/>
          <a:p>
            <a:fld id="{0DE7A7E6-4794-48E8-A5E1-2E8F8499B315}" type="slidenum">
              <a:rPr lang="en-US" noProof="0" smtClean="0"/>
              <a:pPr/>
              <a:t>8</a:t>
            </a:fld>
            <a:endParaRPr lang="en-US" noProof="0" dirty="0">
              <a:solidFill>
                <a:schemeClr val="bg1"/>
              </a:solidFill>
            </a:endParaRPr>
          </a:p>
        </p:txBody>
      </p:sp>
    </p:spTree>
    <p:extLst>
      <p:ext uri="{BB962C8B-B14F-4D97-AF65-F5344CB8AC3E}">
        <p14:creationId xmlns:p14="http://schemas.microsoft.com/office/powerpoint/2010/main" val="404906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2"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3"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5"/>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2"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grpId="2"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4"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par>
                                <p:cTn id="59" presetID="1" presetClass="entr" presetSubtype="0" fill="hold" grpId="2"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5" grpId="2"/>
      <p:bldP spid="7" grpId="0" animBg="1"/>
      <p:bldP spid="7" grpId="1" animBg="1"/>
      <p:bldP spid="7" grpId="2" animBg="1"/>
      <p:bldP spid="7" grpId="3" animBg="1"/>
      <p:bldP spid="7" grpId="4" animBg="1"/>
      <p:bldP spid="9" grpId="0" animBg="1"/>
      <p:bldP spid="9" grpId="1" animBg="1"/>
      <p:bldP spid="10" grpId="0" animBg="1"/>
      <p:bldP spid="10" grpId="1" animBg="1"/>
      <p:bldP spid="11" grpId="0" animBg="1"/>
      <p:bldP spid="12" grpId="0" animBg="1"/>
      <p:bldP spid="12" grpId="1" animBg="1"/>
      <p:bldP spid="12" grpId="2" animBg="1"/>
      <p:bldP spid="14" grpId="0"/>
      <p:bldP spid="14" grpId="1"/>
      <p:bldP spid="14" grpId="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DC01-2243-3E7E-D705-C73E1C56B911}"/>
              </a:ext>
            </a:extLst>
          </p:cNvPr>
          <p:cNvSpPr>
            <a:spLocks noGrp="1"/>
          </p:cNvSpPr>
          <p:nvPr>
            <p:ph type="title"/>
          </p:nvPr>
        </p:nvSpPr>
        <p:spPr/>
        <p:txBody>
          <a:bodyPr/>
          <a:lstStyle/>
          <a:p>
            <a:r>
              <a:rPr lang="en-US" noProof="0" dirty="0"/>
              <a:t>Motor Unit - Theory</a:t>
            </a:r>
          </a:p>
        </p:txBody>
      </p:sp>
      <p:pic>
        <p:nvPicPr>
          <p:cNvPr id="4" name="Picture 3">
            <a:extLst>
              <a:ext uri="{FF2B5EF4-FFF2-40B4-BE49-F238E27FC236}">
                <a16:creationId xmlns:a16="http://schemas.microsoft.com/office/drawing/2014/main" id="{9FFF65BD-3499-B4E5-A851-42F9F7F9193B}"/>
              </a:ext>
            </a:extLst>
          </p:cNvPr>
          <p:cNvPicPr>
            <a:picLocks noChangeAspect="1"/>
          </p:cNvPicPr>
          <p:nvPr/>
        </p:nvPicPr>
        <p:blipFill>
          <a:blip r:embed="rId3"/>
          <a:stretch>
            <a:fillRect/>
          </a:stretch>
        </p:blipFill>
        <p:spPr>
          <a:xfrm>
            <a:off x="1948071" y="1690688"/>
            <a:ext cx="8147200" cy="4358468"/>
          </a:xfrm>
          <a:prstGeom prst="rect">
            <a:avLst/>
          </a:prstGeom>
        </p:spPr>
      </p:pic>
      <p:sp>
        <p:nvSpPr>
          <p:cNvPr id="6" name="Slide Number Placeholder 5">
            <a:extLst>
              <a:ext uri="{FF2B5EF4-FFF2-40B4-BE49-F238E27FC236}">
                <a16:creationId xmlns:a16="http://schemas.microsoft.com/office/drawing/2014/main" id="{D395A23C-FE5D-B7D3-B03F-476E34013214}"/>
              </a:ext>
            </a:extLst>
          </p:cNvPr>
          <p:cNvSpPr>
            <a:spLocks noGrp="1"/>
          </p:cNvSpPr>
          <p:nvPr>
            <p:ph type="sldNum" sz="quarter" idx="4"/>
          </p:nvPr>
        </p:nvSpPr>
        <p:spPr/>
        <p:txBody>
          <a:bodyPr/>
          <a:lstStyle/>
          <a:p>
            <a:fld id="{0DE7A7E6-4794-48E8-A5E1-2E8F8499B315}" type="slidenum">
              <a:rPr lang="en-US" noProof="0" smtClean="0"/>
              <a:pPr/>
              <a:t>9</a:t>
            </a:fld>
            <a:endParaRPr lang="en-US" noProof="0" dirty="0">
              <a:solidFill>
                <a:schemeClr val="bg1"/>
              </a:solidFill>
            </a:endParaRPr>
          </a:p>
        </p:txBody>
      </p:sp>
    </p:spTree>
    <p:extLst>
      <p:ext uri="{BB962C8B-B14F-4D97-AF65-F5344CB8AC3E}">
        <p14:creationId xmlns:p14="http://schemas.microsoft.com/office/powerpoint/2010/main" val="1446607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7CA9E-2640-0B6F-1C53-B29417E16171}"/>
              </a:ext>
            </a:extLst>
          </p:cNvPr>
          <p:cNvSpPr>
            <a:spLocks noGrp="1"/>
          </p:cNvSpPr>
          <p:nvPr>
            <p:ph type="title"/>
          </p:nvPr>
        </p:nvSpPr>
        <p:spPr/>
        <p:txBody>
          <a:bodyPr/>
          <a:lstStyle/>
          <a:p>
            <a:r>
              <a:rPr lang="en-US" noProof="0" dirty="0"/>
              <a:t>Motor Unit - Theory</a:t>
            </a:r>
          </a:p>
        </p:txBody>
      </p:sp>
      <p:pic>
        <p:nvPicPr>
          <p:cNvPr id="4" name="Picture 3">
            <a:extLst>
              <a:ext uri="{FF2B5EF4-FFF2-40B4-BE49-F238E27FC236}">
                <a16:creationId xmlns:a16="http://schemas.microsoft.com/office/drawing/2014/main" id="{94C0E63C-D77D-C96D-062B-51F74F9F5438}"/>
              </a:ext>
            </a:extLst>
          </p:cNvPr>
          <p:cNvPicPr>
            <a:picLocks noChangeAspect="1"/>
          </p:cNvPicPr>
          <p:nvPr/>
        </p:nvPicPr>
        <p:blipFill>
          <a:blip r:embed="rId3"/>
          <a:stretch>
            <a:fillRect/>
          </a:stretch>
        </p:blipFill>
        <p:spPr>
          <a:xfrm>
            <a:off x="2258130" y="1690688"/>
            <a:ext cx="7534841" cy="4526783"/>
          </a:xfrm>
          <a:prstGeom prst="rect">
            <a:avLst/>
          </a:prstGeom>
        </p:spPr>
      </p:pic>
      <p:sp>
        <p:nvSpPr>
          <p:cNvPr id="6" name="Slide Number Placeholder 5">
            <a:extLst>
              <a:ext uri="{FF2B5EF4-FFF2-40B4-BE49-F238E27FC236}">
                <a16:creationId xmlns:a16="http://schemas.microsoft.com/office/drawing/2014/main" id="{EF14F125-975F-79A8-2A89-04D17F113581}"/>
              </a:ext>
            </a:extLst>
          </p:cNvPr>
          <p:cNvSpPr>
            <a:spLocks noGrp="1"/>
          </p:cNvSpPr>
          <p:nvPr>
            <p:ph type="sldNum" sz="quarter" idx="4"/>
          </p:nvPr>
        </p:nvSpPr>
        <p:spPr/>
        <p:txBody>
          <a:bodyPr/>
          <a:lstStyle/>
          <a:p>
            <a:fld id="{0DE7A7E6-4794-48E8-A5E1-2E8F8499B315}" type="slidenum">
              <a:rPr lang="en-US" noProof="0" smtClean="0"/>
              <a:pPr/>
              <a:t>10</a:t>
            </a:fld>
            <a:endParaRPr lang="en-US" noProof="0" dirty="0">
              <a:solidFill>
                <a:schemeClr val="bg1"/>
              </a:solidFill>
            </a:endParaRPr>
          </a:p>
        </p:txBody>
      </p:sp>
    </p:spTree>
    <p:extLst>
      <p:ext uri="{BB962C8B-B14F-4D97-AF65-F5344CB8AC3E}">
        <p14:creationId xmlns:p14="http://schemas.microsoft.com/office/powerpoint/2010/main" val="12913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284B-F24D-9797-7C9D-8330BC5172A6}"/>
              </a:ext>
            </a:extLst>
          </p:cNvPr>
          <p:cNvSpPr>
            <a:spLocks noGrp="1"/>
          </p:cNvSpPr>
          <p:nvPr>
            <p:ph type="title"/>
          </p:nvPr>
        </p:nvSpPr>
        <p:spPr/>
        <p:txBody>
          <a:bodyPr/>
          <a:lstStyle/>
          <a:p>
            <a:r>
              <a:rPr lang="en-US" noProof="0" dirty="0"/>
              <a:t>Motor Unit - Theory</a:t>
            </a:r>
          </a:p>
        </p:txBody>
      </p:sp>
      <p:sp>
        <p:nvSpPr>
          <p:cNvPr id="4" name="Content Placeholder 3">
            <a:extLst>
              <a:ext uri="{FF2B5EF4-FFF2-40B4-BE49-F238E27FC236}">
                <a16:creationId xmlns:a16="http://schemas.microsoft.com/office/drawing/2014/main" id="{DF1FBD60-032D-3BBA-FA3D-438DFD3F180B}"/>
              </a:ext>
            </a:extLst>
          </p:cNvPr>
          <p:cNvSpPr>
            <a:spLocks noGrp="1"/>
          </p:cNvSpPr>
          <p:nvPr>
            <p:ph idx="1"/>
          </p:nvPr>
        </p:nvSpPr>
        <p:spPr/>
        <p:txBody>
          <a:bodyPr/>
          <a:lstStyle/>
          <a:p>
            <a:pPr marL="0" indent="0">
              <a:buNone/>
            </a:pPr>
            <a:r>
              <a:rPr lang="en-US" noProof="0" dirty="0"/>
              <a:t>Multiple layers</a:t>
            </a:r>
          </a:p>
          <a:p>
            <a:pPr lvl="1"/>
            <a:r>
              <a:rPr lang="en-US" noProof="0" dirty="0"/>
              <a:t>Skin</a:t>
            </a:r>
          </a:p>
          <a:p>
            <a:pPr lvl="1"/>
            <a:r>
              <a:rPr lang="en-US" noProof="0" dirty="0"/>
              <a:t>Fat</a:t>
            </a:r>
          </a:p>
          <a:p>
            <a:pPr lvl="1"/>
            <a:r>
              <a:rPr lang="en-US" noProof="0" dirty="0"/>
              <a:t>Sweat</a:t>
            </a:r>
          </a:p>
          <a:p>
            <a:pPr lvl="1"/>
            <a:r>
              <a:rPr lang="en-US" noProof="0" dirty="0"/>
              <a:t>Blood</a:t>
            </a:r>
          </a:p>
          <a:p>
            <a:pPr lvl="1"/>
            <a:r>
              <a:rPr lang="en-US" noProof="0" dirty="0"/>
              <a:t>Other muscles</a:t>
            </a:r>
          </a:p>
          <a:p>
            <a:pPr marL="457200" lvl="1" indent="0">
              <a:buNone/>
            </a:pPr>
            <a:endParaRPr lang="en-US" noProof="0" dirty="0"/>
          </a:p>
        </p:txBody>
      </p:sp>
      <p:sp>
        <p:nvSpPr>
          <p:cNvPr id="5" name="Content Placeholder 4">
            <a:extLst>
              <a:ext uri="{FF2B5EF4-FFF2-40B4-BE49-F238E27FC236}">
                <a16:creationId xmlns:a16="http://schemas.microsoft.com/office/drawing/2014/main" id="{E923B145-37FC-52C2-7F50-CBFB8022E7D8}"/>
              </a:ext>
            </a:extLst>
          </p:cNvPr>
          <p:cNvSpPr>
            <a:spLocks noGrp="1"/>
          </p:cNvSpPr>
          <p:nvPr>
            <p:ph idx="11"/>
          </p:nvPr>
        </p:nvSpPr>
        <p:spPr/>
        <p:txBody>
          <a:bodyPr/>
          <a:lstStyle/>
          <a:p>
            <a:pPr marL="0" indent="0">
              <a:buNone/>
            </a:pPr>
            <a:r>
              <a:rPr lang="en-US" noProof="0" dirty="0"/>
              <a:t>Impacts</a:t>
            </a:r>
          </a:p>
          <a:p>
            <a:pPr lvl="1"/>
            <a:r>
              <a:rPr lang="en-US" noProof="0" dirty="0"/>
              <a:t>Amplitude loss</a:t>
            </a:r>
          </a:p>
          <a:p>
            <a:pPr lvl="1"/>
            <a:r>
              <a:rPr lang="en-US" noProof="0" dirty="0"/>
              <a:t>Spatial blurring</a:t>
            </a:r>
          </a:p>
        </p:txBody>
      </p:sp>
      <p:sp>
        <p:nvSpPr>
          <p:cNvPr id="7" name="Slide Number Placeholder 6">
            <a:extLst>
              <a:ext uri="{FF2B5EF4-FFF2-40B4-BE49-F238E27FC236}">
                <a16:creationId xmlns:a16="http://schemas.microsoft.com/office/drawing/2014/main" id="{88CC617A-7EED-18F7-BD6A-BE23D518EDE9}"/>
              </a:ext>
            </a:extLst>
          </p:cNvPr>
          <p:cNvSpPr>
            <a:spLocks noGrp="1"/>
          </p:cNvSpPr>
          <p:nvPr>
            <p:ph type="sldNum" sz="quarter" idx="4"/>
          </p:nvPr>
        </p:nvSpPr>
        <p:spPr/>
        <p:txBody>
          <a:bodyPr/>
          <a:lstStyle/>
          <a:p>
            <a:fld id="{0DE7A7E6-4794-48E8-A5E1-2E8F8499B315}" type="slidenum">
              <a:rPr lang="en-US" noProof="0" smtClean="0"/>
              <a:pPr/>
              <a:t>11</a:t>
            </a:fld>
            <a:endParaRPr lang="en-US" noProof="0" dirty="0">
              <a:solidFill>
                <a:schemeClr val="bg1"/>
              </a:solidFill>
            </a:endParaRPr>
          </a:p>
        </p:txBody>
      </p:sp>
    </p:spTree>
    <p:extLst>
      <p:ext uri="{BB962C8B-B14F-4D97-AF65-F5344CB8AC3E}">
        <p14:creationId xmlns:p14="http://schemas.microsoft.com/office/powerpoint/2010/main" val="1653292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5835-93DE-DC97-54CE-B8EFD948509E}"/>
              </a:ext>
            </a:extLst>
          </p:cNvPr>
          <p:cNvSpPr>
            <a:spLocks noGrp="1"/>
          </p:cNvSpPr>
          <p:nvPr>
            <p:ph type="title"/>
          </p:nvPr>
        </p:nvSpPr>
        <p:spPr/>
        <p:txBody>
          <a:bodyPr/>
          <a:lstStyle/>
          <a:p>
            <a:r>
              <a:rPr lang="en-US" noProof="0" dirty="0"/>
              <a:t>Motor Units - Extraction</a:t>
            </a:r>
          </a:p>
        </p:txBody>
      </p:sp>
      <p:sp>
        <p:nvSpPr>
          <p:cNvPr id="5" name="Content Placeholder 4">
            <a:extLst>
              <a:ext uri="{FF2B5EF4-FFF2-40B4-BE49-F238E27FC236}">
                <a16:creationId xmlns:a16="http://schemas.microsoft.com/office/drawing/2014/main" id="{F277A5FE-E369-492B-C4C2-9D5A9B029BD3}"/>
              </a:ext>
            </a:extLst>
          </p:cNvPr>
          <p:cNvSpPr>
            <a:spLocks noGrp="1"/>
          </p:cNvSpPr>
          <p:nvPr>
            <p:ph idx="1"/>
          </p:nvPr>
        </p:nvSpPr>
        <p:spPr/>
        <p:txBody>
          <a:bodyPr/>
          <a:lstStyle/>
          <a:p>
            <a:pPr marL="0" indent="0">
              <a:buNone/>
            </a:pPr>
            <a:r>
              <a:rPr lang="en-US" noProof="0" dirty="0"/>
              <a:t>Parameters</a:t>
            </a:r>
          </a:p>
          <a:p>
            <a:pPr lvl="1"/>
            <a:r>
              <a:rPr lang="en-US" noProof="0" dirty="0"/>
              <a:t>Type</a:t>
            </a:r>
          </a:p>
          <a:p>
            <a:pPr lvl="1"/>
            <a:r>
              <a:rPr lang="en-US" noProof="0" dirty="0"/>
              <a:t>Material</a:t>
            </a:r>
          </a:p>
          <a:p>
            <a:pPr lvl="1"/>
            <a:r>
              <a:rPr lang="en-US" noProof="0" dirty="0"/>
              <a:t>Quantity</a:t>
            </a:r>
          </a:p>
          <a:p>
            <a:pPr lvl="1"/>
            <a:r>
              <a:rPr lang="en-US" noProof="0" dirty="0"/>
              <a:t>Size</a:t>
            </a:r>
          </a:p>
          <a:p>
            <a:pPr lvl="1"/>
            <a:r>
              <a:rPr lang="en-US" noProof="0" dirty="0"/>
              <a:t>Inter-Electrode Distance</a:t>
            </a:r>
          </a:p>
          <a:p>
            <a:pPr lvl="1"/>
            <a:endParaRPr lang="en-US" noProof="0" dirty="0"/>
          </a:p>
          <a:p>
            <a:pPr marL="0" indent="0">
              <a:buNone/>
            </a:pPr>
            <a:r>
              <a:rPr lang="en-US" noProof="0" dirty="0"/>
              <a:t>Other</a:t>
            </a:r>
          </a:p>
          <a:p>
            <a:pPr lvl="1"/>
            <a:r>
              <a:rPr lang="en-US" noProof="0" dirty="0"/>
              <a:t>Algorithms</a:t>
            </a:r>
          </a:p>
          <a:p>
            <a:pPr lvl="1"/>
            <a:r>
              <a:rPr lang="en-US" noProof="0" dirty="0"/>
              <a:t>Contraction strength</a:t>
            </a:r>
          </a:p>
          <a:p>
            <a:pPr lvl="1"/>
            <a:endParaRPr lang="en-US" noProof="0" dirty="0"/>
          </a:p>
        </p:txBody>
      </p:sp>
      <p:pic>
        <p:nvPicPr>
          <p:cNvPr id="3074" name="Picture 2">
            <a:extLst>
              <a:ext uri="{FF2B5EF4-FFF2-40B4-BE49-F238E27FC236}">
                <a16:creationId xmlns:a16="http://schemas.microsoft.com/office/drawing/2014/main" id="{57238193-F3B2-5AA2-2C98-CE3D016B8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605373" y="1409700"/>
            <a:ext cx="6057900" cy="4038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F013F5B-993D-DC81-6534-081F32E952F4}"/>
              </a:ext>
            </a:extLst>
          </p:cNvPr>
          <p:cNvSpPr txBox="1"/>
          <p:nvPr/>
        </p:nvSpPr>
        <p:spPr>
          <a:xfrm>
            <a:off x="3714750" y="6242506"/>
            <a:ext cx="5229225" cy="430887"/>
          </a:xfrm>
          <a:prstGeom prst="rect">
            <a:avLst/>
          </a:prstGeom>
          <a:noFill/>
        </p:spPr>
        <p:txBody>
          <a:bodyPr wrap="square" rtlCol="0">
            <a:spAutoFit/>
          </a:bodyPr>
          <a:lstStyle/>
          <a:p>
            <a:r>
              <a:rPr lang="en-US" sz="1100" noProof="0" dirty="0"/>
              <a:t>“HD05MM0804,” </a:t>
            </a:r>
            <a:r>
              <a:rPr lang="en-US" sz="1100" i="1" noProof="0" dirty="0"/>
              <a:t>OT Bioelettronica</a:t>
            </a:r>
            <a:r>
              <a:rPr lang="en-US" sz="1100" noProof="0" dirty="0"/>
              <a:t>, Dec. 18, 2025. https://otbioelettronica.it/en/product/hd05mm0804/ (accessed Apr. 13, 2026).</a:t>
            </a:r>
          </a:p>
        </p:txBody>
      </p:sp>
      <p:sp>
        <p:nvSpPr>
          <p:cNvPr id="4" name="Slide Number Placeholder 3">
            <a:extLst>
              <a:ext uri="{FF2B5EF4-FFF2-40B4-BE49-F238E27FC236}">
                <a16:creationId xmlns:a16="http://schemas.microsoft.com/office/drawing/2014/main" id="{5E0F7FBC-324A-AC1B-795F-C3BD1442918B}"/>
              </a:ext>
            </a:extLst>
          </p:cNvPr>
          <p:cNvSpPr>
            <a:spLocks noGrp="1"/>
          </p:cNvSpPr>
          <p:nvPr>
            <p:ph type="sldNum" sz="quarter" idx="4"/>
          </p:nvPr>
        </p:nvSpPr>
        <p:spPr/>
        <p:txBody>
          <a:bodyPr/>
          <a:lstStyle/>
          <a:p>
            <a:fld id="{0DE7A7E6-4794-48E8-A5E1-2E8F8499B315}" type="slidenum">
              <a:rPr lang="en-US" noProof="0" smtClean="0"/>
              <a:pPr/>
              <a:t>12</a:t>
            </a:fld>
            <a:endParaRPr lang="en-US" noProof="0" dirty="0">
              <a:solidFill>
                <a:schemeClr val="bg1"/>
              </a:solidFill>
            </a:endParaRPr>
          </a:p>
        </p:txBody>
      </p:sp>
    </p:spTree>
    <p:extLst>
      <p:ext uri="{BB962C8B-B14F-4D97-AF65-F5344CB8AC3E}">
        <p14:creationId xmlns:p14="http://schemas.microsoft.com/office/powerpoint/2010/main" val="4105355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695A-4CB1-D4AC-ED14-D2D8FBB825BC}"/>
              </a:ext>
            </a:extLst>
          </p:cNvPr>
          <p:cNvSpPr>
            <a:spLocks noGrp="1"/>
          </p:cNvSpPr>
          <p:nvPr>
            <p:ph type="title"/>
          </p:nvPr>
        </p:nvSpPr>
        <p:spPr/>
        <p:txBody>
          <a:bodyPr/>
          <a:lstStyle/>
          <a:p>
            <a:r>
              <a:rPr lang="en-US" noProof="0" dirty="0"/>
              <a:t>Motor Units - Extraction</a:t>
            </a:r>
          </a:p>
        </p:txBody>
      </p:sp>
      <p:sp>
        <p:nvSpPr>
          <p:cNvPr id="3" name="Content Placeholder 2">
            <a:extLst>
              <a:ext uri="{FF2B5EF4-FFF2-40B4-BE49-F238E27FC236}">
                <a16:creationId xmlns:a16="http://schemas.microsoft.com/office/drawing/2014/main" id="{E4199B61-4256-EE63-F8D0-A137F16BE357}"/>
              </a:ext>
            </a:extLst>
          </p:cNvPr>
          <p:cNvSpPr>
            <a:spLocks noGrp="1"/>
          </p:cNvSpPr>
          <p:nvPr>
            <p:ph idx="1"/>
          </p:nvPr>
        </p:nvSpPr>
        <p:spPr/>
        <p:txBody>
          <a:bodyPr/>
          <a:lstStyle/>
          <a:p>
            <a:pPr marL="0" indent="0">
              <a:buNone/>
            </a:pPr>
            <a:r>
              <a:rPr lang="en-US" noProof="0" dirty="0"/>
              <a:t>Type</a:t>
            </a:r>
          </a:p>
          <a:p>
            <a:pPr lvl="1"/>
            <a:r>
              <a:rPr lang="en-US" noProof="0" dirty="0"/>
              <a:t>Intramuscular</a:t>
            </a:r>
          </a:p>
          <a:p>
            <a:pPr lvl="1"/>
            <a:r>
              <a:rPr lang="en-US" noProof="0" dirty="0"/>
              <a:t>Surface</a:t>
            </a:r>
          </a:p>
          <a:p>
            <a:pPr lvl="1"/>
            <a:endParaRPr lang="en-US" noProof="0" dirty="0"/>
          </a:p>
          <a:p>
            <a:pPr marL="0" indent="0">
              <a:buNone/>
            </a:pPr>
            <a:r>
              <a:rPr lang="en-US" noProof="0" dirty="0"/>
              <a:t>Difference</a:t>
            </a:r>
          </a:p>
          <a:p>
            <a:pPr lvl="1"/>
            <a:r>
              <a:rPr lang="en-US" noProof="0" dirty="0"/>
              <a:t>Comfort</a:t>
            </a:r>
          </a:p>
          <a:p>
            <a:pPr lvl="1"/>
            <a:r>
              <a:rPr lang="en-US" noProof="0" dirty="0"/>
              <a:t>Signal quality</a:t>
            </a:r>
          </a:p>
        </p:txBody>
      </p:sp>
      <p:pic>
        <p:nvPicPr>
          <p:cNvPr id="6" name="Picture 2">
            <a:extLst>
              <a:ext uri="{FF2B5EF4-FFF2-40B4-BE49-F238E27FC236}">
                <a16:creationId xmlns:a16="http://schemas.microsoft.com/office/drawing/2014/main" id="{5C82AE80-AF24-D39B-22B4-D51DBE378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884438" y="2019299"/>
            <a:ext cx="42291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52EAF40-BD56-CC67-4087-488A52A15907}"/>
              </a:ext>
            </a:extLst>
          </p:cNvPr>
          <p:cNvPicPr>
            <a:picLocks noChangeAspect="1"/>
          </p:cNvPicPr>
          <p:nvPr/>
        </p:nvPicPr>
        <p:blipFill>
          <a:blip r:embed="rId4"/>
          <a:stretch>
            <a:fillRect/>
          </a:stretch>
        </p:blipFill>
        <p:spPr>
          <a:xfrm>
            <a:off x="8201025" y="2005579"/>
            <a:ext cx="3815155" cy="2846841"/>
          </a:xfrm>
          <a:prstGeom prst="rect">
            <a:avLst/>
          </a:prstGeom>
        </p:spPr>
      </p:pic>
      <p:sp>
        <p:nvSpPr>
          <p:cNvPr id="9" name="TextBox 8">
            <a:extLst>
              <a:ext uri="{FF2B5EF4-FFF2-40B4-BE49-F238E27FC236}">
                <a16:creationId xmlns:a16="http://schemas.microsoft.com/office/drawing/2014/main" id="{D1456C13-A365-2141-48FD-9F43EBD4BA33}"/>
              </a:ext>
            </a:extLst>
          </p:cNvPr>
          <p:cNvSpPr txBox="1"/>
          <p:nvPr/>
        </p:nvSpPr>
        <p:spPr>
          <a:xfrm>
            <a:off x="3676650" y="6245225"/>
            <a:ext cx="5153025" cy="769441"/>
          </a:xfrm>
          <a:prstGeom prst="rect">
            <a:avLst/>
          </a:prstGeom>
          <a:noFill/>
        </p:spPr>
        <p:txBody>
          <a:bodyPr wrap="square" rtlCol="0">
            <a:spAutoFit/>
          </a:bodyPr>
          <a:lstStyle/>
          <a:p>
            <a:r>
              <a:rPr lang="en-US" sz="1100" noProof="0" dirty="0"/>
              <a:t>“Monopolar EMG Needle Electrodes - BESDATA,” </a:t>
            </a:r>
            <a:r>
              <a:rPr lang="en-US" sz="1100" i="1" noProof="0" dirty="0"/>
              <a:t>BESDATA</a:t>
            </a:r>
            <a:r>
              <a:rPr lang="en-US" sz="1100" noProof="0" dirty="0"/>
              <a:t>, Jun. 21, 2022. https://besdatatech.com/monopolar-emg-needle-electrodes/</a:t>
            </a:r>
          </a:p>
          <a:p>
            <a:r>
              <a:rPr lang="en-US" sz="1100" noProof="0" dirty="0"/>
              <a:t>‌</a:t>
            </a:r>
          </a:p>
          <a:p>
            <a:endParaRPr lang="en-US" sz="1100" noProof="0" dirty="0"/>
          </a:p>
        </p:txBody>
      </p:sp>
      <p:sp>
        <p:nvSpPr>
          <p:cNvPr id="5" name="Slide Number Placeholder 4">
            <a:extLst>
              <a:ext uri="{FF2B5EF4-FFF2-40B4-BE49-F238E27FC236}">
                <a16:creationId xmlns:a16="http://schemas.microsoft.com/office/drawing/2014/main" id="{DE474565-947F-F177-3DC9-6986DCB3CC2A}"/>
              </a:ext>
            </a:extLst>
          </p:cNvPr>
          <p:cNvSpPr>
            <a:spLocks noGrp="1"/>
          </p:cNvSpPr>
          <p:nvPr>
            <p:ph type="sldNum" sz="quarter" idx="4"/>
          </p:nvPr>
        </p:nvSpPr>
        <p:spPr/>
        <p:txBody>
          <a:bodyPr/>
          <a:lstStyle/>
          <a:p>
            <a:fld id="{0DE7A7E6-4794-48E8-A5E1-2E8F8499B315}" type="slidenum">
              <a:rPr lang="en-US" noProof="0" smtClean="0"/>
              <a:pPr/>
              <a:t>13</a:t>
            </a:fld>
            <a:endParaRPr lang="en-US" noProof="0" dirty="0">
              <a:solidFill>
                <a:schemeClr val="bg1"/>
              </a:solidFill>
            </a:endParaRPr>
          </a:p>
        </p:txBody>
      </p:sp>
    </p:spTree>
    <p:extLst>
      <p:ext uri="{BB962C8B-B14F-4D97-AF65-F5344CB8AC3E}">
        <p14:creationId xmlns:p14="http://schemas.microsoft.com/office/powerpoint/2010/main" val="55370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5B8-F995-A987-08A0-3E296AC45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29E30-08A3-E103-0950-8227845EDC6B}"/>
              </a:ext>
            </a:extLst>
          </p:cNvPr>
          <p:cNvSpPr>
            <a:spLocks noGrp="1"/>
          </p:cNvSpPr>
          <p:nvPr>
            <p:ph type="title"/>
          </p:nvPr>
        </p:nvSpPr>
        <p:spPr/>
        <p:txBody>
          <a:bodyPr/>
          <a:lstStyle/>
          <a:p>
            <a:r>
              <a:rPr lang="en-US" noProof="0" dirty="0"/>
              <a:t>Motor Units - Extraction</a:t>
            </a:r>
          </a:p>
        </p:txBody>
      </p:sp>
      <p:sp>
        <p:nvSpPr>
          <p:cNvPr id="5" name="Content Placeholder 4">
            <a:extLst>
              <a:ext uri="{FF2B5EF4-FFF2-40B4-BE49-F238E27FC236}">
                <a16:creationId xmlns:a16="http://schemas.microsoft.com/office/drawing/2014/main" id="{4B061DEC-1A54-1BDE-54FE-6C863C017C3C}"/>
              </a:ext>
            </a:extLst>
          </p:cNvPr>
          <p:cNvSpPr>
            <a:spLocks noGrp="1"/>
          </p:cNvSpPr>
          <p:nvPr>
            <p:ph idx="1"/>
          </p:nvPr>
        </p:nvSpPr>
        <p:spPr/>
        <p:txBody>
          <a:bodyPr/>
          <a:lstStyle/>
          <a:p>
            <a:pPr marL="0" indent="0">
              <a:buNone/>
            </a:pPr>
            <a:r>
              <a:rPr lang="en-US" noProof="0" dirty="0"/>
              <a:t>Material</a:t>
            </a:r>
          </a:p>
          <a:p>
            <a:pPr lvl="1"/>
            <a:r>
              <a:rPr lang="en-US" noProof="0" dirty="0"/>
              <a:t>Metal</a:t>
            </a:r>
          </a:p>
          <a:p>
            <a:pPr lvl="1"/>
            <a:r>
              <a:rPr lang="en-US" noProof="0" dirty="0"/>
              <a:t>Polymer</a:t>
            </a:r>
          </a:p>
          <a:p>
            <a:pPr lvl="1"/>
            <a:endParaRPr lang="en-US" noProof="0" dirty="0"/>
          </a:p>
          <a:p>
            <a:pPr marL="0" indent="0">
              <a:buNone/>
            </a:pPr>
            <a:r>
              <a:rPr lang="en-US" noProof="0" dirty="0"/>
              <a:t>Impact</a:t>
            </a:r>
          </a:p>
          <a:p>
            <a:pPr lvl="1"/>
            <a:r>
              <a:rPr lang="en-US" noProof="0" dirty="0"/>
              <a:t>Signal quality</a:t>
            </a:r>
          </a:p>
          <a:p>
            <a:pPr lvl="1"/>
            <a:r>
              <a:rPr lang="en-US" noProof="0" dirty="0"/>
              <a:t>Reusability</a:t>
            </a:r>
          </a:p>
          <a:p>
            <a:pPr lvl="1"/>
            <a:r>
              <a:rPr lang="en-US" noProof="0" dirty="0"/>
              <a:t>Comfort</a:t>
            </a:r>
          </a:p>
        </p:txBody>
      </p:sp>
      <p:pic>
        <p:nvPicPr>
          <p:cNvPr id="7" name="Picture 2">
            <a:extLst>
              <a:ext uri="{FF2B5EF4-FFF2-40B4-BE49-F238E27FC236}">
                <a16:creationId xmlns:a16="http://schemas.microsoft.com/office/drawing/2014/main" id="{195909B8-34C4-0A46-1D13-E2D93854A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531564" y="2016597"/>
            <a:ext cx="42291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F9EE30E-5E08-4C93-ECAC-27789844CDBA}"/>
              </a:ext>
            </a:extLst>
          </p:cNvPr>
          <p:cNvPicPr>
            <a:picLocks noChangeAspect="1"/>
          </p:cNvPicPr>
          <p:nvPr/>
        </p:nvPicPr>
        <p:blipFill>
          <a:blip r:embed="rId4"/>
          <a:stretch>
            <a:fillRect/>
          </a:stretch>
        </p:blipFill>
        <p:spPr>
          <a:xfrm>
            <a:off x="8055814" y="2209318"/>
            <a:ext cx="3603263" cy="2433959"/>
          </a:xfrm>
          <a:prstGeom prst="rect">
            <a:avLst/>
          </a:prstGeom>
        </p:spPr>
      </p:pic>
      <p:sp>
        <p:nvSpPr>
          <p:cNvPr id="12" name="TextBox 11">
            <a:extLst>
              <a:ext uri="{FF2B5EF4-FFF2-40B4-BE49-F238E27FC236}">
                <a16:creationId xmlns:a16="http://schemas.microsoft.com/office/drawing/2014/main" id="{0934B47B-67B1-29A0-D73B-C939D32D0112}"/>
              </a:ext>
            </a:extLst>
          </p:cNvPr>
          <p:cNvSpPr txBox="1"/>
          <p:nvPr/>
        </p:nvSpPr>
        <p:spPr>
          <a:xfrm>
            <a:off x="3597215" y="6233928"/>
            <a:ext cx="6067425" cy="461665"/>
          </a:xfrm>
          <a:prstGeom prst="rect">
            <a:avLst/>
          </a:prstGeom>
          <a:noFill/>
        </p:spPr>
        <p:txBody>
          <a:bodyPr wrap="square" rtlCol="0">
            <a:spAutoFit/>
          </a:bodyPr>
          <a:lstStyle/>
          <a:p>
            <a:r>
              <a:rPr lang="en-US" sz="1200" noProof="0" dirty="0"/>
              <a:t>S. Yang et al., « Stretchable surface electromyography electrode array patch for tendon location and muscle injury prevention », Nat Commun, vol. 14, no 1, p. 6494, oct. 2023</a:t>
            </a:r>
          </a:p>
        </p:txBody>
      </p:sp>
      <p:sp>
        <p:nvSpPr>
          <p:cNvPr id="4" name="Slide Number Placeholder 3">
            <a:extLst>
              <a:ext uri="{FF2B5EF4-FFF2-40B4-BE49-F238E27FC236}">
                <a16:creationId xmlns:a16="http://schemas.microsoft.com/office/drawing/2014/main" id="{E520EAFA-44CE-C046-8888-684DFFC5F5BE}"/>
              </a:ext>
            </a:extLst>
          </p:cNvPr>
          <p:cNvSpPr>
            <a:spLocks noGrp="1"/>
          </p:cNvSpPr>
          <p:nvPr>
            <p:ph type="sldNum" sz="quarter" idx="4"/>
          </p:nvPr>
        </p:nvSpPr>
        <p:spPr/>
        <p:txBody>
          <a:bodyPr/>
          <a:lstStyle/>
          <a:p>
            <a:fld id="{0DE7A7E6-4794-48E8-A5E1-2E8F8499B315}" type="slidenum">
              <a:rPr lang="en-US" noProof="0" smtClean="0"/>
              <a:pPr/>
              <a:t>14</a:t>
            </a:fld>
            <a:endParaRPr lang="en-US" noProof="0" dirty="0">
              <a:solidFill>
                <a:schemeClr val="bg1"/>
              </a:solidFill>
            </a:endParaRPr>
          </a:p>
        </p:txBody>
      </p:sp>
    </p:spTree>
    <p:extLst>
      <p:ext uri="{BB962C8B-B14F-4D97-AF65-F5344CB8AC3E}">
        <p14:creationId xmlns:p14="http://schemas.microsoft.com/office/powerpoint/2010/main" val="2289749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18C66-F97C-1638-3405-4D070D9CC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21DDF-B960-EB27-A47D-87DF19ACAC2B}"/>
              </a:ext>
            </a:extLst>
          </p:cNvPr>
          <p:cNvSpPr>
            <a:spLocks noGrp="1"/>
          </p:cNvSpPr>
          <p:nvPr>
            <p:ph type="title"/>
          </p:nvPr>
        </p:nvSpPr>
        <p:spPr/>
        <p:txBody>
          <a:bodyPr/>
          <a:lstStyle/>
          <a:p>
            <a:r>
              <a:rPr lang="en-US" noProof="0" dirty="0"/>
              <a:t>Motor Units - Extraction</a:t>
            </a:r>
          </a:p>
        </p:txBody>
      </p:sp>
      <p:sp>
        <p:nvSpPr>
          <p:cNvPr id="5" name="Content Placeholder 4">
            <a:extLst>
              <a:ext uri="{FF2B5EF4-FFF2-40B4-BE49-F238E27FC236}">
                <a16:creationId xmlns:a16="http://schemas.microsoft.com/office/drawing/2014/main" id="{7C7566E2-AB74-BC6D-4797-1D086F7B4831}"/>
              </a:ext>
            </a:extLst>
          </p:cNvPr>
          <p:cNvSpPr>
            <a:spLocks noGrp="1"/>
          </p:cNvSpPr>
          <p:nvPr>
            <p:ph idx="1"/>
          </p:nvPr>
        </p:nvSpPr>
        <p:spPr/>
        <p:txBody>
          <a:bodyPr/>
          <a:lstStyle/>
          <a:p>
            <a:pPr marL="0" indent="0">
              <a:buNone/>
            </a:pPr>
            <a:r>
              <a:rPr lang="en-US" noProof="0" dirty="0"/>
              <a:t>Electrode</a:t>
            </a:r>
          </a:p>
          <a:p>
            <a:pPr lvl="1"/>
            <a:r>
              <a:rPr lang="en-US" noProof="0" dirty="0"/>
              <a:t>Average measurement over its surface</a:t>
            </a:r>
          </a:p>
          <a:p>
            <a:pPr lvl="1"/>
            <a:r>
              <a:rPr lang="en-US" noProof="0" dirty="0"/>
              <a:t>Low-pass filtering</a:t>
            </a:r>
          </a:p>
          <a:p>
            <a:pPr lvl="1"/>
            <a:endParaRPr lang="en-US" noProof="0" dirty="0"/>
          </a:p>
          <a:p>
            <a:pPr marL="0" indent="0">
              <a:buNone/>
            </a:pPr>
            <a:r>
              <a:rPr lang="en-US" noProof="0" dirty="0"/>
              <a:t>Large electrode diameter</a:t>
            </a:r>
          </a:p>
          <a:p>
            <a:pPr lvl="1"/>
            <a:r>
              <a:rPr lang="en-US" noProof="0" dirty="0"/>
              <a:t>More stable</a:t>
            </a:r>
          </a:p>
          <a:p>
            <a:pPr lvl="1"/>
            <a:endParaRPr lang="en-US" noProof="0" dirty="0"/>
          </a:p>
          <a:p>
            <a:pPr marL="0" indent="0">
              <a:buNone/>
            </a:pPr>
            <a:r>
              <a:rPr lang="en-US" noProof="0" dirty="0"/>
              <a:t>Small electrode diameter</a:t>
            </a:r>
          </a:p>
          <a:p>
            <a:pPr lvl="1"/>
            <a:r>
              <a:rPr lang="en-US" noProof="0" dirty="0"/>
              <a:t>More precise</a:t>
            </a:r>
          </a:p>
          <a:p>
            <a:pPr lvl="1"/>
            <a:endParaRPr lang="en-US" noProof="0" dirty="0"/>
          </a:p>
        </p:txBody>
      </p:sp>
      <p:sp>
        <p:nvSpPr>
          <p:cNvPr id="4" name="Slide Number Placeholder 3">
            <a:extLst>
              <a:ext uri="{FF2B5EF4-FFF2-40B4-BE49-F238E27FC236}">
                <a16:creationId xmlns:a16="http://schemas.microsoft.com/office/drawing/2014/main" id="{89619363-5749-B70F-7D33-2DD0A42A1FD5}"/>
              </a:ext>
            </a:extLst>
          </p:cNvPr>
          <p:cNvSpPr>
            <a:spLocks noGrp="1"/>
          </p:cNvSpPr>
          <p:nvPr>
            <p:ph type="sldNum" sz="quarter" idx="4"/>
          </p:nvPr>
        </p:nvSpPr>
        <p:spPr/>
        <p:txBody>
          <a:bodyPr/>
          <a:lstStyle/>
          <a:p>
            <a:fld id="{0DE7A7E6-4794-48E8-A5E1-2E8F8499B315}" type="slidenum">
              <a:rPr lang="en-US" noProof="0" smtClean="0"/>
              <a:pPr/>
              <a:t>15</a:t>
            </a:fld>
            <a:endParaRPr lang="en-US" noProof="0" dirty="0">
              <a:solidFill>
                <a:schemeClr val="bg1"/>
              </a:solidFill>
            </a:endParaRPr>
          </a:p>
        </p:txBody>
      </p:sp>
    </p:spTree>
    <p:extLst>
      <p:ext uri="{BB962C8B-B14F-4D97-AF65-F5344CB8AC3E}">
        <p14:creationId xmlns:p14="http://schemas.microsoft.com/office/powerpoint/2010/main" val="1433037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6410D-4840-3288-8FFA-054A3A1DB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07916-7670-F5DA-2C46-BA6E582B314F}"/>
              </a:ext>
            </a:extLst>
          </p:cNvPr>
          <p:cNvSpPr>
            <a:spLocks noGrp="1"/>
          </p:cNvSpPr>
          <p:nvPr>
            <p:ph type="title"/>
          </p:nvPr>
        </p:nvSpPr>
        <p:spPr/>
        <p:txBody>
          <a:bodyPr/>
          <a:lstStyle/>
          <a:p>
            <a:r>
              <a:rPr lang="en-US" noProof="0" dirty="0"/>
              <a:t>Motor Units - Extraction</a:t>
            </a:r>
          </a:p>
        </p:txBody>
      </p:sp>
      <p:sp>
        <p:nvSpPr>
          <p:cNvPr id="3" name="Content Placeholder 2">
            <a:extLst>
              <a:ext uri="{FF2B5EF4-FFF2-40B4-BE49-F238E27FC236}">
                <a16:creationId xmlns:a16="http://schemas.microsoft.com/office/drawing/2014/main" id="{088404D0-B0C6-6545-1048-15CE145B5797}"/>
              </a:ext>
            </a:extLst>
          </p:cNvPr>
          <p:cNvSpPr>
            <a:spLocks noGrp="1"/>
          </p:cNvSpPr>
          <p:nvPr>
            <p:ph idx="1"/>
          </p:nvPr>
        </p:nvSpPr>
        <p:spPr/>
        <p:txBody>
          <a:bodyPr>
            <a:normAutofit fontScale="92500"/>
          </a:bodyPr>
          <a:lstStyle/>
          <a:p>
            <a:pPr marL="0" indent="0">
              <a:buNone/>
            </a:pPr>
            <a:r>
              <a:rPr lang="en-US" noProof="0" dirty="0"/>
              <a:t>Inter-electrode distance (IED)</a:t>
            </a:r>
          </a:p>
          <a:p>
            <a:pPr lvl="1"/>
            <a:r>
              <a:rPr lang="en-US" noProof="0" dirty="0"/>
              <a:t>Measurable spatial variations depends on the distance</a:t>
            </a:r>
          </a:p>
          <a:p>
            <a:pPr lvl="1"/>
            <a:r>
              <a:rPr lang="en-US" noProof="0" dirty="0"/>
              <a:t>Low-pass filtering</a:t>
            </a:r>
          </a:p>
          <a:p>
            <a:pPr lvl="1"/>
            <a:endParaRPr lang="en-US" noProof="0" dirty="0"/>
          </a:p>
          <a:p>
            <a:pPr marL="0" indent="0">
              <a:buNone/>
            </a:pPr>
            <a:r>
              <a:rPr lang="en-US" noProof="0" dirty="0"/>
              <a:t>Large IED</a:t>
            </a:r>
          </a:p>
          <a:p>
            <a:pPr lvl="1"/>
            <a:r>
              <a:rPr lang="en-US" noProof="0" dirty="0"/>
              <a:t>More global</a:t>
            </a:r>
          </a:p>
          <a:p>
            <a:pPr lvl="1"/>
            <a:endParaRPr lang="en-US" noProof="0" dirty="0"/>
          </a:p>
          <a:p>
            <a:pPr marL="0" indent="0">
              <a:buNone/>
            </a:pPr>
            <a:r>
              <a:rPr lang="en-US" noProof="0" dirty="0"/>
              <a:t>Small IED</a:t>
            </a:r>
          </a:p>
          <a:p>
            <a:pPr lvl="1"/>
            <a:r>
              <a:rPr lang="en-US" noProof="0" dirty="0"/>
              <a:t>More precise</a:t>
            </a:r>
          </a:p>
          <a:p>
            <a:endParaRPr lang="en-US" noProof="0" dirty="0"/>
          </a:p>
          <a:p>
            <a:pPr lvl="1"/>
            <a:endParaRPr lang="en-US" noProof="0" dirty="0"/>
          </a:p>
          <a:p>
            <a:pPr lvl="1"/>
            <a:endParaRPr lang="en-US" noProof="0" dirty="0"/>
          </a:p>
        </p:txBody>
      </p:sp>
      <p:sp>
        <p:nvSpPr>
          <p:cNvPr id="5" name="Slide Number Placeholder 4">
            <a:extLst>
              <a:ext uri="{FF2B5EF4-FFF2-40B4-BE49-F238E27FC236}">
                <a16:creationId xmlns:a16="http://schemas.microsoft.com/office/drawing/2014/main" id="{E7BECB5A-A05A-F22B-05E5-7CEAB99E3790}"/>
              </a:ext>
            </a:extLst>
          </p:cNvPr>
          <p:cNvSpPr>
            <a:spLocks noGrp="1"/>
          </p:cNvSpPr>
          <p:nvPr>
            <p:ph type="sldNum" sz="quarter" idx="4"/>
          </p:nvPr>
        </p:nvSpPr>
        <p:spPr/>
        <p:txBody>
          <a:bodyPr/>
          <a:lstStyle/>
          <a:p>
            <a:fld id="{0DE7A7E6-4794-48E8-A5E1-2E8F8499B315}" type="slidenum">
              <a:rPr lang="en-US" noProof="0" smtClean="0"/>
              <a:pPr/>
              <a:t>16</a:t>
            </a:fld>
            <a:endParaRPr lang="en-US" noProof="0" dirty="0">
              <a:solidFill>
                <a:schemeClr val="bg1"/>
              </a:solidFill>
            </a:endParaRPr>
          </a:p>
        </p:txBody>
      </p:sp>
    </p:spTree>
    <p:extLst>
      <p:ext uri="{BB962C8B-B14F-4D97-AF65-F5344CB8AC3E}">
        <p14:creationId xmlns:p14="http://schemas.microsoft.com/office/powerpoint/2010/main" val="229031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877A0-4D87-4627-CD11-5EFB8854D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BC006-17D4-F195-94EC-09686971ABE9}"/>
              </a:ext>
            </a:extLst>
          </p:cNvPr>
          <p:cNvSpPr>
            <a:spLocks noGrp="1"/>
          </p:cNvSpPr>
          <p:nvPr>
            <p:ph type="title"/>
          </p:nvPr>
        </p:nvSpPr>
        <p:spPr/>
        <p:txBody>
          <a:bodyPr/>
          <a:lstStyle/>
          <a:p>
            <a:r>
              <a:rPr lang="en-US" noProof="0" dirty="0"/>
              <a:t>Motor Units - Extraction</a:t>
            </a:r>
          </a:p>
        </p:txBody>
      </p:sp>
      <p:sp>
        <p:nvSpPr>
          <p:cNvPr id="5" name="Content Placeholder 4">
            <a:extLst>
              <a:ext uri="{FF2B5EF4-FFF2-40B4-BE49-F238E27FC236}">
                <a16:creationId xmlns:a16="http://schemas.microsoft.com/office/drawing/2014/main" id="{FDB7657D-AB6B-CCE0-3286-DB037438E2D8}"/>
              </a:ext>
            </a:extLst>
          </p:cNvPr>
          <p:cNvSpPr>
            <a:spLocks noGrp="1"/>
          </p:cNvSpPr>
          <p:nvPr>
            <p:ph idx="1"/>
          </p:nvPr>
        </p:nvSpPr>
        <p:spPr/>
        <p:txBody>
          <a:bodyPr/>
          <a:lstStyle/>
          <a:p>
            <a:pPr marL="0" indent="0">
              <a:buNone/>
            </a:pPr>
            <a:r>
              <a:rPr lang="en-US" noProof="0" dirty="0"/>
              <a:t>Quantity of electrode</a:t>
            </a:r>
          </a:p>
          <a:p>
            <a:pPr lvl="1"/>
            <a:r>
              <a:rPr lang="en-US" noProof="0" dirty="0"/>
              <a:t>Equivalent of a map</a:t>
            </a:r>
          </a:p>
          <a:p>
            <a:pPr lvl="1"/>
            <a:endParaRPr lang="en-US" noProof="0" dirty="0"/>
          </a:p>
          <a:p>
            <a:pPr marL="0" indent="0">
              <a:buNone/>
            </a:pPr>
            <a:r>
              <a:rPr lang="en-US" noProof="0" dirty="0"/>
              <a:t>The more, the better</a:t>
            </a:r>
          </a:p>
          <a:p>
            <a:pPr lvl="1"/>
            <a:r>
              <a:rPr lang="en-US" noProof="0" dirty="0"/>
              <a:t>Diminishing returns</a:t>
            </a:r>
          </a:p>
        </p:txBody>
      </p:sp>
      <p:sp>
        <p:nvSpPr>
          <p:cNvPr id="6" name="Slide Number Placeholder 5">
            <a:extLst>
              <a:ext uri="{FF2B5EF4-FFF2-40B4-BE49-F238E27FC236}">
                <a16:creationId xmlns:a16="http://schemas.microsoft.com/office/drawing/2014/main" id="{AA567553-0F22-0816-493E-2B103A866D41}"/>
              </a:ext>
            </a:extLst>
          </p:cNvPr>
          <p:cNvSpPr>
            <a:spLocks noGrp="1"/>
          </p:cNvSpPr>
          <p:nvPr>
            <p:ph type="sldNum" sz="quarter" idx="4"/>
          </p:nvPr>
        </p:nvSpPr>
        <p:spPr/>
        <p:txBody>
          <a:bodyPr/>
          <a:lstStyle/>
          <a:p>
            <a:fld id="{0DE7A7E6-4794-48E8-A5E1-2E8F8499B315}" type="slidenum">
              <a:rPr lang="en-US" noProof="0" smtClean="0"/>
              <a:pPr/>
              <a:t>17</a:t>
            </a:fld>
            <a:endParaRPr lang="en-US" noProof="0" dirty="0">
              <a:solidFill>
                <a:schemeClr val="bg1"/>
              </a:solidFill>
            </a:endParaRPr>
          </a:p>
        </p:txBody>
      </p:sp>
    </p:spTree>
    <p:extLst>
      <p:ext uri="{BB962C8B-B14F-4D97-AF65-F5344CB8AC3E}">
        <p14:creationId xmlns:p14="http://schemas.microsoft.com/office/powerpoint/2010/main" val="3552645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8C57D-67EC-1D0B-FBA9-68E6618B3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41801-5368-DDB9-7562-A423F3D792E8}"/>
              </a:ext>
            </a:extLst>
          </p:cNvPr>
          <p:cNvSpPr>
            <a:spLocks noGrp="1"/>
          </p:cNvSpPr>
          <p:nvPr>
            <p:ph type="title"/>
          </p:nvPr>
        </p:nvSpPr>
        <p:spPr/>
        <p:txBody>
          <a:bodyPr/>
          <a:lstStyle/>
          <a:p>
            <a:r>
              <a:rPr lang="en-US" noProof="0" dirty="0"/>
              <a:t>Motor Units - Extraction</a:t>
            </a:r>
          </a:p>
        </p:txBody>
      </p:sp>
      <p:grpSp>
        <p:nvGrpSpPr>
          <p:cNvPr id="10" name="Group 9">
            <a:extLst>
              <a:ext uri="{FF2B5EF4-FFF2-40B4-BE49-F238E27FC236}">
                <a16:creationId xmlns:a16="http://schemas.microsoft.com/office/drawing/2014/main" id="{BA28C00C-81BD-EC36-0AB3-CC8F90ACBC01}"/>
              </a:ext>
            </a:extLst>
          </p:cNvPr>
          <p:cNvGrpSpPr/>
          <p:nvPr/>
        </p:nvGrpSpPr>
        <p:grpSpPr>
          <a:xfrm>
            <a:off x="404708" y="2155121"/>
            <a:ext cx="10604820" cy="3538669"/>
            <a:chOff x="970316" y="1891170"/>
            <a:chExt cx="9357937" cy="3122603"/>
          </a:xfrm>
        </p:grpSpPr>
        <p:pic>
          <p:nvPicPr>
            <p:cNvPr id="7" name="Picture 6">
              <a:extLst>
                <a:ext uri="{FF2B5EF4-FFF2-40B4-BE49-F238E27FC236}">
                  <a16:creationId xmlns:a16="http://schemas.microsoft.com/office/drawing/2014/main" id="{E14CCA64-C33B-0BE4-7A2A-47EF2D06099B}"/>
                </a:ext>
              </a:extLst>
            </p:cNvPr>
            <p:cNvPicPr>
              <a:picLocks noChangeAspect="1"/>
            </p:cNvPicPr>
            <p:nvPr/>
          </p:nvPicPr>
          <p:blipFill>
            <a:blip r:embed="rId3"/>
            <a:stretch>
              <a:fillRect/>
            </a:stretch>
          </p:blipFill>
          <p:spPr>
            <a:xfrm>
              <a:off x="970316" y="1891170"/>
              <a:ext cx="9357937" cy="2452230"/>
            </a:xfrm>
            <a:prstGeom prst="rect">
              <a:avLst/>
            </a:prstGeom>
          </p:spPr>
        </p:pic>
        <p:pic>
          <p:nvPicPr>
            <p:cNvPr id="9" name="Picture 8">
              <a:extLst>
                <a:ext uri="{FF2B5EF4-FFF2-40B4-BE49-F238E27FC236}">
                  <a16:creationId xmlns:a16="http://schemas.microsoft.com/office/drawing/2014/main" id="{10421D79-00D0-96A8-7A0A-2614E9C6A865}"/>
                </a:ext>
              </a:extLst>
            </p:cNvPr>
            <p:cNvPicPr>
              <a:picLocks noChangeAspect="1"/>
            </p:cNvPicPr>
            <p:nvPr/>
          </p:nvPicPr>
          <p:blipFill>
            <a:blip r:embed="rId4"/>
            <a:stretch>
              <a:fillRect/>
            </a:stretch>
          </p:blipFill>
          <p:spPr>
            <a:xfrm>
              <a:off x="1781750" y="4343400"/>
              <a:ext cx="8352850" cy="670373"/>
            </a:xfrm>
            <a:prstGeom prst="rect">
              <a:avLst/>
            </a:prstGeom>
          </p:spPr>
        </p:pic>
      </p:grpSp>
      <p:sp>
        <p:nvSpPr>
          <p:cNvPr id="12" name="Slide Number Placeholder 11">
            <a:extLst>
              <a:ext uri="{FF2B5EF4-FFF2-40B4-BE49-F238E27FC236}">
                <a16:creationId xmlns:a16="http://schemas.microsoft.com/office/drawing/2014/main" id="{9AEA786C-2765-A325-BE1E-CC95B3F52515}"/>
              </a:ext>
            </a:extLst>
          </p:cNvPr>
          <p:cNvSpPr>
            <a:spLocks noGrp="1"/>
          </p:cNvSpPr>
          <p:nvPr>
            <p:ph type="sldNum" sz="quarter" idx="4"/>
          </p:nvPr>
        </p:nvSpPr>
        <p:spPr/>
        <p:txBody>
          <a:bodyPr/>
          <a:lstStyle/>
          <a:p>
            <a:fld id="{0DE7A7E6-4794-48E8-A5E1-2E8F8499B315}" type="slidenum">
              <a:rPr lang="en-US" noProof="0" smtClean="0"/>
              <a:pPr/>
              <a:t>18</a:t>
            </a:fld>
            <a:endParaRPr lang="en-US" noProof="0" dirty="0">
              <a:solidFill>
                <a:schemeClr val="bg1"/>
              </a:solidFill>
            </a:endParaRPr>
          </a:p>
        </p:txBody>
      </p:sp>
      <p:cxnSp>
        <p:nvCxnSpPr>
          <p:cNvPr id="4" name="Straight Connector 3">
            <a:extLst>
              <a:ext uri="{FF2B5EF4-FFF2-40B4-BE49-F238E27FC236}">
                <a16:creationId xmlns:a16="http://schemas.microsoft.com/office/drawing/2014/main" id="{4E8840B7-1BC0-A312-C5C0-CE27663F79A3}"/>
              </a:ext>
            </a:extLst>
          </p:cNvPr>
          <p:cNvCxnSpPr/>
          <p:nvPr/>
        </p:nvCxnSpPr>
        <p:spPr>
          <a:xfrm flipH="1" flipV="1">
            <a:off x="6329680" y="3819421"/>
            <a:ext cx="1310640" cy="130048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D75EDBC8-4AC9-6C43-836E-1C37A136769B}"/>
              </a:ext>
            </a:extLst>
          </p:cNvPr>
          <p:cNvCxnSpPr>
            <a:cxnSpLocks/>
          </p:cNvCxnSpPr>
          <p:nvPr/>
        </p:nvCxnSpPr>
        <p:spPr>
          <a:xfrm flipH="1">
            <a:off x="6329680" y="2153920"/>
            <a:ext cx="1402080" cy="1712561"/>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5D84D70-3C58-F8A3-4B9F-FAA001F25D74}"/>
              </a:ext>
            </a:extLst>
          </p:cNvPr>
          <p:cNvCxnSpPr/>
          <p:nvPr/>
        </p:nvCxnSpPr>
        <p:spPr>
          <a:xfrm flipH="1" flipV="1">
            <a:off x="2540000" y="3633614"/>
            <a:ext cx="1310640" cy="130048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BCA368A-69EA-7916-3D22-2F81E94A0D1F}"/>
              </a:ext>
            </a:extLst>
          </p:cNvPr>
          <p:cNvCxnSpPr>
            <a:cxnSpLocks/>
          </p:cNvCxnSpPr>
          <p:nvPr/>
        </p:nvCxnSpPr>
        <p:spPr>
          <a:xfrm flipH="1">
            <a:off x="2548992" y="2191038"/>
            <a:ext cx="1127760" cy="145288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04F78A45-049C-5A09-B425-237E93743C53}"/>
              </a:ext>
            </a:extLst>
          </p:cNvPr>
          <p:cNvSpPr/>
          <p:nvPr/>
        </p:nvSpPr>
        <p:spPr>
          <a:xfrm>
            <a:off x="6006252" y="3350232"/>
            <a:ext cx="963508" cy="96350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4FC8C43E-A07D-782B-3610-D83DC012D6BA}"/>
              </a:ext>
            </a:extLst>
          </p:cNvPr>
          <p:cNvSpPr/>
          <p:nvPr/>
        </p:nvSpPr>
        <p:spPr>
          <a:xfrm>
            <a:off x="2155290" y="3129004"/>
            <a:ext cx="963508" cy="96350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Oval 18">
            <a:extLst>
              <a:ext uri="{FF2B5EF4-FFF2-40B4-BE49-F238E27FC236}">
                <a16:creationId xmlns:a16="http://schemas.microsoft.com/office/drawing/2014/main" id="{0CB79349-A7C2-A875-F59A-BE8A96DF808A}"/>
              </a:ext>
            </a:extLst>
          </p:cNvPr>
          <p:cNvSpPr/>
          <p:nvPr/>
        </p:nvSpPr>
        <p:spPr>
          <a:xfrm>
            <a:off x="9125372" y="3350232"/>
            <a:ext cx="587563" cy="5875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4621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3"/>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1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ED98E-D1B1-64F6-8581-CBA6112F5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AB9BC-6E16-EA63-8124-AAEB7F5D514D}"/>
              </a:ext>
            </a:extLst>
          </p:cNvPr>
          <p:cNvSpPr>
            <a:spLocks noGrp="1"/>
          </p:cNvSpPr>
          <p:nvPr>
            <p:ph type="title"/>
          </p:nvPr>
        </p:nvSpPr>
        <p:spPr/>
        <p:txBody>
          <a:bodyPr/>
          <a:lstStyle/>
          <a:p>
            <a:r>
              <a:rPr lang="en-US" noProof="0" dirty="0"/>
              <a:t>Motor Units - Extraction</a:t>
            </a:r>
          </a:p>
        </p:txBody>
      </p:sp>
      <p:sp>
        <p:nvSpPr>
          <p:cNvPr id="5" name="Content Placeholder 4">
            <a:extLst>
              <a:ext uri="{FF2B5EF4-FFF2-40B4-BE49-F238E27FC236}">
                <a16:creationId xmlns:a16="http://schemas.microsoft.com/office/drawing/2014/main" id="{BA450CD1-FA3E-28CD-394F-81BF3683833D}"/>
              </a:ext>
            </a:extLst>
          </p:cNvPr>
          <p:cNvSpPr>
            <a:spLocks noGrp="1"/>
          </p:cNvSpPr>
          <p:nvPr>
            <p:ph idx="1"/>
          </p:nvPr>
        </p:nvSpPr>
        <p:spPr/>
        <p:txBody>
          <a:bodyPr/>
          <a:lstStyle/>
          <a:p>
            <a:pPr marL="0" indent="0">
              <a:buNone/>
            </a:pPr>
            <a:r>
              <a:rPr lang="en-US" noProof="0" dirty="0"/>
              <a:t>Important factor: Relative maximum voluntary contraction (%MVC)</a:t>
            </a:r>
          </a:p>
          <a:p>
            <a:pPr lvl="1"/>
            <a:r>
              <a:rPr lang="en-US" noProof="0" dirty="0"/>
              <a:t>Too high %MVC: Hard to decompose motor units</a:t>
            </a:r>
          </a:p>
        </p:txBody>
      </p:sp>
      <p:sp>
        <p:nvSpPr>
          <p:cNvPr id="35" name="Oval 34">
            <a:extLst>
              <a:ext uri="{FF2B5EF4-FFF2-40B4-BE49-F238E27FC236}">
                <a16:creationId xmlns:a16="http://schemas.microsoft.com/office/drawing/2014/main" id="{EC1AB8D1-5B83-B398-81F6-D0E030EB32D1}"/>
              </a:ext>
            </a:extLst>
          </p:cNvPr>
          <p:cNvSpPr/>
          <p:nvPr/>
        </p:nvSpPr>
        <p:spPr>
          <a:xfrm>
            <a:off x="8650756" y="3587067"/>
            <a:ext cx="528447" cy="528447"/>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Rounded Corners 13">
            <a:extLst>
              <a:ext uri="{FF2B5EF4-FFF2-40B4-BE49-F238E27FC236}">
                <a16:creationId xmlns:a16="http://schemas.microsoft.com/office/drawing/2014/main" id="{A67F7637-FB22-8C72-4BEF-BF4A7D110B99}"/>
              </a:ext>
            </a:extLst>
          </p:cNvPr>
          <p:cNvSpPr/>
          <p:nvPr/>
        </p:nvSpPr>
        <p:spPr>
          <a:xfrm rot="18900000">
            <a:off x="7201307" y="4994756"/>
            <a:ext cx="530667" cy="86939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Isosceles Triangle 14">
            <a:extLst>
              <a:ext uri="{FF2B5EF4-FFF2-40B4-BE49-F238E27FC236}">
                <a16:creationId xmlns:a16="http://schemas.microsoft.com/office/drawing/2014/main" id="{F99A2A3F-644B-55A6-0A1F-E0ACAC23D203}"/>
              </a:ext>
            </a:extLst>
          </p:cNvPr>
          <p:cNvSpPr/>
          <p:nvPr/>
        </p:nvSpPr>
        <p:spPr>
          <a:xfrm rot="13500000">
            <a:off x="6696532" y="4877576"/>
            <a:ext cx="1777594" cy="866370"/>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Arc 15">
            <a:extLst>
              <a:ext uri="{FF2B5EF4-FFF2-40B4-BE49-F238E27FC236}">
                <a16:creationId xmlns:a16="http://schemas.microsoft.com/office/drawing/2014/main" id="{0B5AEBEA-413D-265D-97BF-C8B068D920AB}"/>
              </a:ext>
            </a:extLst>
          </p:cNvPr>
          <p:cNvSpPr/>
          <p:nvPr/>
        </p:nvSpPr>
        <p:spPr>
          <a:xfrm>
            <a:off x="7096833" y="4515779"/>
            <a:ext cx="1253277" cy="1287150"/>
          </a:xfrm>
          <a:prstGeom prst="arc">
            <a:avLst/>
          </a:prstGeom>
          <a:ln w="76200">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7" name="Arc 16">
            <a:extLst>
              <a:ext uri="{FF2B5EF4-FFF2-40B4-BE49-F238E27FC236}">
                <a16:creationId xmlns:a16="http://schemas.microsoft.com/office/drawing/2014/main" id="{18D31F97-62BD-9C0E-DAC8-02CDE11477AC}"/>
              </a:ext>
            </a:extLst>
          </p:cNvPr>
          <p:cNvSpPr/>
          <p:nvPr/>
        </p:nvSpPr>
        <p:spPr>
          <a:xfrm>
            <a:off x="6825191" y="4050685"/>
            <a:ext cx="1980190" cy="2033708"/>
          </a:xfrm>
          <a:prstGeom prst="arc">
            <a:avLst/>
          </a:prstGeom>
          <a:ln w="76200">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8" name="Arc 17">
            <a:extLst>
              <a:ext uri="{FF2B5EF4-FFF2-40B4-BE49-F238E27FC236}">
                <a16:creationId xmlns:a16="http://schemas.microsoft.com/office/drawing/2014/main" id="{269CCCB7-5B42-333B-83C4-2C479BE1CA26}"/>
              </a:ext>
            </a:extLst>
          </p:cNvPr>
          <p:cNvSpPr/>
          <p:nvPr/>
        </p:nvSpPr>
        <p:spPr>
          <a:xfrm>
            <a:off x="6733877" y="3568504"/>
            <a:ext cx="2546036" cy="2614848"/>
          </a:xfrm>
          <a:prstGeom prst="arc">
            <a:avLst/>
          </a:prstGeom>
          <a:ln w="76200">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Arc 18">
            <a:extLst>
              <a:ext uri="{FF2B5EF4-FFF2-40B4-BE49-F238E27FC236}">
                <a16:creationId xmlns:a16="http://schemas.microsoft.com/office/drawing/2014/main" id="{611EE18D-0882-320C-9F22-11E87C5BD901}"/>
              </a:ext>
            </a:extLst>
          </p:cNvPr>
          <p:cNvSpPr/>
          <p:nvPr/>
        </p:nvSpPr>
        <p:spPr>
          <a:xfrm>
            <a:off x="6440396" y="3041575"/>
            <a:ext cx="3355507" cy="3446196"/>
          </a:xfrm>
          <a:prstGeom prst="arc">
            <a:avLst/>
          </a:prstGeom>
          <a:ln w="76200">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2F2E70A0-806C-0D3F-9CB3-7BF8E3850130}"/>
              </a:ext>
            </a:extLst>
          </p:cNvPr>
          <p:cNvSpPr/>
          <p:nvPr/>
        </p:nvSpPr>
        <p:spPr>
          <a:xfrm rot="2700000">
            <a:off x="7228059" y="1867546"/>
            <a:ext cx="530667" cy="869391"/>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Isosceles Triangle 22">
            <a:extLst>
              <a:ext uri="{FF2B5EF4-FFF2-40B4-BE49-F238E27FC236}">
                <a16:creationId xmlns:a16="http://schemas.microsoft.com/office/drawing/2014/main" id="{E37C2AD8-DF90-EF41-648C-2DF02167A77E}"/>
              </a:ext>
            </a:extLst>
          </p:cNvPr>
          <p:cNvSpPr/>
          <p:nvPr/>
        </p:nvSpPr>
        <p:spPr>
          <a:xfrm rot="18900000">
            <a:off x="6723285" y="1987744"/>
            <a:ext cx="1777594" cy="866370"/>
          </a:xfrm>
          <a:prstGeom prst="triangl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Arc 23">
            <a:extLst>
              <a:ext uri="{FF2B5EF4-FFF2-40B4-BE49-F238E27FC236}">
                <a16:creationId xmlns:a16="http://schemas.microsoft.com/office/drawing/2014/main" id="{8BF84FFE-2F1A-A051-3C5C-633810A5CA8E}"/>
              </a:ext>
            </a:extLst>
          </p:cNvPr>
          <p:cNvSpPr/>
          <p:nvPr/>
        </p:nvSpPr>
        <p:spPr>
          <a:xfrm rot="5400000">
            <a:off x="7136851" y="1915497"/>
            <a:ext cx="1253277" cy="1287150"/>
          </a:xfrm>
          <a:prstGeom prst="arc">
            <a:avLst/>
          </a:prstGeom>
          <a:ln w="76200">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5" name="Arc 24">
            <a:extLst>
              <a:ext uri="{FF2B5EF4-FFF2-40B4-BE49-F238E27FC236}">
                <a16:creationId xmlns:a16="http://schemas.microsoft.com/office/drawing/2014/main" id="{0BDD1ECD-4D95-4720-5471-533DDDC18E94}"/>
              </a:ext>
            </a:extLst>
          </p:cNvPr>
          <p:cNvSpPr/>
          <p:nvPr/>
        </p:nvSpPr>
        <p:spPr>
          <a:xfrm rot="5400000">
            <a:off x="6865210" y="1634032"/>
            <a:ext cx="1980190" cy="2033708"/>
          </a:xfrm>
          <a:prstGeom prst="arc">
            <a:avLst/>
          </a:prstGeom>
          <a:ln w="76200">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6" name="Arc 25">
            <a:extLst>
              <a:ext uri="{FF2B5EF4-FFF2-40B4-BE49-F238E27FC236}">
                <a16:creationId xmlns:a16="http://schemas.microsoft.com/office/drawing/2014/main" id="{C52B1592-37CC-8F1A-6595-5FED5E966E1B}"/>
              </a:ext>
            </a:extLst>
          </p:cNvPr>
          <p:cNvSpPr/>
          <p:nvPr/>
        </p:nvSpPr>
        <p:spPr>
          <a:xfrm rot="5400000">
            <a:off x="6773898" y="1535072"/>
            <a:ext cx="2546036" cy="2614848"/>
          </a:xfrm>
          <a:prstGeom prst="arc">
            <a:avLst/>
          </a:prstGeom>
          <a:ln w="76200">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7" name="Arc 26">
            <a:extLst>
              <a:ext uri="{FF2B5EF4-FFF2-40B4-BE49-F238E27FC236}">
                <a16:creationId xmlns:a16="http://schemas.microsoft.com/office/drawing/2014/main" id="{E6D1A245-1A23-568C-80A2-59970B177B13}"/>
              </a:ext>
            </a:extLst>
          </p:cNvPr>
          <p:cNvSpPr/>
          <p:nvPr/>
        </p:nvSpPr>
        <p:spPr>
          <a:xfrm rot="5400000">
            <a:off x="6480417" y="1230652"/>
            <a:ext cx="3355507" cy="3446196"/>
          </a:xfrm>
          <a:prstGeom prst="arc">
            <a:avLst/>
          </a:prstGeom>
          <a:ln w="76200">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5CCF41E5-DAC9-37EE-60E7-E4AA2F4984D8}"/>
              </a:ext>
            </a:extLst>
          </p:cNvPr>
          <p:cNvSpPr/>
          <p:nvPr/>
        </p:nvSpPr>
        <p:spPr>
          <a:xfrm rot="10800000">
            <a:off x="10648549" y="3465779"/>
            <a:ext cx="530667" cy="869391"/>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Isosceles Triangle 29">
            <a:extLst>
              <a:ext uri="{FF2B5EF4-FFF2-40B4-BE49-F238E27FC236}">
                <a16:creationId xmlns:a16="http://schemas.microsoft.com/office/drawing/2014/main" id="{B3B037C9-F7C6-941C-FB41-2DB436EE09F7}"/>
              </a:ext>
            </a:extLst>
          </p:cNvPr>
          <p:cNvSpPr/>
          <p:nvPr/>
        </p:nvSpPr>
        <p:spPr>
          <a:xfrm rot="5400000">
            <a:off x="9857234" y="3467290"/>
            <a:ext cx="1777594" cy="866370"/>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Arc 30">
            <a:extLst>
              <a:ext uri="{FF2B5EF4-FFF2-40B4-BE49-F238E27FC236}">
                <a16:creationId xmlns:a16="http://schemas.microsoft.com/office/drawing/2014/main" id="{FBA4C32B-39E8-3B6C-5392-4C764A832FFC}"/>
              </a:ext>
            </a:extLst>
          </p:cNvPr>
          <p:cNvSpPr/>
          <p:nvPr/>
        </p:nvSpPr>
        <p:spPr>
          <a:xfrm rot="13500000">
            <a:off x="9914649" y="3266280"/>
            <a:ext cx="1253277" cy="1287150"/>
          </a:xfrm>
          <a:prstGeom prst="arc">
            <a:avLst/>
          </a:prstGeom>
          <a:noFill/>
          <a:ln w="762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2" name="Arc 31">
            <a:extLst>
              <a:ext uri="{FF2B5EF4-FFF2-40B4-BE49-F238E27FC236}">
                <a16:creationId xmlns:a16="http://schemas.microsoft.com/office/drawing/2014/main" id="{0E0CBD1F-E7A2-A3C7-03F4-AD3866BC22EE}"/>
              </a:ext>
            </a:extLst>
          </p:cNvPr>
          <p:cNvSpPr/>
          <p:nvPr/>
        </p:nvSpPr>
        <p:spPr>
          <a:xfrm rot="13500000">
            <a:off x="9421348" y="2893001"/>
            <a:ext cx="1980190" cy="2033708"/>
          </a:xfrm>
          <a:prstGeom prst="arc">
            <a:avLst/>
          </a:prstGeom>
          <a:noFill/>
          <a:ln w="762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3" name="Arc 32">
            <a:extLst>
              <a:ext uri="{FF2B5EF4-FFF2-40B4-BE49-F238E27FC236}">
                <a16:creationId xmlns:a16="http://schemas.microsoft.com/office/drawing/2014/main" id="{E6FDC67A-4AC1-DB44-0CE3-346995CD398D}"/>
              </a:ext>
            </a:extLst>
          </p:cNvPr>
          <p:cNvSpPr/>
          <p:nvPr/>
        </p:nvSpPr>
        <p:spPr>
          <a:xfrm rot="13500000">
            <a:off x="8867446" y="2602432"/>
            <a:ext cx="2546036" cy="2614848"/>
          </a:xfrm>
          <a:prstGeom prst="arc">
            <a:avLst/>
          </a:prstGeom>
          <a:noFill/>
          <a:ln w="762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D894E8AC-DBAD-7C12-E77C-0BE63545EDC5}"/>
              </a:ext>
            </a:extLst>
          </p:cNvPr>
          <p:cNvSpPr/>
          <p:nvPr/>
        </p:nvSpPr>
        <p:spPr>
          <a:xfrm rot="13500000">
            <a:off x="8305374" y="2186760"/>
            <a:ext cx="3355507" cy="3446196"/>
          </a:xfrm>
          <a:prstGeom prst="arc">
            <a:avLst/>
          </a:prstGeom>
          <a:noFill/>
          <a:ln w="762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4" name="Slide Number Placeholder 3">
            <a:extLst>
              <a:ext uri="{FF2B5EF4-FFF2-40B4-BE49-F238E27FC236}">
                <a16:creationId xmlns:a16="http://schemas.microsoft.com/office/drawing/2014/main" id="{782FB846-68A1-E346-7E6E-C602B020552F}"/>
              </a:ext>
            </a:extLst>
          </p:cNvPr>
          <p:cNvSpPr>
            <a:spLocks noGrp="1"/>
          </p:cNvSpPr>
          <p:nvPr>
            <p:ph type="sldNum" sz="quarter" idx="4"/>
          </p:nvPr>
        </p:nvSpPr>
        <p:spPr/>
        <p:txBody>
          <a:bodyPr/>
          <a:lstStyle/>
          <a:p>
            <a:fld id="{0DE7A7E6-4794-48E8-A5E1-2E8F8499B315}" type="slidenum">
              <a:rPr lang="en-US" noProof="0" smtClean="0"/>
              <a:pPr/>
              <a:t>19</a:t>
            </a:fld>
            <a:endParaRPr lang="en-US" noProof="0" dirty="0">
              <a:solidFill>
                <a:schemeClr val="bg1"/>
              </a:solidFill>
            </a:endParaRPr>
          </a:p>
        </p:txBody>
      </p:sp>
    </p:spTree>
    <p:extLst>
      <p:ext uri="{BB962C8B-B14F-4D97-AF65-F5344CB8AC3E}">
        <p14:creationId xmlns:p14="http://schemas.microsoft.com/office/powerpoint/2010/main" val="249383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6" grpId="0" animBg="1"/>
      <p:bldP spid="27" grpId="0" animBg="1"/>
      <p:bldP spid="33" grpId="0" animBg="1"/>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AFFD-EEF1-DA6C-4124-51F1637B3F42}"/>
              </a:ext>
            </a:extLst>
          </p:cNvPr>
          <p:cNvSpPr>
            <a:spLocks noGrp="1"/>
          </p:cNvSpPr>
          <p:nvPr>
            <p:ph type="title"/>
          </p:nvPr>
        </p:nvSpPr>
        <p:spPr/>
        <p:txBody>
          <a:bodyPr/>
          <a:lstStyle/>
          <a:p>
            <a:r>
              <a:rPr lang="en-US" noProof="0" dirty="0"/>
              <a:t>Article Analysis</a:t>
            </a:r>
          </a:p>
        </p:txBody>
      </p:sp>
      <p:sp>
        <p:nvSpPr>
          <p:cNvPr id="3" name="Content Placeholder 2">
            <a:extLst>
              <a:ext uri="{FF2B5EF4-FFF2-40B4-BE49-F238E27FC236}">
                <a16:creationId xmlns:a16="http://schemas.microsoft.com/office/drawing/2014/main" id="{91029034-6B42-14D8-EADE-85A56E3CB210}"/>
              </a:ext>
            </a:extLst>
          </p:cNvPr>
          <p:cNvSpPr>
            <a:spLocks noGrp="1"/>
          </p:cNvSpPr>
          <p:nvPr>
            <p:ph idx="1"/>
          </p:nvPr>
        </p:nvSpPr>
        <p:spPr/>
        <p:txBody>
          <a:bodyPr/>
          <a:lstStyle/>
          <a:p>
            <a:pPr marL="0" indent="0">
              <a:buNone/>
            </a:pPr>
            <a:r>
              <a:rPr lang="en-US" noProof="0" dirty="0"/>
              <a:t>A. H. Caillet </a:t>
            </a:r>
            <a:r>
              <a:rPr lang="en-US" i="1" noProof="0" dirty="0"/>
              <a:t>et al.</a:t>
            </a:r>
            <a:r>
              <a:rPr lang="en-US" noProof="0" dirty="0"/>
              <a:t>, « Larger and Denser: An Optimal Design for Surface Grids of EMG Electrodes to Identify Greater and More Representative Samples of Motor Units », </a:t>
            </a:r>
            <a:r>
              <a:rPr lang="en-US" i="1" noProof="0" dirty="0" err="1"/>
              <a:t>eNeuro</a:t>
            </a:r>
            <a:r>
              <a:rPr lang="en-US" noProof="0" dirty="0"/>
              <a:t>, vol. 10, n</a:t>
            </a:r>
            <a:r>
              <a:rPr lang="en-US" baseline="30000" noProof="0" dirty="0"/>
              <a:t>o</a:t>
            </a:r>
            <a:r>
              <a:rPr lang="en-US" noProof="0" dirty="0"/>
              <a:t> 9, p. ENEURO.0064-23.2023, sept. 2023</a:t>
            </a:r>
          </a:p>
          <a:p>
            <a:endParaRPr lang="en-US" noProof="0" dirty="0"/>
          </a:p>
          <a:p>
            <a:pPr marL="0" indent="0">
              <a:buNone/>
            </a:pPr>
            <a:endParaRPr lang="en-US" noProof="0" dirty="0"/>
          </a:p>
          <a:p>
            <a:endParaRPr lang="en-US" noProof="0" dirty="0"/>
          </a:p>
        </p:txBody>
      </p:sp>
      <p:sp>
        <p:nvSpPr>
          <p:cNvPr id="5" name="Slide Number Placeholder 4">
            <a:extLst>
              <a:ext uri="{FF2B5EF4-FFF2-40B4-BE49-F238E27FC236}">
                <a16:creationId xmlns:a16="http://schemas.microsoft.com/office/drawing/2014/main" id="{9B919E32-78A9-836E-A737-796202B185E9}"/>
              </a:ext>
            </a:extLst>
          </p:cNvPr>
          <p:cNvSpPr>
            <a:spLocks noGrp="1"/>
          </p:cNvSpPr>
          <p:nvPr>
            <p:ph type="sldNum" sz="quarter" idx="4"/>
          </p:nvPr>
        </p:nvSpPr>
        <p:spPr/>
        <p:txBody>
          <a:bodyPr/>
          <a:lstStyle/>
          <a:p>
            <a:fld id="{0DE7A7E6-4794-48E8-A5E1-2E8F8499B315}" type="slidenum">
              <a:rPr lang="en-US" noProof="0" smtClean="0"/>
              <a:pPr/>
              <a:t>20</a:t>
            </a:fld>
            <a:endParaRPr lang="en-US" noProof="0" dirty="0">
              <a:solidFill>
                <a:schemeClr val="bg1"/>
              </a:solidFill>
            </a:endParaRPr>
          </a:p>
        </p:txBody>
      </p:sp>
    </p:spTree>
    <p:extLst>
      <p:ext uri="{BB962C8B-B14F-4D97-AF65-F5344CB8AC3E}">
        <p14:creationId xmlns:p14="http://schemas.microsoft.com/office/powerpoint/2010/main" val="3862902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A8281-4B9B-A825-1EED-27FF07C7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4ED24-7301-9243-0729-C50C37C84C2C}"/>
              </a:ext>
            </a:extLst>
          </p:cNvPr>
          <p:cNvSpPr>
            <a:spLocks noGrp="1"/>
          </p:cNvSpPr>
          <p:nvPr>
            <p:ph type="title"/>
          </p:nvPr>
        </p:nvSpPr>
        <p:spPr/>
        <p:txBody>
          <a:bodyPr/>
          <a:lstStyle/>
          <a:p>
            <a:r>
              <a:rPr lang="en-US" noProof="0" dirty="0"/>
              <a:t>Article Analysis</a:t>
            </a:r>
          </a:p>
        </p:txBody>
      </p:sp>
      <p:sp>
        <p:nvSpPr>
          <p:cNvPr id="3" name="Content Placeholder 2">
            <a:extLst>
              <a:ext uri="{FF2B5EF4-FFF2-40B4-BE49-F238E27FC236}">
                <a16:creationId xmlns:a16="http://schemas.microsoft.com/office/drawing/2014/main" id="{92112E3D-7411-DE3F-4937-10EEDC29EFB0}"/>
              </a:ext>
            </a:extLst>
          </p:cNvPr>
          <p:cNvSpPr>
            <a:spLocks noGrp="1"/>
          </p:cNvSpPr>
          <p:nvPr>
            <p:ph idx="1"/>
          </p:nvPr>
        </p:nvSpPr>
        <p:spPr/>
        <p:txBody>
          <a:bodyPr/>
          <a:lstStyle/>
          <a:p>
            <a:pPr marL="0" indent="0">
              <a:buNone/>
            </a:pPr>
            <a:r>
              <a:rPr lang="en-US" noProof="0" dirty="0"/>
              <a:t>Hypothesis</a:t>
            </a:r>
          </a:p>
          <a:p>
            <a:pPr lvl="1"/>
            <a:r>
              <a:rPr lang="en-US" noProof="0" dirty="0"/>
              <a:t>Higher count and higher density results will increase the count of detectable motor units</a:t>
            </a:r>
          </a:p>
          <a:p>
            <a:pPr lvl="1"/>
            <a:endParaRPr lang="en-US" noProof="0" dirty="0"/>
          </a:p>
          <a:p>
            <a:pPr marL="0" indent="0">
              <a:buNone/>
            </a:pPr>
            <a:r>
              <a:rPr lang="en-US" noProof="0" dirty="0"/>
              <a:t>Two parts for the experiment</a:t>
            </a:r>
          </a:p>
          <a:p>
            <a:pPr lvl="1"/>
            <a:r>
              <a:rPr lang="en-US" noProof="0" dirty="0"/>
              <a:t>Simulations</a:t>
            </a:r>
          </a:p>
          <a:p>
            <a:pPr lvl="1"/>
            <a:r>
              <a:rPr lang="en-US" noProof="0" dirty="0"/>
              <a:t>Real measurements</a:t>
            </a:r>
          </a:p>
        </p:txBody>
      </p:sp>
      <p:sp>
        <p:nvSpPr>
          <p:cNvPr id="5" name="Slide Number Placeholder 4">
            <a:extLst>
              <a:ext uri="{FF2B5EF4-FFF2-40B4-BE49-F238E27FC236}">
                <a16:creationId xmlns:a16="http://schemas.microsoft.com/office/drawing/2014/main" id="{E6524342-903C-9242-1E77-F0D9A8F8DEFF}"/>
              </a:ext>
            </a:extLst>
          </p:cNvPr>
          <p:cNvSpPr>
            <a:spLocks noGrp="1"/>
          </p:cNvSpPr>
          <p:nvPr>
            <p:ph type="sldNum" sz="quarter" idx="4"/>
          </p:nvPr>
        </p:nvSpPr>
        <p:spPr/>
        <p:txBody>
          <a:bodyPr/>
          <a:lstStyle/>
          <a:p>
            <a:fld id="{0DE7A7E6-4794-48E8-A5E1-2E8F8499B315}" type="slidenum">
              <a:rPr lang="en-US" noProof="0" smtClean="0"/>
              <a:pPr/>
              <a:t>21</a:t>
            </a:fld>
            <a:endParaRPr lang="en-US" noProof="0" dirty="0">
              <a:solidFill>
                <a:schemeClr val="bg1"/>
              </a:solidFill>
            </a:endParaRPr>
          </a:p>
        </p:txBody>
      </p:sp>
    </p:spTree>
    <p:extLst>
      <p:ext uri="{BB962C8B-B14F-4D97-AF65-F5344CB8AC3E}">
        <p14:creationId xmlns:p14="http://schemas.microsoft.com/office/powerpoint/2010/main" val="1094204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EB4F-67F3-C8AE-AAAE-E3027786B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28F71-04CD-1EC0-E74D-EE19911F8D06}"/>
              </a:ext>
            </a:extLst>
          </p:cNvPr>
          <p:cNvSpPr>
            <a:spLocks noGrp="1"/>
          </p:cNvSpPr>
          <p:nvPr>
            <p:ph type="title"/>
          </p:nvPr>
        </p:nvSpPr>
        <p:spPr/>
        <p:txBody>
          <a:bodyPr/>
          <a:lstStyle/>
          <a:p>
            <a:r>
              <a:rPr lang="en-US" noProof="0" dirty="0"/>
              <a:t>Article Analysis</a:t>
            </a:r>
          </a:p>
        </p:txBody>
      </p:sp>
      <p:sp>
        <p:nvSpPr>
          <p:cNvPr id="3" name="Content Placeholder 2">
            <a:extLst>
              <a:ext uri="{FF2B5EF4-FFF2-40B4-BE49-F238E27FC236}">
                <a16:creationId xmlns:a16="http://schemas.microsoft.com/office/drawing/2014/main" id="{6EFDD007-AA48-FFE1-B095-0511496A4F33}"/>
              </a:ext>
            </a:extLst>
          </p:cNvPr>
          <p:cNvSpPr>
            <a:spLocks noGrp="1"/>
          </p:cNvSpPr>
          <p:nvPr>
            <p:ph idx="1"/>
          </p:nvPr>
        </p:nvSpPr>
        <p:spPr/>
        <p:txBody>
          <a:bodyPr/>
          <a:lstStyle/>
          <a:p>
            <a:pPr marL="0" indent="0">
              <a:buNone/>
            </a:pPr>
            <a:r>
              <a:rPr lang="en-US" noProof="0" dirty="0"/>
              <a:t>Simulation</a:t>
            </a:r>
          </a:p>
          <a:p>
            <a:pPr lvl="1"/>
            <a:r>
              <a:rPr lang="en-US" noProof="0" dirty="0"/>
              <a:t>200 motor units simulated</a:t>
            </a:r>
          </a:p>
          <a:p>
            <a:pPr lvl="1"/>
            <a:r>
              <a:rPr lang="en-US" noProof="0" dirty="0"/>
              <a:t>Variable grid size and IED</a:t>
            </a:r>
          </a:p>
          <a:p>
            <a:pPr lvl="1"/>
            <a:r>
              <a:rPr lang="en-US" noProof="0" dirty="0"/>
              <a:t>Goal: estimate maximum detectable motor units</a:t>
            </a:r>
          </a:p>
          <a:p>
            <a:pPr lvl="1"/>
            <a:endParaRPr lang="en-US" noProof="0" dirty="0"/>
          </a:p>
        </p:txBody>
      </p:sp>
      <p:sp>
        <p:nvSpPr>
          <p:cNvPr id="8" name="Slide Number Placeholder 7">
            <a:extLst>
              <a:ext uri="{FF2B5EF4-FFF2-40B4-BE49-F238E27FC236}">
                <a16:creationId xmlns:a16="http://schemas.microsoft.com/office/drawing/2014/main" id="{0416FAEA-AAB4-9AB8-CC21-967660AFA99A}"/>
              </a:ext>
            </a:extLst>
          </p:cNvPr>
          <p:cNvSpPr>
            <a:spLocks noGrp="1"/>
          </p:cNvSpPr>
          <p:nvPr>
            <p:ph type="sldNum" sz="quarter" idx="4"/>
          </p:nvPr>
        </p:nvSpPr>
        <p:spPr/>
        <p:txBody>
          <a:bodyPr/>
          <a:lstStyle/>
          <a:p>
            <a:fld id="{0DE7A7E6-4794-48E8-A5E1-2E8F8499B315}" type="slidenum">
              <a:rPr lang="en-US" noProof="0" smtClean="0"/>
              <a:pPr/>
              <a:t>22</a:t>
            </a:fld>
            <a:endParaRPr lang="en-US" noProof="0" dirty="0">
              <a:solidFill>
                <a:schemeClr val="bg1"/>
              </a:solidFill>
            </a:endParaRPr>
          </a:p>
        </p:txBody>
      </p:sp>
    </p:spTree>
    <p:extLst>
      <p:ext uri="{BB962C8B-B14F-4D97-AF65-F5344CB8AC3E}">
        <p14:creationId xmlns:p14="http://schemas.microsoft.com/office/powerpoint/2010/main" val="3496985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B3351-F159-9ACF-868C-471F8B449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6F842-BCC8-BB3F-CCD8-2B81B9013170}"/>
              </a:ext>
            </a:extLst>
          </p:cNvPr>
          <p:cNvSpPr>
            <a:spLocks noGrp="1"/>
          </p:cNvSpPr>
          <p:nvPr>
            <p:ph type="title"/>
          </p:nvPr>
        </p:nvSpPr>
        <p:spPr/>
        <p:txBody>
          <a:bodyPr/>
          <a:lstStyle/>
          <a:p>
            <a:r>
              <a:rPr lang="en-US" noProof="0" dirty="0"/>
              <a:t>Article Analysis</a:t>
            </a:r>
          </a:p>
        </p:txBody>
      </p:sp>
      <p:pic>
        <p:nvPicPr>
          <p:cNvPr id="5" name="Picture 4">
            <a:extLst>
              <a:ext uri="{FF2B5EF4-FFF2-40B4-BE49-F238E27FC236}">
                <a16:creationId xmlns:a16="http://schemas.microsoft.com/office/drawing/2014/main" id="{130BBF9E-DC89-F467-5529-663273D0A251}"/>
              </a:ext>
            </a:extLst>
          </p:cNvPr>
          <p:cNvPicPr>
            <a:picLocks noChangeAspect="1"/>
          </p:cNvPicPr>
          <p:nvPr/>
        </p:nvPicPr>
        <p:blipFill>
          <a:blip r:embed="rId3"/>
          <a:stretch>
            <a:fillRect/>
          </a:stretch>
        </p:blipFill>
        <p:spPr>
          <a:xfrm>
            <a:off x="1538377" y="1609725"/>
            <a:ext cx="8365667" cy="4272327"/>
          </a:xfrm>
          <a:prstGeom prst="rect">
            <a:avLst/>
          </a:prstGeom>
        </p:spPr>
      </p:pic>
      <p:sp>
        <p:nvSpPr>
          <p:cNvPr id="7" name="Slide Number Placeholder 6">
            <a:extLst>
              <a:ext uri="{FF2B5EF4-FFF2-40B4-BE49-F238E27FC236}">
                <a16:creationId xmlns:a16="http://schemas.microsoft.com/office/drawing/2014/main" id="{30B9B1F7-9629-E115-57D4-A21C0DB93862}"/>
              </a:ext>
            </a:extLst>
          </p:cNvPr>
          <p:cNvSpPr>
            <a:spLocks noGrp="1"/>
          </p:cNvSpPr>
          <p:nvPr>
            <p:ph type="sldNum" sz="quarter" idx="4"/>
          </p:nvPr>
        </p:nvSpPr>
        <p:spPr/>
        <p:txBody>
          <a:bodyPr/>
          <a:lstStyle/>
          <a:p>
            <a:fld id="{0DE7A7E6-4794-48E8-A5E1-2E8F8499B315}" type="slidenum">
              <a:rPr lang="en-US" noProof="0" smtClean="0"/>
              <a:pPr/>
              <a:t>23</a:t>
            </a:fld>
            <a:endParaRPr lang="en-US" noProof="0" dirty="0">
              <a:solidFill>
                <a:schemeClr val="bg1"/>
              </a:solidFill>
            </a:endParaRPr>
          </a:p>
        </p:txBody>
      </p:sp>
    </p:spTree>
    <p:extLst>
      <p:ext uri="{BB962C8B-B14F-4D97-AF65-F5344CB8AC3E}">
        <p14:creationId xmlns:p14="http://schemas.microsoft.com/office/powerpoint/2010/main" val="1540839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90D1F-BD89-AC31-BFB8-2051729CE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B2B66-ABD6-7E0E-4075-A8C47C274B70}"/>
              </a:ext>
            </a:extLst>
          </p:cNvPr>
          <p:cNvSpPr>
            <a:spLocks noGrp="1"/>
          </p:cNvSpPr>
          <p:nvPr>
            <p:ph type="title"/>
          </p:nvPr>
        </p:nvSpPr>
        <p:spPr/>
        <p:txBody>
          <a:bodyPr/>
          <a:lstStyle/>
          <a:p>
            <a:r>
              <a:rPr lang="en-US" noProof="0" dirty="0"/>
              <a:t>Article Analysis</a:t>
            </a:r>
          </a:p>
        </p:txBody>
      </p:sp>
      <p:sp>
        <p:nvSpPr>
          <p:cNvPr id="3" name="Content Placeholder 2">
            <a:extLst>
              <a:ext uri="{FF2B5EF4-FFF2-40B4-BE49-F238E27FC236}">
                <a16:creationId xmlns:a16="http://schemas.microsoft.com/office/drawing/2014/main" id="{C9B0C0AB-E6FE-1BD3-9C7E-988068863A2E}"/>
              </a:ext>
            </a:extLst>
          </p:cNvPr>
          <p:cNvSpPr>
            <a:spLocks noGrp="1"/>
          </p:cNvSpPr>
          <p:nvPr>
            <p:ph idx="1"/>
          </p:nvPr>
        </p:nvSpPr>
        <p:spPr/>
        <p:txBody>
          <a:bodyPr/>
          <a:lstStyle/>
          <a:p>
            <a:pPr marL="0" indent="0">
              <a:buNone/>
            </a:pPr>
            <a:r>
              <a:rPr lang="en-US" noProof="0" dirty="0"/>
              <a:t>Real measurements</a:t>
            </a:r>
          </a:p>
          <a:p>
            <a:pPr lvl="1"/>
            <a:r>
              <a:rPr lang="en-US" noProof="0" dirty="0"/>
              <a:t>Six participants</a:t>
            </a:r>
          </a:p>
          <a:p>
            <a:pPr lvl="1"/>
            <a:r>
              <a:rPr lang="en-US" noProof="0" dirty="0"/>
              <a:t>Muscle tested: tibialis anterior</a:t>
            </a:r>
          </a:p>
          <a:p>
            <a:pPr lvl="1"/>
            <a:r>
              <a:rPr lang="en-US" noProof="0" dirty="0"/>
              <a:t>Two contractions: 30 %MVC &amp; 50 %MVC</a:t>
            </a:r>
          </a:p>
          <a:p>
            <a:pPr lvl="1"/>
            <a:endParaRPr lang="en-US" noProof="0" dirty="0"/>
          </a:p>
          <a:p>
            <a:pPr marL="0" indent="0">
              <a:buNone/>
            </a:pPr>
            <a:r>
              <a:rPr lang="en-US" noProof="0" dirty="0"/>
              <a:t>Two electrode grids</a:t>
            </a:r>
          </a:p>
          <a:p>
            <a:pPr lvl="1"/>
            <a:r>
              <a:rPr lang="en-US" noProof="0" dirty="0"/>
              <a:t>Both grids: 256 electrodes and 1 mm diameter</a:t>
            </a:r>
          </a:p>
          <a:p>
            <a:pPr lvl="1"/>
            <a:r>
              <a:rPr lang="en-US" noProof="0" dirty="0"/>
              <a:t>4 mm IED vs 2 mm IED</a:t>
            </a:r>
          </a:p>
          <a:p>
            <a:pPr lvl="1"/>
            <a:endParaRPr lang="en-US" noProof="0" dirty="0"/>
          </a:p>
        </p:txBody>
      </p:sp>
      <p:sp>
        <p:nvSpPr>
          <p:cNvPr id="5" name="Slide Number Placeholder 4">
            <a:extLst>
              <a:ext uri="{FF2B5EF4-FFF2-40B4-BE49-F238E27FC236}">
                <a16:creationId xmlns:a16="http://schemas.microsoft.com/office/drawing/2014/main" id="{BBA0D0C4-F9E4-9C5C-1E54-2806AA80D457}"/>
              </a:ext>
            </a:extLst>
          </p:cNvPr>
          <p:cNvSpPr>
            <a:spLocks noGrp="1"/>
          </p:cNvSpPr>
          <p:nvPr>
            <p:ph type="sldNum" sz="quarter" idx="4"/>
          </p:nvPr>
        </p:nvSpPr>
        <p:spPr/>
        <p:txBody>
          <a:bodyPr/>
          <a:lstStyle/>
          <a:p>
            <a:fld id="{0DE7A7E6-4794-48E8-A5E1-2E8F8499B315}" type="slidenum">
              <a:rPr lang="en-US" noProof="0" smtClean="0"/>
              <a:pPr/>
              <a:t>24</a:t>
            </a:fld>
            <a:endParaRPr lang="en-US" noProof="0" dirty="0">
              <a:solidFill>
                <a:schemeClr val="bg1"/>
              </a:solidFill>
            </a:endParaRPr>
          </a:p>
        </p:txBody>
      </p:sp>
      <p:pic>
        <p:nvPicPr>
          <p:cNvPr id="7" name="Picture 6">
            <a:extLst>
              <a:ext uri="{FF2B5EF4-FFF2-40B4-BE49-F238E27FC236}">
                <a16:creationId xmlns:a16="http://schemas.microsoft.com/office/drawing/2014/main" id="{056C0D3D-8510-787F-4B9B-08D9D7DB7AF0}"/>
              </a:ext>
            </a:extLst>
          </p:cNvPr>
          <p:cNvPicPr>
            <a:picLocks noChangeAspect="1"/>
          </p:cNvPicPr>
          <p:nvPr/>
        </p:nvPicPr>
        <p:blipFill>
          <a:blip r:embed="rId3"/>
          <a:stretch>
            <a:fillRect/>
          </a:stretch>
        </p:blipFill>
        <p:spPr>
          <a:xfrm>
            <a:off x="7268267" y="1027906"/>
            <a:ext cx="2434532" cy="5573395"/>
          </a:xfrm>
          <a:prstGeom prst="rect">
            <a:avLst/>
          </a:prstGeom>
        </p:spPr>
      </p:pic>
    </p:spTree>
    <p:extLst>
      <p:ext uri="{BB962C8B-B14F-4D97-AF65-F5344CB8AC3E}">
        <p14:creationId xmlns:p14="http://schemas.microsoft.com/office/powerpoint/2010/main" val="2517091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8BD7-8ACA-56B1-DC3D-EF2D0994E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440C9-C907-1D10-B2D2-65D226376488}"/>
              </a:ext>
            </a:extLst>
          </p:cNvPr>
          <p:cNvSpPr>
            <a:spLocks noGrp="1"/>
          </p:cNvSpPr>
          <p:nvPr>
            <p:ph type="title"/>
          </p:nvPr>
        </p:nvSpPr>
        <p:spPr>
          <a:xfrm>
            <a:off x="1397479" y="365125"/>
            <a:ext cx="9256144" cy="1325563"/>
          </a:xfrm>
        </p:spPr>
        <p:txBody>
          <a:bodyPr anchor="ctr">
            <a:normAutofit/>
          </a:bodyPr>
          <a:lstStyle/>
          <a:p>
            <a:r>
              <a:rPr lang="en-US" noProof="0" dirty="0"/>
              <a:t>Article Analysis</a:t>
            </a:r>
          </a:p>
        </p:txBody>
      </p:sp>
      <p:pic>
        <p:nvPicPr>
          <p:cNvPr id="7" name="Picture 6">
            <a:extLst>
              <a:ext uri="{FF2B5EF4-FFF2-40B4-BE49-F238E27FC236}">
                <a16:creationId xmlns:a16="http://schemas.microsoft.com/office/drawing/2014/main" id="{236B1953-CCD6-BF2F-C265-25AA8B9174B3}"/>
              </a:ext>
            </a:extLst>
          </p:cNvPr>
          <p:cNvPicPr>
            <a:picLocks noChangeAspect="1"/>
          </p:cNvPicPr>
          <p:nvPr/>
        </p:nvPicPr>
        <p:blipFill>
          <a:blip r:embed="rId3"/>
          <a:stretch>
            <a:fillRect/>
          </a:stretch>
        </p:blipFill>
        <p:spPr>
          <a:xfrm>
            <a:off x="6205956" y="2096839"/>
            <a:ext cx="5113518" cy="3387705"/>
          </a:xfrm>
          <a:prstGeom prst="rect">
            <a:avLst/>
          </a:prstGeom>
          <a:noFill/>
        </p:spPr>
      </p:pic>
      <p:pic>
        <p:nvPicPr>
          <p:cNvPr id="5" name="Picture 4">
            <a:extLst>
              <a:ext uri="{FF2B5EF4-FFF2-40B4-BE49-F238E27FC236}">
                <a16:creationId xmlns:a16="http://schemas.microsoft.com/office/drawing/2014/main" id="{11EF3821-8B39-A284-482F-F1B2FC6E9FF2}"/>
              </a:ext>
            </a:extLst>
          </p:cNvPr>
          <p:cNvPicPr>
            <a:picLocks noChangeAspect="1"/>
          </p:cNvPicPr>
          <p:nvPr/>
        </p:nvPicPr>
        <p:blipFill>
          <a:blip r:embed="rId4"/>
          <a:stretch>
            <a:fillRect/>
          </a:stretch>
        </p:blipFill>
        <p:spPr>
          <a:xfrm>
            <a:off x="1280898" y="2096839"/>
            <a:ext cx="4705147" cy="3387705"/>
          </a:xfrm>
          <a:prstGeom prst="rect">
            <a:avLst/>
          </a:prstGeom>
          <a:noFill/>
        </p:spPr>
      </p:pic>
      <p:sp>
        <p:nvSpPr>
          <p:cNvPr id="4" name="Slide Number Placeholder 3">
            <a:extLst>
              <a:ext uri="{FF2B5EF4-FFF2-40B4-BE49-F238E27FC236}">
                <a16:creationId xmlns:a16="http://schemas.microsoft.com/office/drawing/2014/main" id="{8D581735-8435-1FDE-F2D5-B6ECC0CE0FB2}"/>
              </a:ext>
            </a:extLst>
          </p:cNvPr>
          <p:cNvSpPr>
            <a:spLocks noGrp="1"/>
          </p:cNvSpPr>
          <p:nvPr>
            <p:ph type="sldNum" sz="quarter" idx="4"/>
          </p:nvPr>
        </p:nvSpPr>
        <p:spPr/>
        <p:txBody>
          <a:bodyPr/>
          <a:lstStyle/>
          <a:p>
            <a:fld id="{0DE7A7E6-4794-48E8-A5E1-2E8F8499B315}" type="slidenum">
              <a:rPr lang="en-US" noProof="0" smtClean="0"/>
              <a:pPr/>
              <a:t>25</a:t>
            </a:fld>
            <a:endParaRPr lang="en-US" noProof="0" dirty="0">
              <a:solidFill>
                <a:schemeClr val="bg1"/>
              </a:solidFill>
            </a:endParaRPr>
          </a:p>
        </p:txBody>
      </p:sp>
    </p:spTree>
    <p:extLst>
      <p:ext uri="{BB962C8B-B14F-4D97-AF65-F5344CB8AC3E}">
        <p14:creationId xmlns:p14="http://schemas.microsoft.com/office/powerpoint/2010/main" val="927916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A9D9-2214-2B34-ACEC-7E76C77A5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B415E-B391-CCEF-DB03-122FD95E4E4A}"/>
              </a:ext>
            </a:extLst>
          </p:cNvPr>
          <p:cNvSpPr>
            <a:spLocks noGrp="1"/>
          </p:cNvSpPr>
          <p:nvPr>
            <p:ph type="title"/>
          </p:nvPr>
        </p:nvSpPr>
        <p:spPr>
          <a:xfrm>
            <a:off x="1397479" y="365125"/>
            <a:ext cx="9256144" cy="1325563"/>
          </a:xfrm>
        </p:spPr>
        <p:txBody>
          <a:bodyPr anchor="ctr">
            <a:normAutofit/>
          </a:bodyPr>
          <a:lstStyle/>
          <a:p>
            <a:r>
              <a:rPr lang="en-US" noProof="0" dirty="0"/>
              <a:t>Article Analysis</a:t>
            </a:r>
          </a:p>
        </p:txBody>
      </p:sp>
      <p:pic>
        <p:nvPicPr>
          <p:cNvPr id="5" name="Picture 4">
            <a:extLst>
              <a:ext uri="{FF2B5EF4-FFF2-40B4-BE49-F238E27FC236}">
                <a16:creationId xmlns:a16="http://schemas.microsoft.com/office/drawing/2014/main" id="{FA7E7D32-F934-0F8A-9560-9C6540BA79FF}"/>
              </a:ext>
            </a:extLst>
          </p:cNvPr>
          <p:cNvPicPr>
            <a:picLocks noChangeAspect="1"/>
          </p:cNvPicPr>
          <p:nvPr/>
        </p:nvPicPr>
        <p:blipFill>
          <a:blip r:embed="rId3"/>
          <a:stretch>
            <a:fillRect/>
          </a:stretch>
        </p:blipFill>
        <p:spPr>
          <a:xfrm>
            <a:off x="1280898" y="2096839"/>
            <a:ext cx="4705147" cy="3387705"/>
          </a:xfrm>
          <a:prstGeom prst="rect">
            <a:avLst/>
          </a:prstGeom>
          <a:noFill/>
        </p:spPr>
      </p:pic>
      <p:pic>
        <p:nvPicPr>
          <p:cNvPr id="4" name="Picture 3">
            <a:extLst>
              <a:ext uri="{FF2B5EF4-FFF2-40B4-BE49-F238E27FC236}">
                <a16:creationId xmlns:a16="http://schemas.microsoft.com/office/drawing/2014/main" id="{C53539D2-60E4-3115-49B4-F094EAE55533}"/>
              </a:ext>
            </a:extLst>
          </p:cNvPr>
          <p:cNvPicPr>
            <a:picLocks noChangeAspect="1"/>
          </p:cNvPicPr>
          <p:nvPr/>
        </p:nvPicPr>
        <p:blipFill>
          <a:blip r:embed="rId4"/>
          <a:stretch>
            <a:fillRect/>
          </a:stretch>
        </p:blipFill>
        <p:spPr>
          <a:xfrm>
            <a:off x="6300436" y="2096839"/>
            <a:ext cx="4666916" cy="3387705"/>
          </a:xfrm>
          <a:prstGeom prst="rect">
            <a:avLst/>
          </a:prstGeom>
        </p:spPr>
      </p:pic>
      <p:sp>
        <p:nvSpPr>
          <p:cNvPr id="6" name="Slide Number Placeholder 5">
            <a:extLst>
              <a:ext uri="{FF2B5EF4-FFF2-40B4-BE49-F238E27FC236}">
                <a16:creationId xmlns:a16="http://schemas.microsoft.com/office/drawing/2014/main" id="{7C72C192-7E0A-57DB-CEF2-8AD57A939A19}"/>
              </a:ext>
            </a:extLst>
          </p:cNvPr>
          <p:cNvSpPr>
            <a:spLocks noGrp="1"/>
          </p:cNvSpPr>
          <p:nvPr>
            <p:ph type="sldNum" sz="quarter" idx="4"/>
          </p:nvPr>
        </p:nvSpPr>
        <p:spPr/>
        <p:txBody>
          <a:bodyPr/>
          <a:lstStyle/>
          <a:p>
            <a:fld id="{0DE7A7E6-4794-48E8-A5E1-2E8F8499B315}" type="slidenum">
              <a:rPr lang="en-US" noProof="0" smtClean="0"/>
              <a:pPr/>
              <a:t>26</a:t>
            </a:fld>
            <a:endParaRPr lang="en-US" noProof="0" dirty="0">
              <a:solidFill>
                <a:schemeClr val="bg1"/>
              </a:solidFill>
            </a:endParaRPr>
          </a:p>
        </p:txBody>
      </p:sp>
    </p:spTree>
    <p:extLst>
      <p:ext uri="{BB962C8B-B14F-4D97-AF65-F5344CB8AC3E}">
        <p14:creationId xmlns:p14="http://schemas.microsoft.com/office/powerpoint/2010/main" val="4108068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6260A-AE66-BA87-23DF-A56E7574A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2888A-C29F-0E34-1506-8C741CC1B69D}"/>
              </a:ext>
            </a:extLst>
          </p:cNvPr>
          <p:cNvSpPr>
            <a:spLocks noGrp="1"/>
          </p:cNvSpPr>
          <p:nvPr>
            <p:ph type="title"/>
          </p:nvPr>
        </p:nvSpPr>
        <p:spPr/>
        <p:txBody>
          <a:bodyPr/>
          <a:lstStyle/>
          <a:p>
            <a:r>
              <a:rPr lang="en-US" noProof="0" dirty="0"/>
              <a:t>Article Analysis</a:t>
            </a:r>
          </a:p>
        </p:txBody>
      </p:sp>
      <p:pic>
        <p:nvPicPr>
          <p:cNvPr id="5" name="Picture 4">
            <a:extLst>
              <a:ext uri="{FF2B5EF4-FFF2-40B4-BE49-F238E27FC236}">
                <a16:creationId xmlns:a16="http://schemas.microsoft.com/office/drawing/2014/main" id="{9FADAB75-160F-943E-4E3A-6F54D68FCEB5}"/>
              </a:ext>
            </a:extLst>
          </p:cNvPr>
          <p:cNvPicPr>
            <a:picLocks noChangeAspect="1"/>
          </p:cNvPicPr>
          <p:nvPr/>
        </p:nvPicPr>
        <p:blipFill>
          <a:blip r:embed="rId3"/>
          <a:stretch>
            <a:fillRect/>
          </a:stretch>
        </p:blipFill>
        <p:spPr>
          <a:xfrm>
            <a:off x="975598" y="1904925"/>
            <a:ext cx="10240804" cy="2143424"/>
          </a:xfrm>
          <a:prstGeom prst="rect">
            <a:avLst/>
          </a:prstGeom>
        </p:spPr>
      </p:pic>
      <p:pic>
        <p:nvPicPr>
          <p:cNvPr id="7" name="Picture 6">
            <a:extLst>
              <a:ext uri="{FF2B5EF4-FFF2-40B4-BE49-F238E27FC236}">
                <a16:creationId xmlns:a16="http://schemas.microsoft.com/office/drawing/2014/main" id="{22714613-56E9-CCEA-9F37-2E60ED23B60F}"/>
              </a:ext>
            </a:extLst>
          </p:cNvPr>
          <p:cNvPicPr>
            <a:picLocks noChangeAspect="1"/>
          </p:cNvPicPr>
          <p:nvPr/>
        </p:nvPicPr>
        <p:blipFill>
          <a:blip r:embed="rId4"/>
          <a:stretch>
            <a:fillRect/>
          </a:stretch>
        </p:blipFill>
        <p:spPr>
          <a:xfrm>
            <a:off x="1675758" y="4119712"/>
            <a:ext cx="9202434" cy="1105054"/>
          </a:xfrm>
          <a:prstGeom prst="rect">
            <a:avLst/>
          </a:prstGeom>
        </p:spPr>
      </p:pic>
      <p:sp>
        <p:nvSpPr>
          <p:cNvPr id="4" name="Slide Number Placeholder 3">
            <a:extLst>
              <a:ext uri="{FF2B5EF4-FFF2-40B4-BE49-F238E27FC236}">
                <a16:creationId xmlns:a16="http://schemas.microsoft.com/office/drawing/2014/main" id="{B2DE1204-F6A3-D3D7-5C33-D25C9C777312}"/>
              </a:ext>
            </a:extLst>
          </p:cNvPr>
          <p:cNvSpPr>
            <a:spLocks noGrp="1"/>
          </p:cNvSpPr>
          <p:nvPr>
            <p:ph type="sldNum" sz="quarter" idx="4"/>
          </p:nvPr>
        </p:nvSpPr>
        <p:spPr/>
        <p:txBody>
          <a:bodyPr/>
          <a:lstStyle/>
          <a:p>
            <a:fld id="{0DE7A7E6-4794-48E8-A5E1-2E8F8499B315}" type="slidenum">
              <a:rPr lang="en-US" noProof="0" smtClean="0"/>
              <a:pPr/>
              <a:t>27</a:t>
            </a:fld>
            <a:endParaRPr lang="en-US" noProof="0" dirty="0">
              <a:solidFill>
                <a:schemeClr val="bg1"/>
              </a:solidFill>
            </a:endParaRPr>
          </a:p>
        </p:txBody>
      </p:sp>
    </p:spTree>
    <p:extLst>
      <p:ext uri="{BB962C8B-B14F-4D97-AF65-F5344CB8AC3E}">
        <p14:creationId xmlns:p14="http://schemas.microsoft.com/office/powerpoint/2010/main" val="2552797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68BEF-84FD-944B-9969-E79890D4A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62074-DB8F-6886-BD60-1EE2B34B7421}"/>
              </a:ext>
            </a:extLst>
          </p:cNvPr>
          <p:cNvSpPr>
            <a:spLocks noGrp="1"/>
          </p:cNvSpPr>
          <p:nvPr>
            <p:ph type="title"/>
          </p:nvPr>
        </p:nvSpPr>
        <p:spPr/>
        <p:txBody>
          <a:bodyPr/>
          <a:lstStyle/>
          <a:p>
            <a:r>
              <a:rPr lang="en-US" noProof="0" dirty="0"/>
              <a:t>Article Analysis</a:t>
            </a:r>
          </a:p>
        </p:txBody>
      </p:sp>
      <p:pic>
        <p:nvPicPr>
          <p:cNvPr id="5" name="Picture 4">
            <a:extLst>
              <a:ext uri="{FF2B5EF4-FFF2-40B4-BE49-F238E27FC236}">
                <a16:creationId xmlns:a16="http://schemas.microsoft.com/office/drawing/2014/main" id="{8B7749B1-08AB-412B-D8C0-42598567C0D7}"/>
              </a:ext>
            </a:extLst>
          </p:cNvPr>
          <p:cNvPicPr>
            <a:picLocks noChangeAspect="1"/>
          </p:cNvPicPr>
          <p:nvPr/>
        </p:nvPicPr>
        <p:blipFill>
          <a:blip r:embed="rId3"/>
          <a:stretch>
            <a:fillRect/>
          </a:stretch>
        </p:blipFill>
        <p:spPr>
          <a:xfrm>
            <a:off x="933728" y="1871513"/>
            <a:ext cx="10183646" cy="2143424"/>
          </a:xfrm>
          <a:prstGeom prst="rect">
            <a:avLst/>
          </a:prstGeom>
        </p:spPr>
      </p:pic>
      <p:pic>
        <p:nvPicPr>
          <p:cNvPr id="7" name="Picture 6">
            <a:extLst>
              <a:ext uri="{FF2B5EF4-FFF2-40B4-BE49-F238E27FC236}">
                <a16:creationId xmlns:a16="http://schemas.microsoft.com/office/drawing/2014/main" id="{64DE5C46-F224-4070-5289-6EA5A86CD2CF}"/>
              </a:ext>
            </a:extLst>
          </p:cNvPr>
          <p:cNvPicPr>
            <a:picLocks noChangeAspect="1"/>
          </p:cNvPicPr>
          <p:nvPr/>
        </p:nvPicPr>
        <p:blipFill>
          <a:blip r:embed="rId4"/>
          <a:stretch>
            <a:fillRect/>
          </a:stretch>
        </p:blipFill>
        <p:spPr>
          <a:xfrm>
            <a:off x="1575717" y="4014937"/>
            <a:ext cx="9612066" cy="1171739"/>
          </a:xfrm>
          <a:prstGeom prst="rect">
            <a:avLst/>
          </a:prstGeom>
        </p:spPr>
      </p:pic>
      <p:sp>
        <p:nvSpPr>
          <p:cNvPr id="4" name="Slide Number Placeholder 3">
            <a:extLst>
              <a:ext uri="{FF2B5EF4-FFF2-40B4-BE49-F238E27FC236}">
                <a16:creationId xmlns:a16="http://schemas.microsoft.com/office/drawing/2014/main" id="{C09535F6-9048-55E7-46A1-6D1AAEC9F125}"/>
              </a:ext>
            </a:extLst>
          </p:cNvPr>
          <p:cNvSpPr>
            <a:spLocks noGrp="1"/>
          </p:cNvSpPr>
          <p:nvPr>
            <p:ph type="sldNum" sz="quarter" idx="4"/>
          </p:nvPr>
        </p:nvSpPr>
        <p:spPr/>
        <p:txBody>
          <a:bodyPr/>
          <a:lstStyle/>
          <a:p>
            <a:fld id="{0DE7A7E6-4794-48E8-A5E1-2E8F8499B315}" type="slidenum">
              <a:rPr lang="en-US" noProof="0" smtClean="0"/>
              <a:pPr/>
              <a:t>28</a:t>
            </a:fld>
            <a:endParaRPr lang="en-US" noProof="0" dirty="0">
              <a:solidFill>
                <a:schemeClr val="bg1"/>
              </a:solidFill>
            </a:endParaRPr>
          </a:p>
        </p:txBody>
      </p:sp>
    </p:spTree>
    <p:extLst>
      <p:ext uri="{BB962C8B-B14F-4D97-AF65-F5344CB8AC3E}">
        <p14:creationId xmlns:p14="http://schemas.microsoft.com/office/powerpoint/2010/main" val="145309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88A6-DA3B-D038-E2A3-4B3713FB0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AFCEF-8021-7E33-618A-968D16F5D9C9}"/>
              </a:ext>
            </a:extLst>
          </p:cNvPr>
          <p:cNvSpPr>
            <a:spLocks noGrp="1"/>
          </p:cNvSpPr>
          <p:nvPr>
            <p:ph type="title"/>
          </p:nvPr>
        </p:nvSpPr>
        <p:spPr/>
        <p:txBody>
          <a:bodyPr/>
          <a:lstStyle/>
          <a:p>
            <a:r>
              <a:rPr lang="en-US" noProof="0" dirty="0"/>
              <a:t>Article Analysis</a:t>
            </a:r>
          </a:p>
        </p:txBody>
      </p:sp>
      <p:pic>
        <p:nvPicPr>
          <p:cNvPr id="5" name="Picture 4">
            <a:extLst>
              <a:ext uri="{FF2B5EF4-FFF2-40B4-BE49-F238E27FC236}">
                <a16:creationId xmlns:a16="http://schemas.microsoft.com/office/drawing/2014/main" id="{3F2A5797-83B2-7B7F-09EE-6A87447F8659}"/>
              </a:ext>
            </a:extLst>
          </p:cNvPr>
          <p:cNvPicPr>
            <a:picLocks noChangeAspect="1"/>
          </p:cNvPicPr>
          <p:nvPr/>
        </p:nvPicPr>
        <p:blipFill>
          <a:blip r:embed="rId3"/>
          <a:stretch>
            <a:fillRect/>
          </a:stretch>
        </p:blipFill>
        <p:spPr>
          <a:xfrm>
            <a:off x="942256" y="1819050"/>
            <a:ext cx="10307488" cy="3219899"/>
          </a:xfrm>
          <a:prstGeom prst="rect">
            <a:avLst/>
          </a:prstGeom>
        </p:spPr>
      </p:pic>
      <p:sp>
        <p:nvSpPr>
          <p:cNvPr id="4" name="Slide Number Placeholder 3">
            <a:extLst>
              <a:ext uri="{FF2B5EF4-FFF2-40B4-BE49-F238E27FC236}">
                <a16:creationId xmlns:a16="http://schemas.microsoft.com/office/drawing/2014/main" id="{1FE9719E-4A13-0456-4247-B2FC752EA572}"/>
              </a:ext>
            </a:extLst>
          </p:cNvPr>
          <p:cNvSpPr>
            <a:spLocks noGrp="1"/>
          </p:cNvSpPr>
          <p:nvPr>
            <p:ph type="sldNum" sz="quarter" idx="4"/>
          </p:nvPr>
        </p:nvSpPr>
        <p:spPr/>
        <p:txBody>
          <a:bodyPr/>
          <a:lstStyle/>
          <a:p>
            <a:fld id="{0DE7A7E6-4794-48E8-A5E1-2E8F8499B315}" type="slidenum">
              <a:rPr lang="en-US" noProof="0" smtClean="0"/>
              <a:pPr/>
              <a:t>29</a:t>
            </a:fld>
            <a:endParaRPr lang="en-US" noProof="0" dirty="0">
              <a:solidFill>
                <a:schemeClr val="bg1"/>
              </a:solidFill>
            </a:endParaRPr>
          </a:p>
        </p:txBody>
      </p:sp>
    </p:spTree>
    <p:extLst>
      <p:ext uri="{BB962C8B-B14F-4D97-AF65-F5344CB8AC3E}">
        <p14:creationId xmlns:p14="http://schemas.microsoft.com/office/powerpoint/2010/main" val="1842106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6376D-73A5-0199-34DA-368430D51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31446-3999-10FD-C4FB-D211932F495F}"/>
              </a:ext>
            </a:extLst>
          </p:cNvPr>
          <p:cNvSpPr>
            <a:spLocks noGrp="1"/>
          </p:cNvSpPr>
          <p:nvPr>
            <p:ph type="title"/>
          </p:nvPr>
        </p:nvSpPr>
        <p:spPr/>
        <p:txBody>
          <a:bodyPr/>
          <a:lstStyle/>
          <a:p>
            <a:r>
              <a:rPr lang="en-US" noProof="0" dirty="0"/>
              <a:t>Article Analysis</a:t>
            </a:r>
          </a:p>
        </p:txBody>
      </p:sp>
      <p:pic>
        <p:nvPicPr>
          <p:cNvPr id="5" name="Picture 4">
            <a:extLst>
              <a:ext uri="{FF2B5EF4-FFF2-40B4-BE49-F238E27FC236}">
                <a16:creationId xmlns:a16="http://schemas.microsoft.com/office/drawing/2014/main" id="{1FEA3CA5-F5FE-FFEA-5A7B-CF33007FAD4E}"/>
              </a:ext>
            </a:extLst>
          </p:cNvPr>
          <p:cNvPicPr>
            <a:picLocks noChangeAspect="1"/>
          </p:cNvPicPr>
          <p:nvPr/>
        </p:nvPicPr>
        <p:blipFill>
          <a:blip r:embed="rId3"/>
          <a:stretch>
            <a:fillRect/>
          </a:stretch>
        </p:blipFill>
        <p:spPr>
          <a:xfrm>
            <a:off x="913677" y="1847629"/>
            <a:ext cx="10364646" cy="3162741"/>
          </a:xfrm>
          <a:prstGeom prst="rect">
            <a:avLst/>
          </a:prstGeom>
        </p:spPr>
      </p:pic>
      <p:sp>
        <p:nvSpPr>
          <p:cNvPr id="4" name="Slide Number Placeholder 3">
            <a:extLst>
              <a:ext uri="{FF2B5EF4-FFF2-40B4-BE49-F238E27FC236}">
                <a16:creationId xmlns:a16="http://schemas.microsoft.com/office/drawing/2014/main" id="{1EFDBDC4-FAFE-711E-86D3-95DC3450FF9C}"/>
              </a:ext>
            </a:extLst>
          </p:cNvPr>
          <p:cNvSpPr>
            <a:spLocks noGrp="1"/>
          </p:cNvSpPr>
          <p:nvPr>
            <p:ph type="sldNum" sz="quarter" idx="4"/>
          </p:nvPr>
        </p:nvSpPr>
        <p:spPr/>
        <p:txBody>
          <a:bodyPr/>
          <a:lstStyle/>
          <a:p>
            <a:fld id="{0DE7A7E6-4794-48E8-A5E1-2E8F8499B315}" type="slidenum">
              <a:rPr lang="en-US" noProof="0" smtClean="0"/>
              <a:pPr/>
              <a:t>30</a:t>
            </a:fld>
            <a:endParaRPr lang="en-US" noProof="0" dirty="0">
              <a:solidFill>
                <a:schemeClr val="bg1"/>
              </a:solidFill>
            </a:endParaRPr>
          </a:p>
        </p:txBody>
      </p:sp>
    </p:spTree>
    <p:extLst>
      <p:ext uri="{BB962C8B-B14F-4D97-AF65-F5344CB8AC3E}">
        <p14:creationId xmlns:p14="http://schemas.microsoft.com/office/powerpoint/2010/main" val="2630856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2EA30-B0B8-CB79-25B0-A5DC03423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631E9-28D3-4E80-62C0-506E5B8AD5D1}"/>
              </a:ext>
            </a:extLst>
          </p:cNvPr>
          <p:cNvSpPr>
            <a:spLocks noGrp="1"/>
          </p:cNvSpPr>
          <p:nvPr>
            <p:ph type="title"/>
          </p:nvPr>
        </p:nvSpPr>
        <p:spPr/>
        <p:txBody>
          <a:bodyPr/>
          <a:lstStyle/>
          <a:p>
            <a:r>
              <a:rPr lang="en-US" noProof="0" dirty="0"/>
              <a:t>Article Analysis</a:t>
            </a:r>
          </a:p>
        </p:txBody>
      </p:sp>
      <p:sp>
        <p:nvSpPr>
          <p:cNvPr id="3" name="Content Placeholder 2">
            <a:extLst>
              <a:ext uri="{FF2B5EF4-FFF2-40B4-BE49-F238E27FC236}">
                <a16:creationId xmlns:a16="http://schemas.microsoft.com/office/drawing/2014/main" id="{DCDC0BF3-5E03-62E4-F4D9-235D3F569069}"/>
              </a:ext>
            </a:extLst>
          </p:cNvPr>
          <p:cNvSpPr>
            <a:spLocks noGrp="1"/>
          </p:cNvSpPr>
          <p:nvPr>
            <p:ph idx="1"/>
          </p:nvPr>
        </p:nvSpPr>
        <p:spPr/>
        <p:txBody>
          <a:bodyPr/>
          <a:lstStyle/>
          <a:p>
            <a:pPr marL="0" indent="0">
              <a:buNone/>
            </a:pPr>
            <a:r>
              <a:rPr lang="en-US" noProof="0" dirty="0"/>
              <a:t>Very good analysis of impact of different parameters</a:t>
            </a:r>
          </a:p>
          <a:p>
            <a:endParaRPr lang="en-US" noProof="0" dirty="0"/>
          </a:p>
          <a:p>
            <a:pPr marL="0" indent="0">
              <a:buNone/>
            </a:pPr>
            <a:r>
              <a:rPr lang="en-US" noProof="0" dirty="0"/>
              <a:t>Two things missing</a:t>
            </a:r>
          </a:p>
          <a:p>
            <a:pPr lvl="1"/>
            <a:r>
              <a:rPr lang="en-US" noProof="0" dirty="0"/>
              <a:t>Coverage on the whole leg</a:t>
            </a:r>
          </a:p>
          <a:p>
            <a:pPr lvl="1"/>
            <a:r>
              <a:rPr lang="en-US" noProof="0" dirty="0"/>
              <a:t>Test on different body part (ex: arm)</a:t>
            </a:r>
          </a:p>
        </p:txBody>
      </p:sp>
      <p:sp>
        <p:nvSpPr>
          <p:cNvPr id="5" name="Oval 4">
            <a:extLst>
              <a:ext uri="{FF2B5EF4-FFF2-40B4-BE49-F238E27FC236}">
                <a16:creationId xmlns:a16="http://schemas.microsoft.com/office/drawing/2014/main" id="{67BFB4A4-F000-4B68-A519-CA0E97D88C9A}"/>
              </a:ext>
            </a:extLst>
          </p:cNvPr>
          <p:cNvSpPr/>
          <p:nvPr/>
        </p:nvSpPr>
        <p:spPr>
          <a:xfrm>
            <a:off x="7381875" y="1897901"/>
            <a:ext cx="3062198" cy="3062198"/>
          </a:xfrm>
          <a:prstGeom prst="ellipse">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FB57151D-E657-9A23-3D4D-709AC17B4310}"/>
              </a:ext>
            </a:extLst>
          </p:cNvPr>
          <p:cNvSpPr/>
          <p:nvPr/>
        </p:nvSpPr>
        <p:spPr>
          <a:xfrm>
            <a:off x="9220200" y="3057525"/>
            <a:ext cx="209550" cy="2095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Rounded Corners 7">
            <a:extLst>
              <a:ext uri="{FF2B5EF4-FFF2-40B4-BE49-F238E27FC236}">
                <a16:creationId xmlns:a16="http://schemas.microsoft.com/office/drawing/2014/main" id="{7C32C577-C9F0-EE1E-243F-DBFF3A46BA57}"/>
              </a:ext>
            </a:extLst>
          </p:cNvPr>
          <p:cNvSpPr/>
          <p:nvPr/>
        </p:nvSpPr>
        <p:spPr>
          <a:xfrm rot="1051026">
            <a:off x="9286875" y="1833383"/>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Rounded Corners 8">
            <a:extLst>
              <a:ext uri="{FF2B5EF4-FFF2-40B4-BE49-F238E27FC236}">
                <a16:creationId xmlns:a16="http://schemas.microsoft.com/office/drawing/2014/main" id="{5F5F9DDA-2B5E-F71E-D1DB-9D82B238639C}"/>
              </a:ext>
            </a:extLst>
          </p:cNvPr>
          <p:cNvSpPr/>
          <p:nvPr/>
        </p:nvSpPr>
        <p:spPr>
          <a:xfrm rot="2433627">
            <a:off x="9819443" y="2153407"/>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Rounded Corners 9">
            <a:extLst>
              <a:ext uri="{FF2B5EF4-FFF2-40B4-BE49-F238E27FC236}">
                <a16:creationId xmlns:a16="http://schemas.microsoft.com/office/drawing/2014/main" id="{08E5771C-FCDA-250F-289C-070FA99AAB35}"/>
              </a:ext>
            </a:extLst>
          </p:cNvPr>
          <p:cNvSpPr/>
          <p:nvPr/>
        </p:nvSpPr>
        <p:spPr>
          <a:xfrm rot="3754703">
            <a:off x="10223492" y="2641087"/>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Rounded Corners 10">
            <a:extLst>
              <a:ext uri="{FF2B5EF4-FFF2-40B4-BE49-F238E27FC236}">
                <a16:creationId xmlns:a16="http://schemas.microsoft.com/office/drawing/2014/main" id="{7D0CF687-9AF7-A9B1-51C9-570D396ADF91}"/>
              </a:ext>
            </a:extLst>
          </p:cNvPr>
          <p:cNvSpPr/>
          <p:nvPr/>
        </p:nvSpPr>
        <p:spPr>
          <a:xfrm rot="3467421">
            <a:off x="7316706" y="4097717"/>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Rounded Corners 11">
            <a:extLst>
              <a:ext uri="{FF2B5EF4-FFF2-40B4-BE49-F238E27FC236}">
                <a16:creationId xmlns:a16="http://schemas.microsoft.com/office/drawing/2014/main" id="{D437C62F-9783-C281-40F5-59196FB7C087}"/>
              </a:ext>
            </a:extLst>
          </p:cNvPr>
          <p:cNvSpPr/>
          <p:nvPr/>
        </p:nvSpPr>
        <p:spPr>
          <a:xfrm rot="2433627">
            <a:off x="7693463" y="4584187"/>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Rounded Corners 12">
            <a:extLst>
              <a:ext uri="{FF2B5EF4-FFF2-40B4-BE49-F238E27FC236}">
                <a16:creationId xmlns:a16="http://schemas.microsoft.com/office/drawing/2014/main" id="{4C28C21C-669A-1114-B653-D49A346A41C0}"/>
              </a:ext>
            </a:extLst>
          </p:cNvPr>
          <p:cNvSpPr/>
          <p:nvPr/>
        </p:nvSpPr>
        <p:spPr>
          <a:xfrm rot="1051026">
            <a:off x="8231942" y="4907711"/>
            <a:ext cx="285750" cy="10477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9" name="Straight Arrow Connector 18">
            <a:extLst>
              <a:ext uri="{FF2B5EF4-FFF2-40B4-BE49-F238E27FC236}">
                <a16:creationId xmlns:a16="http://schemas.microsoft.com/office/drawing/2014/main" id="{03527F33-2FC1-4779-D810-4945571C5B52}"/>
              </a:ext>
            </a:extLst>
          </p:cNvPr>
          <p:cNvCxnSpPr>
            <a:cxnSpLocks/>
          </p:cNvCxnSpPr>
          <p:nvPr/>
        </p:nvCxnSpPr>
        <p:spPr>
          <a:xfrm flipV="1">
            <a:off x="9305925" y="2060929"/>
            <a:ext cx="63500" cy="961671"/>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3F7A81C-8AA3-9473-B8AF-42282DBBB1FD}"/>
              </a:ext>
            </a:extLst>
          </p:cNvPr>
          <p:cNvCxnSpPr>
            <a:cxnSpLocks/>
          </p:cNvCxnSpPr>
          <p:nvPr/>
        </p:nvCxnSpPr>
        <p:spPr>
          <a:xfrm flipV="1">
            <a:off x="9417050" y="2371725"/>
            <a:ext cx="447675" cy="676275"/>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83899F9-A629-4AC7-9A3D-564A6E0D223C}"/>
              </a:ext>
            </a:extLst>
          </p:cNvPr>
          <p:cNvCxnSpPr>
            <a:cxnSpLocks/>
          </p:cNvCxnSpPr>
          <p:nvPr/>
        </p:nvCxnSpPr>
        <p:spPr>
          <a:xfrm flipV="1">
            <a:off x="9471025" y="2774950"/>
            <a:ext cx="723900" cy="374650"/>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13E8E5C-1028-4B80-8240-54A1E6F98E12}"/>
              </a:ext>
            </a:extLst>
          </p:cNvPr>
          <p:cNvCxnSpPr>
            <a:cxnSpLocks/>
          </p:cNvCxnSpPr>
          <p:nvPr/>
        </p:nvCxnSpPr>
        <p:spPr>
          <a:xfrm flipH="1">
            <a:off x="8453438" y="3319463"/>
            <a:ext cx="804862" cy="1471612"/>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9CE8F07-6110-6E3C-CB5A-2BD12FC2F265}"/>
              </a:ext>
            </a:extLst>
          </p:cNvPr>
          <p:cNvCxnSpPr>
            <a:cxnSpLocks/>
          </p:cNvCxnSpPr>
          <p:nvPr/>
        </p:nvCxnSpPr>
        <p:spPr>
          <a:xfrm flipH="1">
            <a:off x="7939088" y="3286125"/>
            <a:ext cx="1262062" cy="1228725"/>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3831F1C-D200-8F11-9C21-0E82E1EC7BA8}"/>
              </a:ext>
            </a:extLst>
          </p:cNvPr>
          <p:cNvCxnSpPr>
            <a:cxnSpLocks/>
          </p:cNvCxnSpPr>
          <p:nvPr/>
        </p:nvCxnSpPr>
        <p:spPr>
          <a:xfrm flipH="1">
            <a:off x="7624763" y="3205163"/>
            <a:ext cx="1543050" cy="857250"/>
          </a:xfrm>
          <a:prstGeom prst="straightConnector1">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42" name="Slide Number Placeholder 41">
            <a:extLst>
              <a:ext uri="{FF2B5EF4-FFF2-40B4-BE49-F238E27FC236}">
                <a16:creationId xmlns:a16="http://schemas.microsoft.com/office/drawing/2014/main" id="{A5F7F85F-8EA7-8F58-80C6-5D559CDCF3D0}"/>
              </a:ext>
            </a:extLst>
          </p:cNvPr>
          <p:cNvSpPr>
            <a:spLocks noGrp="1"/>
          </p:cNvSpPr>
          <p:nvPr>
            <p:ph type="sldNum" sz="quarter" idx="4"/>
          </p:nvPr>
        </p:nvSpPr>
        <p:spPr/>
        <p:txBody>
          <a:bodyPr/>
          <a:lstStyle/>
          <a:p>
            <a:fld id="{0DE7A7E6-4794-48E8-A5E1-2E8F8499B315}" type="slidenum">
              <a:rPr lang="en-US" noProof="0" smtClean="0"/>
              <a:pPr/>
              <a:t>31</a:t>
            </a:fld>
            <a:endParaRPr lang="en-US" noProof="0" dirty="0">
              <a:solidFill>
                <a:schemeClr val="bg1"/>
              </a:solidFill>
            </a:endParaRPr>
          </a:p>
        </p:txBody>
      </p:sp>
    </p:spTree>
    <p:extLst>
      <p:ext uri="{BB962C8B-B14F-4D97-AF65-F5344CB8AC3E}">
        <p14:creationId xmlns:p14="http://schemas.microsoft.com/office/powerpoint/2010/main" val="187225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70B57-BD05-5900-FD8A-DF294FF5D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0A92B-9030-9181-BAF0-6A0CB68EA369}"/>
              </a:ext>
            </a:extLst>
          </p:cNvPr>
          <p:cNvSpPr>
            <a:spLocks noGrp="1"/>
          </p:cNvSpPr>
          <p:nvPr>
            <p:ph type="title"/>
          </p:nvPr>
        </p:nvSpPr>
        <p:spPr/>
        <p:txBody>
          <a:bodyPr/>
          <a:lstStyle/>
          <a:p>
            <a:r>
              <a:rPr lang="en-US" noProof="0" dirty="0"/>
              <a:t>Conclusion</a:t>
            </a:r>
          </a:p>
        </p:txBody>
      </p:sp>
      <p:sp>
        <p:nvSpPr>
          <p:cNvPr id="3" name="Content Placeholder 2">
            <a:extLst>
              <a:ext uri="{FF2B5EF4-FFF2-40B4-BE49-F238E27FC236}">
                <a16:creationId xmlns:a16="http://schemas.microsoft.com/office/drawing/2014/main" id="{FBEDAF8C-BC18-F6EC-5A1D-5D42F0EEE321}"/>
              </a:ext>
            </a:extLst>
          </p:cNvPr>
          <p:cNvSpPr>
            <a:spLocks noGrp="1"/>
          </p:cNvSpPr>
          <p:nvPr>
            <p:ph idx="1"/>
          </p:nvPr>
        </p:nvSpPr>
        <p:spPr/>
        <p:txBody>
          <a:bodyPr/>
          <a:lstStyle/>
          <a:p>
            <a:pPr marL="0" indent="0">
              <a:buNone/>
            </a:pPr>
            <a:r>
              <a:rPr lang="en-US" noProof="0" dirty="0"/>
              <a:t>Potential application to motor unit analysis:</a:t>
            </a:r>
          </a:p>
          <a:p>
            <a:pPr lvl="1"/>
            <a:r>
              <a:rPr lang="en-US" noProof="0" dirty="0"/>
              <a:t>Prothesis</a:t>
            </a:r>
          </a:p>
          <a:p>
            <a:pPr lvl="1"/>
            <a:r>
              <a:rPr lang="en-US" noProof="0" dirty="0"/>
              <a:t>Rehabilitation</a:t>
            </a:r>
          </a:p>
          <a:p>
            <a:pPr lvl="1"/>
            <a:r>
              <a:rPr lang="en-US" noProof="0" dirty="0"/>
              <a:t>Neuromuscular diseases diagnostic</a:t>
            </a:r>
          </a:p>
          <a:p>
            <a:pPr lvl="1"/>
            <a:endParaRPr lang="en-US" noProof="0" dirty="0"/>
          </a:p>
        </p:txBody>
      </p:sp>
      <p:sp>
        <p:nvSpPr>
          <p:cNvPr id="5" name="Slide Number Placeholder 4">
            <a:extLst>
              <a:ext uri="{FF2B5EF4-FFF2-40B4-BE49-F238E27FC236}">
                <a16:creationId xmlns:a16="http://schemas.microsoft.com/office/drawing/2014/main" id="{8D736B95-D621-6B5C-F0DE-DBFB9A711D8B}"/>
              </a:ext>
            </a:extLst>
          </p:cNvPr>
          <p:cNvSpPr>
            <a:spLocks noGrp="1"/>
          </p:cNvSpPr>
          <p:nvPr>
            <p:ph type="sldNum" sz="quarter" idx="4"/>
          </p:nvPr>
        </p:nvSpPr>
        <p:spPr/>
        <p:txBody>
          <a:bodyPr/>
          <a:lstStyle/>
          <a:p>
            <a:fld id="{0DE7A7E6-4794-48E8-A5E1-2E8F8499B315}" type="slidenum">
              <a:rPr lang="en-US" noProof="0" smtClean="0"/>
              <a:pPr/>
              <a:t>32</a:t>
            </a:fld>
            <a:endParaRPr lang="en-US" noProof="0" dirty="0">
              <a:solidFill>
                <a:schemeClr val="bg1"/>
              </a:solidFill>
            </a:endParaRPr>
          </a:p>
        </p:txBody>
      </p:sp>
    </p:spTree>
    <p:extLst>
      <p:ext uri="{BB962C8B-B14F-4D97-AF65-F5344CB8AC3E}">
        <p14:creationId xmlns:p14="http://schemas.microsoft.com/office/powerpoint/2010/main" val="3874482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F1A55D-C3C3-F556-6BC5-6646DFBEB5AA}"/>
              </a:ext>
            </a:extLst>
          </p:cNvPr>
          <p:cNvSpPr>
            <a:spLocks noGrp="1"/>
          </p:cNvSpPr>
          <p:nvPr>
            <p:ph type="sldNum" sz="quarter" idx="4"/>
          </p:nvPr>
        </p:nvSpPr>
        <p:spPr/>
        <p:txBody>
          <a:bodyPr/>
          <a:lstStyle/>
          <a:p>
            <a:fld id="{0DE7A7E6-4794-48E8-A5E1-2E8F8499B315}" type="slidenum">
              <a:rPr lang="en-US" noProof="0" smtClean="0"/>
              <a:pPr/>
              <a:t>33</a:t>
            </a:fld>
            <a:endParaRPr lang="en-US" noProof="0" dirty="0">
              <a:solidFill>
                <a:schemeClr val="bg1"/>
              </a:solidFill>
            </a:endParaRPr>
          </a:p>
        </p:txBody>
      </p:sp>
    </p:spTree>
    <p:extLst>
      <p:ext uri="{BB962C8B-B14F-4D97-AF65-F5344CB8AC3E}">
        <p14:creationId xmlns:p14="http://schemas.microsoft.com/office/powerpoint/2010/main" val="2692056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2066</Words>
  <Application>Microsoft Office PowerPoint</Application>
  <PresentationFormat>Widescreen</PresentationFormat>
  <Paragraphs>327</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Understanding motor units and their role in electromyographic signals</vt:lpstr>
      <vt:lpstr>Introduction</vt:lpstr>
      <vt:lpstr>Introduction</vt:lpstr>
      <vt:lpstr>Introduction</vt:lpstr>
      <vt:lpstr>Motor Unit - Theory</vt:lpstr>
      <vt:lpstr>Motor Unit - Theory</vt:lpstr>
      <vt:lpstr>Motor Unit - Theory</vt:lpstr>
      <vt:lpstr>Motor Unit - Theory</vt:lpstr>
      <vt:lpstr>Motor Unit - Theory</vt:lpstr>
      <vt:lpstr>Motor Unit - Theory</vt:lpstr>
      <vt:lpstr>Motor Unit - Theory</vt:lpstr>
      <vt:lpstr>Motor Units - Extraction</vt:lpstr>
      <vt:lpstr>Motor Units - Extraction</vt:lpstr>
      <vt:lpstr>Motor Units - Extraction</vt:lpstr>
      <vt:lpstr>Motor Units - Extraction</vt:lpstr>
      <vt:lpstr>Motor Units - Extraction</vt:lpstr>
      <vt:lpstr>Motor Units - Extraction</vt:lpstr>
      <vt:lpstr>Motor Units - Extraction</vt:lpstr>
      <vt:lpstr>Motor Units - Extraction</vt:lpstr>
      <vt:lpstr>Article Analysis</vt:lpstr>
      <vt:lpstr>Article Analysis</vt:lpstr>
      <vt:lpstr>Article Analysis</vt:lpstr>
      <vt:lpstr>Article Analysis</vt:lpstr>
      <vt:lpstr>Article Analysis</vt:lpstr>
      <vt:lpstr>Article Analysis</vt:lpstr>
      <vt:lpstr>Article Analysis</vt:lpstr>
      <vt:lpstr>Article Analysis</vt:lpstr>
      <vt:lpstr>Article Analysis</vt:lpstr>
      <vt:lpstr>Article Analysis</vt:lpstr>
      <vt:lpstr>Article Analysis</vt:lpstr>
      <vt:lpstr>Article Analysis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Bergeron</dc:creator>
  <cp:lastModifiedBy>Olivier Bergeron</cp:lastModifiedBy>
  <cp:revision>7</cp:revision>
  <dcterms:created xsi:type="dcterms:W3CDTF">2026-04-09T21:18:57Z</dcterms:created>
  <dcterms:modified xsi:type="dcterms:W3CDTF">2026-04-16T17:27:37Z</dcterms:modified>
</cp:coreProperties>
</file>